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d2e995072dc4227" /><Relationship Type="http://schemas.openxmlformats.org/officeDocument/2006/relationships/extended-properties" Target="/docProps/app.xml" Id="Rf1a3dbe7d0b844ca" /><Relationship Type="http://schemas.openxmlformats.org/officeDocument/2006/relationships/officeDocument" Target="/ppt/presentation.xml" Id="R110408410f3d49b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19434e6de3b45b9"/>
  </p:sldMasterIdLst>
  <p:notesMasterIdLst>
    <p:notesMasterId xmlns:r="http://schemas.openxmlformats.org/officeDocument/2006/relationships" r:id="R006cf35343104122"/>
  </p:notesMasterIdLst>
  <p:sldIdLst>
    <p:sldId xmlns:r="http://schemas.openxmlformats.org/officeDocument/2006/relationships" id="256" r:id="R32bf6753e6a14531"/>
    <p:sldId xmlns:r="http://schemas.openxmlformats.org/officeDocument/2006/relationships" id="257" r:id="Rd0c1468c0ed04388"/>
    <p:sldId xmlns:r="http://schemas.openxmlformats.org/officeDocument/2006/relationships" id="258" r:id="R75e793c5ba054175"/>
    <p:sldId xmlns:r="http://schemas.openxmlformats.org/officeDocument/2006/relationships" id="259" r:id="Raca483e4ed6e4ced"/>
    <p:sldId xmlns:r="http://schemas.openxmlformats.org/officeDocument/2006/relationships" id="260" r:id="R9aaa9cd512c74bd7"/>
    <p:sldId xmlns:r="http://schemas.openxmlformats.org/officeDocument/2006/relationships" id="261" r:id="R519f11979b854aae"/>
    <p:sldId xmlns:r="http://schemas.openxmlformats.org/officeDocument/2006/relationships" id="262" r:id="R66de2d971b1244f4"/>
    <p:sldId xmlns:r="http://schemas.openxmlformats.org/officeDocument/2006/relationships" id="263" r:id="R0835467a8dec49c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e293287685b4d40" /><Relationship Type="http://schemas.openxmlformats.org/officeDocument/2006/relationships/slideMaster" Target="/ppt/slideMasters/slideMaster1.xml" Id="Re19434e6de3b45b9" /><Relationship Type="http://schemas.openxmlformats.org/officeDocument/2006/relationships/notesMaster" Target="/ppt/notesMasters/notesMaster1.xml" Id="R006cf35343104122" /><Relationship Type="http://schemas.openxmlformats.org/officeDocument/2006/relationships/presProps" Target="/ppt/presProps.xml" Id="Re64c4d70a33e4d40" /><Relationship Type="http://schemas.openxmlformats.org/officeDocument/2006/relationships/tableStyles" Target="/ppt/tableStyles.xml" Id="R7a58da380746476e" /><Relationship Type="http://schemas.openxmlformats.org/officeDocument/2006/relationships/slide" Target="/ppt/slides/slide1.xml" Id="R32bf6753e6a14531" /><Relationship Type="http://schemas.openxmlformats.org/officeDocument/2006/relationships/slide" Target="/ppt/slides/slide2.xml" Id="Rd0c1468c0ed04388" /><Relationship Type="http://schemas.openxmlformats.org/officeDocument/2006/relationships/slide" Target="/ppt/slides/slide3.xml" Id="R75e793c5ba054175" /><Relationship Type="http://schemas.openxmlformats.org/officeDocument/2006/relationships/slide" Target="/ppt/slides/slide4.xml" Id="Raca483e4ed6e4ced" /><Relationship Type="http://schemas.openxmlformats.org/officeDocument/2006/relationships/slide" Target="/ppt/slides/slide5.xml" Id="R9aaa9cd512c74bd7" /><Relationship Type="http://schemas.openxmlformats.org/officeDocument/2006/relationships/slide" Target="/ppt/slides/slide6.xml" Id="R519f11979b854aae" /><Relationship Type="http://schemas.openxmlformats.org/officeDocument/2006/relationships/slide" Target="/ppt/slides/slide7.xml" Id="R66de2d971b1244f4" /><Relationship Type="http://schemas.openxmlformats.org/officeDocument/2006/relationships/slide" Target="/ppt/slides/slide8.xml" Id="R0835467a8dec49c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86316aec114446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044d35d8a674636" /><Relationship Type="http://schemas.openxmlformats.org/officeDocument/2006/relationships/notesMaster" Target="/ppt/notesMasters/notesMaster1.xml" Id="R7da95d95f7dc499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c49e5626bdf4bd9" /><Relationship Type="http://schemas.openxmlformats.org/officeDocument/2006/relationships/notesMaster" Target="/ppt/notesMasters/notesMaster1.xml" Id="R8da2a45fa08f4d7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5c743d5c7b1452b" /><Relationship Type="http://schemas.openxmlformats.org/officeDocument/2006/relationships/notesMaster" Target="/ppt/notesMasters/notesMaster1.xml" Id="Rf77b911c6d85406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be2decf07d54c41" /><Relationship Type="http://schemas.openxmlformats.org/officeDocument/2006/relationships/notesMaster" Target="/ppt/notesMasters/notesMaster1.xml" Id="R20cd3354a3e144c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3029a78218f4142" /><Relationship Type="http://schemas.openxmlformats.org/officeDocument/2006/relationships/notesMaster" Target="/ppt/notesMasters/notesMaster1.xml" Id="R03f3d5f2fadf443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99762f928684e47" /><Relationship Type="http://schemas.openxmlformats.org/officeDocument/2006/relationships/notesMaster" Target="/ppt/notesMasters/notesMaster1.xml" Id="Rf8037f744cb04ed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e9c2271b4264a9e" /><Relationship Type="http://schemas.openxmlformats.org/officeDocument/2006/relationships/notesMaster" Target="/ppt/notesMasters/notesMaster1.xml" Id="R15f0fa58f4e44fe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18ae778125442da" /><Relationship Type="http://schemas.openxmlformats.org/officeDocument/2006/relationships/notesMaster" Target="/ppt/notesMasters/notesMaster1.xml" Id="Rc0ada3b284d1461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Establish the purpose of Design and production settings.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</a:t>
            </a:r>
          </a:p>
          <a:p xmlns:a="http://schemas.openxmlformats.org/drawingml/2006/main">
            <a:r>
              <a:t>- Relate school design projects to domestic, community, industrial and commercial practices and technologies.</a:t>
            </a:r>
          </a:p>
          <a:p xmlns:a="http://schemas.openxmlformats.org/drawingml/2006/main">
            <a:r>
              <a:t>- Name the three learning areas without teaching them yet: Domestic, community, industrial and commercial settings; Technologies in industrial and commercial settings; Impacts on individuals, society and the environment.</a:t>
            </a:r>
          </a:p>
          <a:p xmlns:a="http://schemas.openxmlformats.org/drawingml/2006/main">
            <a:r>
              <a:t>- Explain that this deck supports classroom learning and formative evidence. Current teacher directions and formal notices remain authoritative.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Move from the module purpose to the three-part learning map.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NESA Design and Technology Stage 6 Syllabus (2013), official course authority</a:t>
            </a:r>
          </a:p>
          <a:p xmlns:a="http://schemas.openxmlformats.org/drawingml/2006/main">
            <a:r>
              <a:t>- Current Year 11 site source register and source-bound module data</a:t>
            </a:r>
          </a:p>
          <a:p xmlns:a="http://schemas.openxmlformats.org/drawingml/2006/main">
            <a:r>
              <a:t>- Visual: approved family-generated teaching asset, Year 12 D&amp;T assets/images/course-hero.png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Preview the three named ideas as a connected sequence.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</a:t>
            </a:r>
          </a:p>
          <a:p xmlns:a="http://schemas.openxmlformats.org/drawingml/2006/main">
            <a:r>
              <a:t>- 1. Domestic, community, industrial and commercial settings: Identify features of different design and production settings and explain how setting changes decisions.</a:t>
            </a:r>
          </a:p>
          <a:p xmlns:a="http://schemas.openxmlformats.org/drawingml/2006/main">
            <a:r>
              <a:t>- 2. Technologies in industrial and commercial settings: Compare technologies used in school projects with those used in industry and commerce.</a:t>
            </a:r>
          </a:p>
          <a:p xmlns:a="http://schemas.openxmlformats.org/drawingml/2006/main">
            <a:r>
              <a:t>- 3. Impacts on individuals, society and the environment: Analyse connected consequences of design and technology activities.</a:t>
            </a:r>
          </a:p>
          <a:p xmlns:a="http://schemas.openxmlformats.org/drawingml/2006/main">
            <a:r>
              <a:t>- Retrieval prompt: Which idea is most likely to change a real design decision in Research Assignment, and why?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Begin with Domestic, community, industrial and commercial settings.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NESA Design and Technology Stage 6 Syllabus (2013), official course authority</a:t>
            </a:r>
          </a:p>
          <a:p xmlns:a="http://schemas.openxmlformats.org/drawingml/2006/main">
            <a:r>
              <a:t>- Current Year 11 site source register and source-bound module data</a:t>
            </a:r>
          </a:p>
          <a:p xmlns:a="http://schemas.openxmlformats.org/drawingml/2006/main">
            <a:r>
              <a:t>- Visual: current Year 11 local teaching asset assets/module-04-map.svg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Identify features of different design and production settings and explain how setting changes decisions.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</a:t>
            </a:r>
          </a:p>
          <a:p xmlns:a="http://schemas.openxmlformats.org/drawingml/2006/main">
            <a:r>
              <a:t>- Domestic production is commonly small-scale, adaptable and completed by one person or a small group.</a:t>
            </a:r>
          </a:p>
          <a:p xmlns:a="http://schemas.openxmlformats.org/drawingml/2006/main">
            <a:r>
              <a:t>- Community design should involve affected groups and consider equitable access and public benefit.</a:t>
            </a:r>
          </a:p>
          <a:p xmlns:a="http://schemas.openxmlformats.org/drawingml/2006/main">
            <a:r>
              <a:t>- Industrial production commonly uses specialised equipment, standardised processes and defined roles.</a:t>
            </a:r>
          </a:p>
          <a:p xmlns:a="http://schemas.openxmlformats.org/drawingml/2006/main">
            <a:r>
              <a:t>- Commercial decisions connect user needs with cost, market demand, production capacity and financial viability.</a:t>
            </a:r>
          </a:p>
          <a:p xmlns:a="http://schemas.openxmlformats.org/drawingml/2006/main">
            <a:r>
              <a:t>- Visual notice: Ask students what the scene makes visible about domestic, community, industrial and commercial settings, then connect observations to the stated principles.</a:t>
            </a:r>
          </a:p>
          <a:p xmlns:a="http://schemas.openxmlformats.org/drawingml/2006/main">
            <a:r>
              <a:t>- Evidence prompt: A handmade product begins supplying a national retailer. Which change is most likely?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Likely misconceptions</a:t>
            </a:r>
          </a:p>
          <a:p xmlns:a="http://schemas.openxmlformats.org/drawingml/2006/main">
            <a:r>
              <a:t>- Domestic projects are exempt from quality and safety considerations.</a:t>
            </a:r>
          </a:p>
          <a:p xmlns:a="http://schemas.openxmlformats.org/drawingml/2006/main">
            <a:r>
              <a:t>- Community design is successful whenever most users are satisfied.</a:t>
            </a:r>
          </a:p>
          <a:p xmlns:a="http://schemas.openxmlformats.org/drawingml/2006/main">
            <a:r>
              <a:t>- Industrial production always uses fully automated machinery.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Move to Technologies in industrial and commercial settings.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Y11 source note: NESA Preliminary settings content; teacher answer booklet comparison of production settings.</a:t>
            </a:r>
          </a:p>
          <a:p xmlns:a="http://schemas.openxmlformats.org/drawingml/2006/main">
            <a:r>
              <a:t>- Visual: approved family-generated teaching asset, Year 12 D&amp;T assets/images/m09s03.png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Compare technologies used in school projects with those used in industry and commerce.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</a:t>
            </a:r>
          </a:p>
          <a:p xmlns:a="http://schemas.openxmlformats.org/drawingml/2006/main">
            <a:r>
              <a:t>- Technology should be selected because it suits the task and context, not because it is new.</a:t>
            </a:r>
          </a:p>
          <a:p xmlns:a="http://schemas.openxmlformats.org/drawingml/2006/main">
            <a:r>
              <a:t>- CAD, CAM and CNC can create an integrated flow from digital design to controlled manufacture.</a:t>
            </a:r>
          </a:p>
          <a:p xmlns:a="http://schemas.openxmlformats.org/drawingml/2006/main">
            <a:r>
              <a:t>- Automation can improve repeatability and remove some hazardous or repetitive work, but it requires investment, maintenance and skills.</a:t>
            </a:r>
          </a:p>
          <a:p xmlns:a="http://schemas.openxmlformats.org/drawingml/2006/main">
            <a:r>
              <a:t>- Appropriate technology balances benefit with scale, cost, resources, user needs and social or environmental consequences.</a:t>
            </a:r>
          </a:p>
          <a:p xmlns:a="http://schemas.openxmlformats.org/drawingml/2006/main">
            <a:r>
              <a:t>- Visual notice: Ask students what the scene makes visible about technologies in industrial and commercial settings, then connect observations to the stated principles.</a:t>
            </a:r>
          </a:p>
          <a:p xmlns:a="http://schemas.openxmlformats.org/drawingml/2006/main">
            <a:r>
              <a:t>- Evidence prompt: A small maker needs 20 customised components each month. What technology decision is most defensible?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Likely misconceptions</a:t>
            </a:r>
          </a:p>
          <a:p xmlns:a="http://schemas.openxmlformats.org/drawingml/2006/main">
            <a:r>
              <a:t>- The newest technology is automatically the most appropriate.</a:t>
            </a:r>
          </a:p>
          <a:p xmlns:a="http://schemas.openxmlformats.org/drawingml/2006/main">
            <a:r>
              <a:t>- Computer-controlled production removes the need to check files and dimensions.</a:t>
            </a:r>
          </a:p>
          <a:p xmlns:a="http://schemas.openxmlformats.org/drawingml/2006/main">
            <a:r>
              <a:t>- Automation always reduces total employment and cost.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Move to Impacts on individuals, society and the environment.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Y11 source note: NESA Preliminary technologies content; teacher answer booklet CAD/CAM, automation and industry comparisons.</a:t>
            </a:r>
          </a:p>
          <a:p xmlns:a="http://schemas.openxmlformats.org/drawingml/2006/main">
            <a:r>
              <a:t>- Visual: approved family-generated teaching asset, Year 12 D&amp;T assets/images/m02s03.png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Analyse connected consequences of design and technology activities.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</a:t>
            </a:r>
          </a:p>
          <a:p xmlns:a="http://schemas.openxmlformats.org/drawingml/2006/main">
            <a:r>
              <a:t>- Individual impacts can include safety, convenience, cost, privacy, independence, health and access.</a:t>
            </a:r>
          </a:p>
          <a:p xmlns:a="http://schemas.openxmlformats.org/drawingml/2006/main">
            <a:r>
              <a:t>- Societal impacts can include employment, equity, infrastructure, cultural practices, regulation and community participation.</a:t>
            </a:r>
          </a:p>
          <a:p xmlns:a="http://schemas.openxmlformats.org/drawingml/2006/main">
            <a:r>
              <a:t>- Environmental impacts can occur during extraction, manufacture, transport, use, maintenance and end-of-life.</a:t>
            </a:r>
          </a:p>
          <a:p xmlns:a="http://schemas.openxmlformats.org/drawingml/2006/main">
            <a:r>
              <a:t>- The same technology may create benefits and costs for different stakeholders, so conclusions should be balanced and conditional.</a:t>
            </a:r>
          </a:p>
          <a:p xmlns:a="http://schemas.openxmlformats.org/drawingml/2006/main">
            <a:r>
              <a:t>- Diagram notice: Trace INDIVIDUAL → SOCIETY → ENVIRONMENT and ask where evidence changes the next decision.</a:t>
            </a:r>
          </a:p>
          <a:p xmlns:a="http://schemas.openxmlformats.org/drawingml/2006/main">
            <a:r>
              <a:t>- Evidence prompt: A shared e-bike scheme is proposed for a regional city. What is the strongest analysis?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Likely misconceptions</a:t>
            </a:r>
          </a:p>
          <a:p xmlns:a="http://schemas.openxmlformats.org/drawingml/2006/main">
            <a:r>
              <a:t>- A popular product has a positive societal impact by definition.</a:t>
            </a:r>
          </a:p>
          <a:p xmlns:a="http://schemas.openxmlformats.org/drawingml/2006/main">
            <a:r>
              <a:t>- Environmental impact refers only to waste sent to landfill.</a:t>
            </a:r>
          </a:p>
          <a:p xmlns:a="http://schemas.openxmlformats.org/drawingml/2006/main">
            <a:r>
              <a:t>- Employment changes are an individual issue rather than a societal 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Move from teaching into retrieval across all three ideas.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Y11 source note: NESA Preliminary impact content; teacher answer booklet individual/society/environment scenarios.</a:t>
            </a:r>
          </a:p>
          <a:p xmlns:a="http://schemas.openxmlformats.org/drawingml/2006/main">
            <a:r>
              <a:t>- Visual: editable native PowerPoint relationship diagram derived only from the three source-bound section principles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Use retrieval to expose and repair reasoning gaps across all three sections.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</a:t>
            </a:r>
          </a:p>
          <a:p xmlns:a="http://schemas.openxmlformats.org/drawingml/2006/main">
            <a:r>
              <a:t>- Give quiet recall time before inviting answers.</a:t>
            </a:r>
          </a:p>
          <a:p xmlns:a="http://schemas.openxmlformats.org/drawingml/2006/main">
            <a:r>
              <a:t>- Check 1: A handmade product begins supplying a national retailer. Which change is most likely?</a:t>
            </a:r>
          </a:p>
          <a:p xmlns:a="http://schemas.openxmlformats.org/drawingml/2006/main">
            <a:r>
              <a:t>- Indicative answer: The producer may need standardised components, specialised equipment, reliable suppliers, formal quality control and production scheduling.</a:t>
            </a:r>
          </a:p>
          <a:p xmlns:a="http://schemas.openxmlformats.org/drawingml/2006/main">
            <a:r>
              <a:t>- Check 2: A small maker needs 20 customised components each month. What technology decision is most defensible?</a:t>
            </a:r>
          </a:p>
          <a:p xmlns:a="http://schemas.openxmlformats.org/drawingml/2006/main">
            <a:r>
              <a:t>- Indicative answer: Compare manual, jig-assisted and digital production against volume, accuracy, setup cost, skill and customisation before selecting a process.</a:t>
            </a:r>
          </a:p>
          <a:p xmlns:a="http://schemas.openxmlformats.org/drawingml/2006/main">
            <a:r>
              <a:t>- Check 3: A shared e-bike scheme is proposed for a regional city. What is the strongest analysis?</a:t>
            </a:r>
          </a:p>
          <a:p xmlns:a="http://schemas.openxmlformats.org/drawingml/2006/main">
            <a:r>
              <a:t>- Indicative answer: Examine user access and safety, transport choice and public-space management, plus energy, battery and end-of-life impacts under realistic use conditions.</a:t>
            </a:r>
          </a:p>
          <a:p xmlns:a="http://schemas.openxmlformats.org/drawingml/2006/main">
            <a:r>
              <a:t>- Ask students to explain why the answer is defensible before they return to notes.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Use the retrieved ideas to construct one sustained piece of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Y11 source note: NESA Preliminary settings content; teacher answer booklet comparison of production settings.</a:t>
            </a:r>
          </a:p>
          <a:p xmlns:a="http://schemas.openxmlformats.org/drawingml/2006/main">
            <a:r>
              <a:t>- Y11 source note: NESA Preliminary technologies content; teacher answer booklet CAD/CAM, automation and industry comparisons.</a:t>
            </a:r>
          </a:p>
          <a:p xmlns:a="http://schemas.openxmlformats.org/drawingml/2006/main">
            <a:r>
              <a:t>- Y11 source note: NESA Preliminary impact content; teacher answer booklet individual/society/environment scenarios.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Guide one higher-order formative response using all three module ideas.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</a:t>
            </a:r>
          </a:p>
          <a:p xmlns:a="http://schemas.openxmlformats.org/drawingml/2006/main">
            <a:r>
              <a:t>- Prompt: Compare one school production process with a domestic and an industrial/commercial process.</a:t>
            </a:r>
          </a:p>
          <a:p xmlns:a="http://schemas.openxmlformats.org/drawingml/2006/main">
            <a:r>
              <a:t>- Read: identify the user, context and design question.</a:t>
            </a:r>
          </a:p>
          <a:p xmlns:a="http://schemas.openxmlformats.org/drawingml/2006/main">
            <a:r>
              <a:t>- Select: choose source-bound evidence rather than a preference.</a:t>
            </a:r>
          </a:p>
          <a:p xmlns:a="http://schemas.openxmlformats.org/drawingml/2006/main">
            <a:r>
              <a:t>- Explain: connect the evidence to a design consequence or decision.</a:t>
            </a:r>
          </a:p>
          <a:p xmlns:a="http://schemas.openxmlformats.org/drawingml/2006/main">
            <a:r>
              <a:t>- Check: test the response against the relevant need, criterion or source.</a:t>
            </a:r>
          </a:p>
          <a:p xmlns:a="http://schemas.openxmlformats.org/drawingml/2006/main">
            <a:r>
              <a:t>- Remind students that this is formative learning evidence, not a formal submission instruction.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Close by asking each student to retain the response and name the next useful action.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Y11 source note: NESA Preliminary settings content; teacher answer booklet comparison of production settings.</a:t>
            </a:r>
          </a:p>
          <a:p xmlns:a="http://schemas.openxmlformats.org/drawingml/2006/main">
            <a:r>
              <a:t>- Y11 source note: NESA Preliminary technologies content; teacher answer booklet CAD/CAM, automation and industry comparisons.</a:t>
            </a:r>
          </a:p>
          <a:p xmlns:a="http://schemas.openxmlformats.org/drawingml/2006/main">
            <a:r>
              <a:t>- Y11 source note: NESA Preliminary impact content; teacher answer booklet individual/society/environment scenarios.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Make the exit ticket produce a concrete learning record and a manageable next action.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</a:t>
            </a:r>
          </a:p>
          <a:p xmlns:a="http://schemas.openxmlformats.org/drawingml/2006/main">
            <a:r>
              <a:t>- Ask students to complete all three prompts individually before discussion.</a:t>
            </a:r>
          </a:p>
          <a:p xmlns:a="http://schemas.openxmlformats.org/drawingml/2006/main">
            <a:r>
              <a:t>- Keep the record labelled formative learning evidence; do not imply a cloud submission or formal assessment requirement.</a:t>
            </a:r>
          </a:p>
          <a:p xmlns:a="http://schemas.openxmlformats.org/drawingml/2006/main">
            <a:r>
              <a:t>- Next action: connect the module evidence to Research Assignment.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End with each student's own next action, not a generic summary.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Y11 source note: NESA Preliminary settings content; teacher answer booklet comparison of production settings.</a:t>
            </a:r>
          </a:p>
          <a:p xmlns:a="http://schemas.openxmlformats.org/drawingml/2006/main">
            <a:r>
              <a:t>- Y11 source note: NESA Preliminary technologies content; teacher answer booklet CAD/CAM, automation and industry comparisons.</a:t>
            </a:r>
          </a:p>
          <a:p xmlns:a="http://schemas.openxmlformats.org/drawingml/2006/main">
            <a:r>
              <a:t>- Y11 source note: NESA Preliminary impact content; teacher answer booklet individual/society/environment scenarios.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49b4a7b29d475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9362e3f834048af" /><Relationship Type="http://schemas.openxmlformats.org/officeDocument/2006/relationships/slideLayout" Target="/ppt/slideLayouts/slideLayout1.xml" Id="Rdb12abff84f64b4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b12abff84f64b4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c99092dfc34954" /><Relationship Type="http://schemas.openxmlformats.org/officeDocument/2006/relationships/image" Target="/ppt/media/image.png" Id="R9ff2580ebe474e90" /><Relationship Type="http://schemas.openxmlformats.org/officeDocument/2006/relationships/notesSlide" Target="/ppt/notesSlides/notesSlide1.xml" Id="Ref6e652cf2a142a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3ceb1062954f7e" /><Relationship Type="http://schemas.openxmlformats.org/officeDocument/2006/relationships/image" Target="/ppt/media/image2.png" Id="R7d38b5590ee7447a" /><Relationship Type="http://schemas.openxmlformats.org/officeDocument/2006/relationships/image" Target="/ppt/media/image.svg" Id="R1ff411463ac94e22" /><Relationship Type="http://schemas.openxmlformats.org/officeDocument/2006/relationships/notesSlide" Target="/ppt/notesSlides/notesSlide2.xml" Id="Re86aee01870349e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0a126699484ebb" /><Relationship Type="http://schemas.openxmlformats.org/officeDocument/2006/relationships/image" Target="/ppt/media/image3.png" Id="R02fc97e58c9d4070" /><Relationship Type="http://schemas.openxmlformats.org/officeDocument/2006/relationships/notesSlide" Target="/ppt/notesSlides/notesSlide3.xml" Id="Re42c58577d8b44e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f0f0ca28864a5d" /><Relationship Type="http://schemas.openxmlformats.org/officeDocument/2006/relationships/image" Target="/ppt/media/image4.png" Id="Rb3edb4eb88b747de" /><Relationship Type="http://schemas.openxmlformats.org/officeDocument/2006/relationships/notesSlide" Target="/ppt/notesSlides/notesSlide4.xml" Id="R4095561c788b4cc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c8881f57144a75" /><Relationship Type="http://schemas.openxmlformats.org/officeDocument/2006/relationships/notesSlide" Target="/ppt/notesSlides/notesSlide5.xml" Id="R0e521d16ac7b40b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fbaf3881d84fbe" /><Relationship Type="http://schemas.openxmlformats.org/officeDocument/2006/relationships/notesSlide" Target="/ppt/notesSlides/notesSlide6.xml" Id="R38fc99ceffc7435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4f70e668134206" /><Relationship Type="http://schemas.openxmlformats.org/officeDocument/2006/relationships/notesSlide" Target="/ppt/notesSlides/notesSlide7.xml" Id="R4958db4aa9874a1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35e24c300446cc" /><Relationship Type="http://schemas.openxmlformats.org/officeDocument/2006/relationships/notesSlide" Target="/ppt/notesSlides/notesSlide8.xml" Id="R41180d0765834f8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0E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f2580ebe474e90"/>
          <a:srcRect xmlns:a="http://schemas.openxmlformats.org/drawingml/2006/main" l="19792" t="0" r="1979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0"/>
            <a:ext cx="55245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7B3170-7CDD-4CD2-A0E2-048EBD989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453"/>
          </a:solidFill>
          <a:ln xmlns:a="http://schemas.openxmlformats.org/drawingml/2006/main" w="0">
            <a:solidFill>
              <a:srgbClr val="D3A453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02B16D-C684-41DE-828F-15DC143D4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B65F49"/>
                </a:solidFill>
              </a:defRPr>
            </a:pPr>
            <a:r>
              <a:rPr sz="1275" b="1" i="0">
                <a:solidFill>
                  <a:srgbClr val="B65F49"/>
                </a:solidFill>
              </a:rPr>
              <a:t>MODULE 04</a:t>
            </a:r>
          </a:p>
        </p:txBody>
      </p:sp>
      <p:sp>
        <p:nvSpPr>
          <p:cNvPr id="4" name="deck-title">
            <a:extLst xmlns:a="http://schemas.openxmlformats.org/drawingml/2006/main">
              <a:ext uri="{FF2B5EF4-FFF2-40B4-BE49-F238E27FC236}">
                <a16:creationId xmlns:a16="http://schemas.microsoft.com/office/drawing/2014/main" id="{A428E0CF-973A-4EE6-80C2-5C6788D22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52197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 i="0">
                <a:solidFill>
                  <a:srgbClr val="173A32"/>
                </a:solidFill>
              </a:defRPr>
            </a:pPr>
            <a:r>
              <a:rPr sz="3900" b="1" i="0">
                <a:solidFill>
                  <a:srgbClr val="173A32"/>
                </a:solidFill>
              </a:rPr>
              <a:t>Design and production settings</a:t>
            </a:r>
          </a:p>
        </p:txBody>
      </p:sp>
      <p:sp>
        <p:nvSpPr>
          <p:cNvPr id="5" name="deck-purpose">
            <a:extLst xmlns:a="http://schemas.openxmlformats.org/drawingml/2006/main">
              <a:ext uri="{FF2B5EF4-FFF2-40B4-BE49-F238E27FC236}">
                <a16:creationId xmlns:a16="http://schemas.microsoft.com/office/drawing/2014/main" id="{35621850-D8BE-47BD-9187-6DDA5B6AA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51244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8231F"/>
                </a:solidFill>
              </a:defRPr>
            </a:pPr>
            <a:r>
              <a:rPr sz="1575" b="0" i="0">
                <a:solidFill>
                  <a:srgbClr val="18231F"/>
                </a:solidFill>
              </a:rPr>
              <a:t>Relate school design projects to domestic, community, industrial and commercial practices and technologies.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E31B9C-9DBF-4FDA-B535-4AE6B8707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514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315A4D"/>
                </a:solidFill>
              </a:defRPr>
            </a:pPr>
            <a:r>
              <a:rPr sz="1125" b="1" i="0">
                <a:solidFill>
                  <a:srgbClr val="315A4D"/>
                </a:solidFill>
              </a:rPr>
              <a:t>Research Assignment  ·  P2.1 · P2.2 · P6.1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60CB23-3431-4A17-8066-6DEF03675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C6963"/>
                </a:solidFill>
              </a:defRPr>
            </a:pPr>
            <a:r>
              <a:rPr sz="825" b="1" i="0">
                <a:solidFill>
                  <a:srgbClr val="5C6963"/>
                </a:solidFill>
              </a:rPr>
              <a:t>FORMATIVE LEARNING DECK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BDBB87-1051-4038-951D-435191101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60769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5C6963"/>
                </a:solidFill>
              </a:defRPr>
            </a:pPr>
            <a:r>
              <a:rPr sz="825" b="1" i="0">
                <a:solidFill>
                  <a:srgbClr val="5C6963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9827407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header-2">
            <a:extLst xmlns:a="http://schemas.openxmlformats.org/drawingml/2006/main">
              <a:ext uri="{FF2B5EF4-FFF2-40B4-BE49-F238E27FC236}">
                <a16:creationId xmlns:a16="http://schemas.microsoft.com/office/drawing/2014/main" id="{F5EA0A93-A5F6-452A-953C-8F188ACC3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65F49"/>
                </a:solidFill>
              </a:defRPr>
            </a:pPr>
            <a:r>
              <a:rPr sz="900" b="1" i="0">
                <a:solidFill>
                  <a:srgbClr val="B65F49"/>
                </a:solidFill>
              </a:rPr>
              <a:t>YEAR 11 DESIGN &amp; TECHNOLOGY  ·  MODULE 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FA1904-958A-4C0B-B6AB-B52F49B88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7D1405-20D3-42D6-96F0-DFD1DC0C5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C6963"/>
                </a:solidFill>
              </a:defRPr>
            </a:pPr>
            <a:r>
              <a:rPr sz="750" b="0" i="0">
                <a:solidFill>
                  <a:srgbClr val="5C6963"/>
                </a:solidFill>
              </a:rPr>
              <a:t>Year 11 Preliminary · Term 1 · Weeks 7–8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C32508-06F2-4F7E-9C47-C914AEAAF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5C6963"/>
                </a:solidFill>
              </a:defRPr>
            </a:pPr>
            <a:r>
              <a:rPr sz="750" b="1" i="0">
                <a:solidFill>
                  <a:srgbClr val="5C6963"/>
                </a:solidFill>
              </a:rPr>
              <a:t>02</a:t>
            </a:r>
          </a:p>
        </p:txBody>
      </p:sp>
      <p:sp>
        <p:nvSpPr>
          <p:cNvPr id="5" name="map-title">
            <a:extLst xmlns:a="http://schemas.openxmlformats.org/drawingml/2006/main">
              <a:ext uri="{FF2B5EF4-FFF2-40B4-BE49-F238E27FC236}">
                <a16:creationId xmlns:a16="http://schemas.microsoft.com/office/drawing/2014/main" id="{DDE65C60-DA0C-41C8-B833-F36CAB92A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73A32"/>
                </a:solidFill>
              </a:defRPr>
            </a:pPr>
            <a:r>
              <a:rPr sz="3150" b="1" i="0">
                <a:solidFill>
                  <a:srgbClr val="173A32"/>
                </a:solidFill>
              </a:rPr>
              <a:t>Three ideas build one evidence pathway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38b5590ee7447a">
            <a:extLst>
              <a:ext uri="{96DAC541-7B7A-43D3-8B79-37D633B846F1}">
                <asvg:svgBlip xmlns:asvg="http://schemas.microsoft.com/office/drawing/2016/SVG/main" r:embed="R1ff411463ac94e2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1524000"/>
            <a:ext cx="10820400" cy="2428875"/>
          </a:xfrm>
          <a:prstGeom xmlns:a="http://schemas.openxmlformats.org/drawingml/2006/main" prst="rect">
            <a:avLst/>
          </a:prstGeom>
        </p:spPr>
      </p:pic>
      <p:sp>
        <p:nvSpPr>
          <p:cNvPr id="7" name="applied-path">
            <a:extLst xmlns:a="http://schemas.openxmlformats.org/drawingml/2006/main">
              <a:ext uri="{FF2B5EF4-FFF2-40B4-BE49-F238E27FC236}">
                <a16:creationId xmlns:a16="http://schemas.microsoft.com/office/drawing/2014/main" id="{0543734D-9BCA-4490-B89E-5082E85CF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14850"/>
            <a:ext cx="933450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173A32"/>
          </a:solidFill>
          <a:ln xmlns:a="http://schemas.openxmlformats.org/drawingml/2006/main" w="9525">
            <a:solidFill>
              <a:srgbClr val="173A3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881C31-72FA-479A-B8CF-8AA36CDD3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7244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0CF8E"/>
                </a:solidFill>
              </a:defRPr>
            </a:pPr>
            <a:r>
              <a:rPr sz="1200" b="1" i="0">
                <a:solidFill>
                  <a:srgbClr val="F0CF8E"/>
                </a:solidFill>
              </a:rPr>
              <a:t>APPLY + KEEP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B492D9-C8AE-4DA2-97D9-944FF7A23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095875"/>
            <a:ext cx="847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FFFFF"/>
                </a:solidFill>
              </a:defRPr>
            </a:pPr>
            <a:r>
              <a:rPr sz="1500" b="0" i="0">
                <a:solidFill>
                  <a:srgbClr val="FFFFFF"/>
                </a:solidFill>
              </a:rPr>
              <a:t>Compare one school production process with a domestic and an industrial/commercial process.</a:t>
            </a:r>
          </a:p>
        </p:txBody>
      </p:sp>
    </p:spTree>
    <p:extLst>
      <p:ext uri="{BB962C8B-B14F-4D97-AF65-F5344CB8AC3E}">
        <p14:creationId xmlns:p14="http://schemas.microsoft.com/office/powerpoint/2010/main" val="28418644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header-3">
            <a:extLst xmlns:a="http://schemas.openxmlformats.org/drawingml/2006/main">
              <a:ext uri="{FF2B5EF4-FFF2-40B4-BE49-F238E27FC236}">
                <a16:creationId xmlns:a16="http://schemas.microsoft.com/office/drawing/2014/main" id="{1215CBB1-43DA-4572-96F0-E4AC1A748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65F49"/>
                </a:solidFill>
              </a:defRPr>
            </a:pPr>
            <a:r>
              <a:rPr sz="900" b="1" i="0">
                <a:solidFill>
                  <a:srgbClr val="B65F49"/>
                </a:solidFill>
              </a:rPr>
              <a:t>YEAR 11 DESIGN &amp; TECHNOLOGY  ·  MODULE 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78D5D7-E86D-4E53-8357-DAE8938F3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7A44B6-9DF0-4EEF-B590-9BDB674D6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C6963"/>
                </a:solidFill>
              </a:defRPr>
            </a:pPr>
            <a:r>
              <a:rPr sz="750" b="0" i="0">
                <a:solidFill>
                  <a:srgbClr val="5C6963"/>
                </a:solidFill>
              </a:rPr>
              <a:t>Year 11 Preliminary · Term 1 · Weeks 7–8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41FD6A-1E52-40A7-BB6B-862777E2D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5C6963"/>
                </a:solidFill>
              </a:defRPr>
            </a:pPr>
            <a:r>
              <a:rPr sz="750" b="1" i="0">
                <a:solidFill>
                  <a:srgbClr val="5C6963"/>
                </a:solidFill>
              </a:rPr>
              <a:t>03</a:t>
            </a:r>
          </a:p>
        </p:txBody>
      </p:sp>
      <p:sp>
        <p:nvSpPr>
          <p:cNvPr id="5" name="section-1-title">
            <a:extLst xmlns:a="http://schemas.openxmlformats.org/drawingml/2006/main">
              <a:ext uri="{FF2B5EF4-FFF2-40B4-BE49-F238E27FC236}">
                <a16:creationId xmlns:a16="http://schemas.microsoft.com/office/drawing/2014/main" id="{D1DCA047-E383-44DA-AD2C-3B949AAB8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73A32"/>
                </a:solidFill>
              </a:defRPr>
            </a:pPr>
            <a:r>
              <a:rPr sz="2625" b="1" i="0">
                <a:solidFill>
                  <a:srgbClr val="173A32"/>
                </a:solidFill>
              </a:rPr>
              <a:t>Domestic, community, industrial and commercial settings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fc97e58c9d4070"/>
          <a:srcRect xmlns:a="http://schemas.openxmlformats.org/drawingml/2006/main" l="15683" t="0" r="1568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571625"/>
            <a:ext cx="4762500" cy="3905250"/>
          </a:xfrm>
          <a:prstGeom xmlns:a="http://schemas.openxmlformats.org/drawingml/2006/main" prst="roundRect">
            <a:avLst>
              <a:gd name="adj" fmla="val 3902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A9430A-89A3-413A-A476-62588142E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57750"/>
            <a:ext cx="43053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7F0E3"/>
          </a:solidFill>
          <a:ln xmlns:a="http://schemas.openxmlformats.org/drawingml/2006/main" w="9525">
            <a:solidFill>
              <a:srgbClr val="F7F0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F1A41C-0198-4BA3-96DB-3B44D9EAE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91100"/>
            <a:ext cx="3952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73A32"/>
                </a:solidFill>
              </a:defRPr>
            </a:pPr>
            <a:r>
              <a:rPr sz="900" b="1" i="0">
                <a:solidFill>
                  <a:srgbClr val="173A32"/>
                </a:solidFill>
              </a:rPr>
              <a:t>LOOK FOR  ·  KEY RELATIONSHIPS AND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9DF7D8-AA93-4C86-ACCA-1C15D545B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6859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5F49"/>
          </a:solidFill>
          <a:ln xmlns:a="http://schemas.openxmlformats.org/drawingml/2006/main" w="0">
            <a:solidFill>
              <a:srgbClr val="B65F4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FA415E-5523-4D00-9207-C71078AA0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619250"/>
            <a:ext cx="4210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231F"/>
                </a:solidFill>
              </a:defRPr>
            </a:pPr>
            <a:r>
              <a:rPr sz="1350" b="0" i="0">
                <a:solidFill>
                  <a:srgbClr val="18231F"/>
                </a:solidFill>
              </a:rPr>
              <a:t>Domestic production is commonly small-scale, adaptable and completed by one person or a small group.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EB9B5D-37F9-4C9D-91BC-43CF694BF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527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A453"/>
          </a:solidFill>
          <a:ln xmlns:a="http://schemas.openxmlformats.org/drawingml/2006/main" w="0">
            <a:solidFill>
              <a:srgbClr val="D3A45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6586BA-B177-43BF-9642-D6F82170D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686050"/>
            <a:ext cx="4210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231F"/>
                </a:solidFill>
              </a:defRPr>
            </a:pPr>
            <a:r>
              <a:rPr sz="1350" b="0" i="0">
                <a:solidFill>
                  <a:srgbClr val="18231F"/>
                </a:solidFill>
              </a:rPr>
              <a:t>Community design should involve affected groups and consider equitable access and public benefit.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2F112F-20B6-4777-8605-6CF1BEADC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8195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7D69"/>
          </a:solidFill>
          <a:ln xmlns:a="http://schemas.openxmlformats.org/drawingml/2006/main" w="0">
            <a:solidFill>
              <a:srgbClr val="547D6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8A5690-2437-4771-A3B1-4DE796C2F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752850"/>
            <a:ext cx="4210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231F"/>
                </a:solidFill>
              </a:defRPr>
            </a:pPr>
            <a:r>
              <a:rPr sz="1350" b="0" i="0">
                <a:solidFill>
                  <a:srgbClr val="18231F"/>
                </a:solidFill>
              </a:rPr>
              <a:t>Industrial production commonly uses specialised equipment, standardised processes and defined roles.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992EDA-C7CC-4D03-AEF8-599A4AD5F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933950"/>
            <a:ext cx="44767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DF3EF"/>
          </a:solidFill>
          <a:ln xmlns:a="http://schemas.openxmlformats.org/drawingml/2006/main" w="9525">
            <a:solidFill>
              <a:srgbClr val="EDF3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5C27AA-B652-4C49-AB86-F553A5770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0482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73A32"/>
                </a:solidFill>
              </a:defRPr>
            </a:pPr>
            <a:r>
              <a:rPr sz="1050" b="1" i="0">
                <a:solidFill>
                  <a:srgbClr val="173A32"/>
                </a:solidFill>
              </a:rPr>
              <a:t>EVIDENCE PROMPT  ·  A handmade product begins supplying a national retailer. Which change is most likely?</a:t>
            </a:r>
          </a:p>
        </p:txBody>
      </p:sp>
    </p:spTree>
    <p:extLst>
      <p:ext uri="{BB962C8B-B14F-4D97-AF65-F5344CB8AC3E}">
        <p14:creationId xmlns:p14="http://schemas.microsoft.com/office/powerpoint/2010/main" val="53508874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header-4">
            <a:extLst xmlns:a="http://schemas.openxmlformats.org/drawingml/2006/main">
              <a:ext uri="{FF2B5EF4-FFF2-40B4-BE49-F238E27FC236}">
                <a16:creationId xmlns:a16="http://schemas.microsoft.com/office/drawing/2014/main" id="{4BB6A174-1BE1-4B83-996E-76D120513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65F49"/>
                </a:solidFill>
              </a:defRPr>
            </a:pPr>
            <a:r>
              <a:rPr sz="900" b="1" i="0">
                <a:solidFill>
                  <a:srgbClr val="B65F49"/>
                </a:solidFill>
              </a:rPr>
              <a:t>YEAR 11 DESIGN &amp; TECHNOLOGY  ·  MODULE 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213047-99DC-4B5E-9171-89542543B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2002B3-D11C-4544-8AD5-5156ED61C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C6963"/>
                </a:solidFill>
              </a:defRPr>
            </a:pPr>
            <a:r>
              <a:rPr sz="750" b="0" i="0">
                <a:solidFill>
                  <a:srgbClr val="5C6963"/>
                </a:solidFill>
              </a:rPr>
              <a:t>Year 11 Preliminary · Term 1 · Weeks 7–8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575DE1-A077-4BB2-BCC7-FE9B249B2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5C6963"/>
                </a:solidFill>
              </a:defRPr>
            </a:pPr>
            <a:r>
              <a:rPr sz="750" b="1" i="0">
                <a:solidFill>
                  <a:srgbClr val="5C6963"/>
                </a:solidFill>
              </a:rPr>
              <a:t>04</a:t>
            </a:r>
          </a:p>
        </p:txBody>
      </p:sp>
      <p:sp>
        <p:nvSpPr>
          <p:cNvPr id="5" name="section-2-title">
            <a:extLst xmlns:a="http://schemas.openxmlformats.org/drawingml/2006/main">
              <a:ext uri="{FF2B5EF4-FFF2-40B4-BE49-F238E27FC236}">
                <a16:creationId xmlns:a16="http://schemas.microsoft.com/office/drawing/2014/main" id="{B0F61BD9-7A42-4C04-9ADD-16CE6B3ED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73A32"/>
                </a:solidFill>
              </a:defRPr>
            </a:pPr>
            <a:r>
              <a:rPr sz="2925" b="1" i="0">
                <a:solidFill>
                  <a:srgbClr val="173A32"/>
                </a:solidFill>
              </a:rPr>
              <a:t>Technologies in industrial and commercial settings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edb4eb88b747de"/>
          <a:srcRect xmlns:a="http://schemas.openxmlformats.org/drawingml/2006/main" l="4268" t="0" r="426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2750" y="1571625"/>
            <a:ext cx="4762500" cy="3905250"/>
          </a:xfrm>
          <a:prstGeom xmlns:a="http://schemas.openxmlformats.org/drawingml/2006/main" prst="roundRect">
            <a:avLst>
              <a:gd name="adj" fmla="val 3902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C63003-1074-4DB3-B16B-4C15EC76F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857750"/>
            <a:ext cx="43053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7F0E3"/>
          </a:solidFill>
          <a:ln xmlns:a="http://schemas.openxmlformats.org/drawingml/2006/main" w="9525">
            <a:solidFill>
              <a:srgbClr val="F7F0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2B83EC-70B8-4B6B-A3A3-2031DEE22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991100"/>
            <a:ext cx="3952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73A32"/>
                </a:solidFill>
              </a:defRPr>
            </a:pPr>
            <a:r>
              <a:rPr sz="900" b="1" i="0">
                <a:solidFill>
                  <a:srgbClr val="173A32"/>
                </a:solidFill>
              </a:rPr>
              <a:t>LOOK FOR  ·  KEY RELATIONSHIPS AND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3C6B8A-00FC-4C58-AC14-7A24DC491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859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5F49"/>
          </a:solidFill>
          <a:ln xmlns:a="http://schemas.openxmlformats.org/drawingml/2006/main" w="0">
            <a:solidFill>
              <a:srgbClr val="B65F4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9E965D-5E04-475D-B3EA-8DE320659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19250"/>
            <a:ext cx="4210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231F"/>
                </a:solidFill>
              </a:defRPr>
            </a:pPr>
            <a:r>
              <a:rPr sz="1350" b="0" i="0">
                <a:solidFill>
                  <a:srgbClr val="18231F"/>
                </a:solidFill>
              </a:rPr>
              <a:t>Technology should be selected because it suits the task and context, not because it is new.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5E3D39-A064-4B8F-97EE-6E2C6B17B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527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A453"/>
          </a:solidFill>
          <a:ln xmlns:a="http://schemas.openxmlformats.org/drawingml/2006/main" w="0">
            <a:solidFill>
              <a:srgbClr val="D3A45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A27676-C1F6-42CA-BC8B-068A3026A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86050"/>
            <a:ext cx="4210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231F"/>
                </a:solidFill>
              </a:defRPr>
            </a:pPr>
            <a:r>
              <a:rPr sz="1350" b="0" i="0">
                <a:solidFill>
                  <a:srgbClr val="18231F"/>
                </a:solidFill>
              </a:rPr>
              <a:t>CAD, CAM and CNC can create an integrated flow from digital design to controlled manufacture.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105C09-56D8-44DE-8AAD-BF555E94D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95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7D69"/>
          </a:solidFill>
          <a:ln xmlns:a="http://schemas.openxmlformats.org/drawingml/2006/main" w="0">
            <a:solidFill>
              <a:srgbClr val="547D6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96425F-516D-4A54-A50E-00ED7A28C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52850"/>
            <a:ext cx="4210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231F"/>
                </a:solidFill>
              </a:defRPr>
            </a:pPr>
            <a:r>
              <a:rPr sz="1350" b="0" i="0">
                <a:solidFill>
                  <a:srgbClr val="18231F"/>
                </a:solidFill>
              </a:rPr>
              <a:t>Automation can improve repeatability and remove some hazardous or repetitive work, but it requires investment, maintenance and skills.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E0DC59-D8FC-446C-AC78-EBA39AFCE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3950"/>
            <a:ext cx="44767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DF3EF"/>
          </a:solidFill>
          <a:ln xmlns:a="http://schemas.openxmlformats.org/drawingml/2006/main" w="9525">
            <a:solidFill>
              <a:srgbClr val="EDF3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4146A7-C212-4A0D-B9DB-B1FFC35FC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482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73A32"/>
                </a:solidFill>
              </a:defRPr>
            </a:pPr>
            <a:r>
              <a:rPr sz="1050" b="1" i="0">
                <a:solidFill>
                  <a:srgbClr val="173A32"/>
                </a:solidFill>
              </a:rPr>
              <a:t>EVIDENCE PROMPT  ·  A small maker needs 20 customised components each month. What technology decision is most defensible?</a:t>
            </a:r>
          </a:p>
        </p:txBody>
      </p:sp>
    </p:spTree>
    <p:extLst>
      <p:ext uri="{BB962C8B-B14F-4D97-AF65-F5344CB8AC3E}">
        <p14:creationId xmlns:p14="http://schemas.microsoft.com/office/powerpoint/2010/main" val="69273121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header-5">
            <a:extLst xmlns:a="http://schemas.openxmlformats.org/drawingml/2006/main">
              <a:ext uri="{FF2B5EF4-FFF2-40B4-BE49-F238E27FC236}">
                <a16:creationId xmlns:a16="http://schemas.microsoft.com/office/drawing/2014/main" id="{C8A89144-8528-40E4-92E3-75B04D535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65F49"/>
                </a:solidFill>
              </a:defRPr>
            </a:pPr>
            <a:r>
              <a:rPr sz="900" b="1" i="0">
                <a:solidFill>
                  <a:srgbClr val="B65F49"/>
                </a:solidFill>
              </a:rPr>
              <a:t>YEAR 11 DESIGN &amp; TECHNOLOGY  ·  MODULE 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4A7796-E40F-4317-AD9D-F087F4E71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2AEDC8-8693-47D0-B98D-04C191AE8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C6963"/>
                </a:solidFill>
              </a:defRPr>
            </a:pPr>
            <a:r>
              <a:rPr sz="750" b="0" i="0">
                <a:solidFill>
                  <a:srgbClr val="5C6963"/>
                </a:solidFill>
              </a:rPr>
              <a:t>Year 11 Preliminary · Term 1 · Weeks 7–8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0188DB-68A6-42DA-B189-135A21244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5C6963"/>
                </a:solidFill>
              </a:defRPr>
            </a:pPr>
            <a:r>
              <a:rPr sz="750" b="1" i="0">
                <a:solidFill>
                  <a:srgbClr val="5C6963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8A07E2-5A26-4D0C-8DD7-634BA47F4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73A32"/>
                </a:solidFill>
              </a:defRPr>
            </a:pPr>
            <a:r>
              <a:rPr sz="2925" b="1" i="0">
                <a:solidFill>
                  <a:srgbClr val="173A32"/>
                </a:solidFill>
              </a:rPr>
              <a:t>Impacts on individuals, society and the environment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403B5C-03C3-44E6-9EB8-6AFECA911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C6963"/>
                </a:solidFill>
              </a:defRPr>
            </a:pPr>
            <a:r>
              <a:rPr sz="1350" b="0" i="0">
                <a:solidFill>
                  <a:srgbClr val="5C6963"/>
                </a:solidFill>
              </a:rPr>
              <a:t>Analyse connected consequences of design and technology activities.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636186-5235-4D06-860B-724E0B5F7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76225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D9D2C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579CFA-DDDB-4AA3-A84E-1F07FB564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76225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D9D2C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0BEE5F-110A-418A-BF4E-B286F3F35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95500"/>
            <a:ext cx="1714500" cy="1333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5F49"/>
          </a:solidFill>
          <a:ln xmlns:a="http://schemas.openxmlformats.org/drawingml/2006/main" w="0">
            <a:solidFill>
              <a:srgbClr val="B65F4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B782B4-0C21-4A3F-B6AA-C2BDCB806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57175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INDIVIDUAL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BFA501-BAF9-40B9-88C4-C03C7567C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38550"/>
            <a:ext cx="27432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8231F"/>
                </a:solidFill>
              </a:defRPr>
            </a:pPr>
            <a:r>
              <a:rPr sz="1200" b="0" i="0">
                <a:solidFill>
                  <a:srgbClr val="18231F"/>
                </a:solidFill>
              </a:rPr>
              <a:t>Individual impacts can include safety, convenience, cost, privacy, independence, health and access.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59D1E9-4641-4505-B885-851BDB69A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95500"/>
            <a:ext cx="1714500" cy="1333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A453"/>
          </a:solidFill>
          <a:ln xmlns:a="http://schemas.openxmlformats.org/drawingml/2006/main" w="0">
            <a:solidFill>
              <a:srgbClr val="D3A45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5FB5DB-2029-4166-A053-7942707A1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57175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SOCIETY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3A6CC9-C41A-4C00-AA6A-5B1E65FCA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638550"/>
            <a:ext cx="27432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8231F"/>
                </a:solidFill>
              </a:defRPr>
            </a:pPr>
            <a:r>
              <a:rPr sz="1200" b="0" i="0">
                <a:solidFill>
                  <a:srgbClr val="18231F"/>
                </a:solidFill>
              </a:rPr>
              <a:t>Societal impacts can include employment, equity, infrastructure, cultural practices, regulation and community participation.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E6BA13-A69E-4E9F-9BCD-512BC1F6E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95500"/>
            <a:ext cx="1714500" cy="1333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7D69"/>
          </a:solidFill>
          <a:ln xmlns:a="http://schemas.openxmlformats.org/drawingml/2006/main" w="0">
            <a:solidFill>
              <a:srgbClr val="547D6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80B42A-F84A-45B2-9CE4-53260F557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57175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ENVIRONMENT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7FB437-6934-4195-8482-C2287A7E1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638550"/>
            <a:ext cx="27432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8231F"/>
                </a:solidFill>
              </a:defRPr>
            </a:pPr>
            <a:r>
              <a:rPr sz="1200" b="0" i="0">
                <a:solidFill>
                  <a:srgbClr val="18231F"/>
                </a:solidFill>
              </a:rPr>
              <a:t>Environmental impacts can occur during extraction, manufacture, transport, use, maintenance and end-of-life.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E10A74-49BF-48ED-B17A-67E3EB051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95875"/>
            <a:ext cx="9334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DF3EF"/>
          </a:solidFill>
          <a:ln xmlns:a="http://schemas.openxmlformats.org/drawingml/2006/main" w="9525">
            <a:solidFill>
              <a:srgbClr val="EDF3E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8A9AB1-536E-472A-8654-BA767957C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57800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73A32"/>
                </a:solidFill>
              </a:defRPr>
            </a:pPr>
            <a:r>
              <a:rPr sz="1125" b="1" i="0">
                <a:solidFill>
                  <a:srgbClr val="173A32"/>
                </a:solidFill>
              </a:rPr>
              <a:t>EVIDENCE PROMPT  ·  A shared e-bike scheme is proposed for a regional city. What is the strongest analysis?</a:t>
            </a:r>
          </a:p>
        </p:txBody>
      </p:sp>
    </p:spTree>
    <p:extLst>
      <p:ext uri="{BB962C8B-B14F-4D97-AF65-F5344CB8AC3E}">
        <p14:creationId xmlns:p14="http://schemas.microsoft.com/office/powerpoint/2010/main" val="175165074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0E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header-6">
            <a:extLst xmlns:a="http://schemas.openxmlformats.org/drawingml/2006/main">
              <a:ext uri="{FF2B5EF4-FFF2-40B4-BE49-F238E27FC236}">
                <a16:creationId xmlns:a16="http://schemas.microsoft.com/office/drawing/2014/main" id="{144005A8-ED86-4BCA-B853-909D36D22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65F49"/>
                </a:solidFill>
              </a:defRPr>
            </a:pPr>
            <a:r>
              <a:rPr sz="900" b="1" i="0">
                <a:solidFill>
                  <a:srgbClr val="B65F49"/>
                </a:solidFill>
              </a:rPr>
              <a:t>YEAR 11 DESIGN &amp; TECHNOLOGY  ·  MODULE 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E9E8ED-6AE4-43D8-BB1F-8664C052E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84DE43-8036-4AE4-AF4E-6CC8D10C0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C6963"/>
                </a:solidFill>
              </a:defRPr>
            </a:pPr>
            <a:r>
              <a:rPr sz="750" b="0" i="0">
                <a:solidFill>
                  <a:srgbClr val="5C6963"/>
                </a:solidFill>
              </a:rPr>
              <a:t>Year 11 Preliminary · Term 1 · Weeks 7–8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63F571-6AE2-4533-AC9F-9F45D2AFA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5C6963"/>
                </a:solidFill>
              </a:defRPr>
            </a:pPr>
            <a:r>
              <a:rPr sz="750" b="1" i="0">
                <a:solidFill>
                  <a:srgbClr val="5C6963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C11E7C-7B27-41B6-95BD-F4F546C17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857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73A32"/>
                </a:solidFill>
              </a:defRPr>
            </a:pPr>
            <a:r>
              <a:rPr sz="3000" b="1" i="0">
                <a:solidFill>
                  <a:srgbClr val="173A32"/>
                </a:solidFill>
              </a:rPr>
              <a:t>Retrieve first; then check and improve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54C904-648D-4671-A435-A196BD499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315A4D"/>
                </a:solidFill>
              </a:defRPr>
            </a:pPr>
            <a:r>
              <a:rPr sz="1275" b="0" i="0">
                <a:solidFill>
                  <a:srgbClr val="315A4D"/>
                </a:solidFill>
              </a:rPr>
              <a:t>Answer without notes. Use one precise sentence for each check.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3CF5E0-99ED-404E-BFD7-1DBC42DE4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533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B65F49"/>
                </a:solidFill>
              </a:defRPr>
            </a:pPr>
            <a:r>
              <a:rPr sz="1800" b="1" i="0">
                <a:solidFill>
                  <a:srgbClr val="B65F49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A55D1F-BF77-4AA9-8346-5CCB8087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752600"/>
            <a:ext cx="666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73A32"/>
                </a:solidFill>
              </a:defRPr>
            </a:pPr>
            <a:r>
              <a:rPr sz="1350" b="1" i="0">
                <a:solidFill>
                  <a:srgbClr val="173A32"/>
                </a:solidFill>
              </a:rPr>
              <a:t>A handmade product begins supplying a national retailer. Which change is most likely?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B9112B-E1F8-45EB-819C-1154FA5E7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86050"/>
            <a:ext cx="6667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078978-9979-4D44-BEA4-A9A5BAAD2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533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D3A453"/>
                </a:solidFill>
              </a:defRPr>
            </a:pPr>
            <a:r>
              <a:rPr sz="1800" b="1" i="0">
                <a:solidFill>
                  <a:srgbClr val="D3A453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57A864-E21C-4CD4-A264-ECE9E7A8A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05150"/>
            <a:ext cx="666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73A32"/>
                </a:solidFill>
              </a:defRPr>
            </a:pPr>
            <a:r>
              <a:rPr sz="1350" b="1" i="0">
                <a:solidFill>
                  <a:srgbClr val="173A32"/>
                </a:solidFill>
              </a:rPr>
              <a:t>A small maker needs 20 customised components each month. What technology decision is most defensible?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84B84D-93D7-4FB3-BB9F-C437FF065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38600"/>
            <a:ext cx="6667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A80ECD-4669-4B3E-8A26-795E53421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533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547D69"/>
                </a:solidFill>
              </a:defRPr>
            </a:pPr>
            <a:r>
              <a:rPr sz="1800" b="1" i="0">
                <a:solidFill>
                  <a:srgbClr val="547D69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4D8FDA-D091-4F82-9EE0-C72422B0D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57700"/>
            <a:ext cx="666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73A32"/>
                </a:solidFill>
              </a:defRPr>
            </a:pPr>
            <a:r>
              <a:rPr sz="1350" b="1" i="0">
                <a:solidFill>
                  <a:srgbClr val="173A32"/>
                </a:solidFill>
              </a:rPr>
              <a:t>A shared e-bike scheme is proposed for a regional city. What is the strongest analysis?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D262EA-D84E-4628-BA3D-95CBDF3F6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391150"/>
            <a:ext cx="6667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495614-A16C-47C9-813E-F2F054276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562100"/>
            <a:ext cx="2838450" cy="4095750"/>
          </a:xfrm>
          <a:prstGeom xmlns:a="http://schemas.openxmlformats.org/drawingml/2006/main" prst="roundRect">
            <a:avLst>
              <a:gd name="adj" fmla="val 5369"/>
            </a:avLst>
          </a:prstGeom>
          <a:solidFill xmlns:a="http://schemas.openxmlformats.org/drawingml/2006/main">
            <a:srgbClr val="173A32"/>
          </a:solidFill>
          <a:ln xmlns:a="http://schemas.openxmlformats.org/drawingml/2006/main" w="9525">
            <a:solidFill>
              <a:srgbClr val="173A3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DED52E-363F-4101-B00D-8645BD4C4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885950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FFFFF"/>
                </a:solidFill>
              </a:defRPr>
            </a:pPr>
            <a:r>
              <a:rPr sz="2100" b="1" i="0">
                <a:solidFill>
                  <a:srgbClr val="FFFFFF"/>
                </a:solidFill>
              </a:rPr>
              <a:t>A calm checking cycle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6704ED-EB44-4F73-BBA8-CF7EC5314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800350"/>
            <a:ext cx="215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0CF8E"/>
                </a:solidFill>
              </a:defRPr>
            </a:pPr>
            <a:r>
              <a:rPr sz="1200" b="1" i="0">
                <a:solidFill>
                  <a:srgbClr val="F0CF8E"/>
                </a:solidFill>
              </a:rPr>
              <a:t>1  Recall from memory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C0527D-2523-47D4-BF32-2164FEDF9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429000"/>
            <a:ext cx="215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FFFFFF"/>
                </a:solidFill>
              </a:defRPr>
            </a:pPr>
            <a:r>
              <a:rPr sz="1200" b="0" i="0">
                <a:solidFill>
                  <a:srgbClr val="FFFFFF"/>
                </a:solidFill>
              </a:rPr>
              <a:t>2  Check the matching section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3416DA-3244-42D4-AFD9-98D181BF3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057650"/>
            <a:ext cx="215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FFFFFF"/>
                </a:solidFill>
              </a:defRPr>
            </a:pPr>
            <a:r>
              <a:rPr sz="1200" b="0" i="0">
                <a:solidFill>
                  <a:srgbClr val="FFFFFF"/>
                </a:solidFill>
              </a:rPr>
              <a:t>3  Repair the reason, not just the word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9A4641-C3A4-45EB-BF6A-BC3D5C772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686300"/>
            <a:ext cx="215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FFFFFF"/>
                </a:solidFill>
              </a:defRPr>
            </a:pPr>
            <a:r>
              <a:rPr sz="1200" b="0" i="0">
                <a:solidFill>
                  <a:srgbClr val="FFFFFF"/>
                </a:solidFill>
              </a:rPr>
              <a:t>4  Try the question again</a:t>
            </a:r>
          </a:p>
        </p:txBody>
      </p:sp>
    </p:spTree>
    <p:extLst>
      <p:ext uri="{BB962C8B-B14F-4D97-AF65-F5344CB8AC3E}">
        <p14:creationId xmlns:p14="http://schemas.microsoft.com/office/powerpoint/2010/main" val="86706045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header-7">
            <a:extLst xmlns:a="http://schemas.openxmlformats.org/drawingml/2006/main">
              <a:ext uri="{FF2B5EF4-FFF2-40B4-BE49-F238E27FC236}">
                <a16:creationId xmlns:a16="http://schemas.microsoft.com/office/drawing/2014/main" id="{4EFFD56F-0CD1-4769-8EAF-A3E575F43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65F49"/>
                </a:solidFill>
              </a:defRPr>
            </a:pPr>
            <a:r>
              <a:rPr sz="900" b="1" i="0">
                <a:solidFill>
                  <a:srgbClr val="B65F49"/>
                </a:solidFill>
              </a:rPr>
              <a:t>YEAR 11 DESIGN &amp; TECHNOLOGY  ·  MODULE 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F70ABF-223C-41F8-9518-02787C7C8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1EC3A7-F7A0-4C6D-9936-8BE61D762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C6963"/>
                </a:solidFill>
              </a:defRPr>
            </a:pPr>
            <a:r>
              <a:rPr sz="750" b="0" i="0">
                <a:solidFill>
                  <a:srgbClr val="5C6963"/>
                </a:solidFill>
              </a:rPr>
              <a:t>Year 11 Preliminary · Term 1 · Weeks 7–8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7B6431-7B57-49C4-BB8B-173BDBE95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5C6963"/>
                </a:solidFill>
              </a:defRPr>
            </a:pPr>
            <a:r>
              <a:rPr sz="750" b="1" i="0">
                <a:solidFill>
                  <a:srgbClr val="5C6963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A84A79-1459-4C93-A787-D308D91E4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73A32"/>
                </a:solidFill>
              </a:defRPr>
            </a:pPr>
            <a:r>
              <a:rPr sz="3000" b="1" i="0">
                <a:solidFill>
                  <a:srgbClr val="173A32"/>
                </a:solidFill>
              </a:rPr>
              <a:t>Construct evidence that makes reasoning visible</a:t>
            </a:r>
          </a:p>
        </p:txBody>
      </p:sp>
      <p:sp>
        <p:nvSpPr>
          <p:cNvPr id="6" name="evidence-prompt">
            <a:extLst xmlns:a="http://schemas.openxmlformats.org/drawingml/2006/main">
              <a:ext uri="{FF2B5EF4-FFF2-40B4-BE49-F238E27FC236}">
                <a16:creationId xmlns:a16="http://schemas.microsoft.com/office/drawing/2014/main" id="{37F99D55-158C-48E8-B994-9777F1178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6191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73A32"/>
                </a:solidFill>
              </a:defRPr>
            </a:pPr>
            <a:r>
              <a:rPr sz="1875" b="1" i="0">
                <a:solidFill>
                  <a:srgbClr val="173A32"/>
                </a:solidFill>
              </a:rPr>
              <a:t>Compare one school production process with a domestic and an industrial/commercial process.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CA1F92-2DB5-4873-B803-E80339B26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619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8231F"/>
                </a:solidFill>
              </a:defRPr>
            </a:pPr>
            <a:r>
              <a:rPr sz="1425" b="0" i="0">
                <a:solidFill>
                  <a:srgbClr val="18231F"/>
                </a:solidFill>
              </a:rPr>
              <a:t>• Name the user, context or design issue.</a:t>
            </a:r>
          </a:p>
          <a:p xmlns:a="http://schemas.openxmlformats.org/drawingml/2006/main">
            <a:pPr algn="l">
              <a:defRPr sz="1425" b="0" i="0">
                <a:solidFill>
                  <a:srgbClr val="18231F"/>
                </a:solidFill>
              </a:defRPr>
            </a:pPr>
            <a:r>
              <a:rPr sz="1425" b="0" i="0">
                <a:solidFill>
                  <a:srgbClr val="18231F"/>
                </a:solidFill>
              </a:rPr>
              <a:t>• Select one relevant principle from this module.</a:t>
            </a:r>
          </a:p>
          <a:p xmlns:a="http://schemas.openxmlformats.org/drawingml/2006/main">
            <a:pPr algn="l">
              <a:defRPr sz="1425" b="0" i="0">
                <a:solidFill>
                  <a:srgbClr val="18231F"/>
                </a:solidFill>
              </a:defRPr>
            </a:pPr>
            <a:r>
              <a:rPr sz="1425" b="0" i="0">
                <a:solidFill>
                  <a:srgbClr val="18231F"/>
                </a:solidFill>
              </a:rPr>
              <a:t>• Explain how the evidence changes a decision.</a:t>
            </a:r>
          </a:p>
          <a:p xmlns:a="http://schemas.openxmlformats.org/drawingml/2006/main">
            <a:pPr algn="l">
              <a:defRPr sz="1425" b="0" i="0">
                <a:solidFill>
                  <a:srgbClr val="18231F"/>
                </a:solidFill>
              </a:defRPr>
            </a:pPr>
            <a:r>
              <a:rPr sz="1425" b="0" i="0">
                <a:solidFill>
                  <a:srgbClr val="18231F"/>
                </a:solidFill>
              </a:rPr>
              <a:t>• Check the decision against the need, criteria or source.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1B2ED8-CB53-48BA-83F5-426C15926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61912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3D7"/>
          </a:solidFill>
          <a:ln xmlns:a="http://schemas.openxmlformats.org/drawingml/2006/main" w="9525">
            <a:solidFill>
              <a:srgbClr val="FFF3D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1673F2-9812-44D6-9B9D-6CA698F88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57800"/>
            <a:ext cx="577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73A32"/>
                </a:solidFill>
              </a:defRPr>
            </a:pPr>
            <a:r>
              <a:rPr sz="1200" b="1" i="0">
                <a:solidFill>
                  <a:srgbClr val="173A32"/>
                </a:solidFill>
              </a:rPr>
              <a:t>SENTENCE SUPPORT  ·  The evidence shows … This matters because … Therefore I would 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10A3A7-A199-4E67-85AC-58C678229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905000"/>
            <a:ext cx="0" cy="3143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D9D2C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D1BD3F-7976-4B1B-BC11-544180D1A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5621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A453"/>
          </a:solidFill>
          <a:ln xmlns:a="http://schemas.openxmlformats.org/drawingml/2006/main" w="0">
            <a:solidFill>
              <a:srgbClr val="D3A45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774324-8637-4BAD-9199-07BD5B78B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5430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73A32"/>
                </a:solidFill>
              </a:defRPr>
            </a:pPr>
            <a:r>
              <a:rPr sz="1275" b="1" i="0">
                <a:solidFill>
                  <a:srgbClr val="173A32"/>
                </a:solidFill>
              </a:rPr>
              <a:t>READ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EC7C67-8A00-49D5-BF57-4BD28CB25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8288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C6963"/>
                </a:solidFill>
              </a:defRPr>
            </a:pPr>
            <a:r>
              <a:rPr sz="1125" b="0" i="0">
                <a:solidFill>
                  <a:srgbClr val="5C6963"/>
                </a:solidFill>
              </a:rPr>
              <a:t>Identify the design question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4C9B90-A048-4274-9CF6-78D504B79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5908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5F49"/>
          </a:solidFill>
          <a:ln xmlns:a="http://schemas.openxmlformats.org/drawingml/2006/main" w="0">
            <a:solidFill>
              <a:srgbClr val="B65F4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DFD20A-347E-4760-883C-DB0D3FA64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5717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73A32"/>
                </a:solidFill>
              </a:defRPr>
            </a:pPr>
            <a:r>
              <a:rPr sz="1275" b="1" i="0">
                <a:solidFill>
                  <a:srgbClr val="173A32"/>
                </a:solidFill>
              </a:rPr>
              <a:t>SELECT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F4A7D8-D46C-489D-8688-F6916999A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8575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C6963"/>
                </a:solidFill>
              </a:defRPr>
            </a:pPr>
            <a:r>
              <a:rPr sz="1125" b="0" i="0">
                <a:solidFill>
                  <a:srgbClr val="5C6963"/>
                </a:solidFill>
              </a:rPr>
              <a:t>Choose relevant evidence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2D2E9E-9054-4AC2-94F3-0A73CF94A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619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A453"/>
          </a:solidFill>
          <a:ln xmlns:a="http://schemas.openxmlformats.org/drawingml/2006/main" w="0">
            <a:solidFill>
              <a:srgbClr val="D3A45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312E23-0629-4BCC-A006-A1CB482D0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6004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73A32"/>
                </a:solidFill>
              </a:defRPr>
            </a:pPr>
            <a:r>
              <a:rPr sz="1275" b="1" i="0">
                <a:solidFill>
                  <a:srgbClr val="173A32"/>
                </a:solidFill>
              </a:rPr>
              <a:t>EXPLAIN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588373-884F-4085-A18F-CEF5B3C67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8862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C6963"/>
                </a:solidFill>
              </a:defRPr>
            </a:pPr>
            <a:r>
              <a:rPr sz="1125" b="0" i="0">
                <a:solidFill>
                  <a:srgbClr val="5C6963"/>
                </a:solidFill>
              </a:rPr>
              <a:t>Connect evidence to the decision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B9E0C5-FA88-4431-BAAC-A980BAD5C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648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7D69"/>
          </a:solidFill>
          <a:ln xmlns:a="http://schemas.openxmlformats.org/drawingml/2006/main" w="0">
            <a:solidFill>
              <a:srgbClr val="547D6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F57B2B-AC3C-43EB-AB48-8670B4074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6291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73A32"/>
                </a:solidFill>
              </a:defRPr>
            </a:pPr>
            <a:r>
              <a:rPr sz="1275" b="1" i="0">
                <a:solidFill>
                  <a:srgbClr val="173A32"/>
                </a:solidFill>
              </a:rPr>
              <a:t>CHECK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B6E663-1631-42B4-BC44-C1C731F13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9149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C6963"/>
                </a:solidFill>
              </a:defRPr>
            </a:pPr>
            <a:r>
              <a:rPr sz="1125" b="0" i="0">
                <a:solidFill>
                  <a:srgbClr val="5C6963"/>
                </a:solidFill>
              </a:rPr>
              <a:t>Test against the requirement</a:t>
            </a:r>
          </a:p>
        </p:txBody>
      </p:sp>
    </p:spTree>
    <p:extLst>
      <p:ext uri="{BB962C8B-B14F-4D97-AF65-F5344CB8AC3E}">
        <p14:creationId xmlns:p14="http://schemas.microsoft.com/office/powerpoint/2010/main" val="178816137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73A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header-8">
            <a:extLst xmlns:a="http://schemas.openxmlformats.org/drawingml/2006/main">
              <a:ext uri="{FF2B5EF4-FFF2-40B4-BE49-F238E27FC236}">
                <a16:creationId xmlns:a16="http://schemas.microsoft.com/office/drawing/2014/main" id="{B72870AC-8406-409D-A01C-842089E4D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0CF8E"/>
                </a:solidFill>
              </a:defRPr>
            </a:pPr>
            <a:r>
              <a:rPr sz="900" b="1" i="0">
                <a:solidFill>
                  <a:srgbClr val="F0CF8E"/>
                </a:solidFill>
              </a:rPr>
              <a:t>YEAR 11 DESIGN &amp; TECHNOLOGY  ·  MODULE 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4AAF8F-22A9-41F5-BD1B-211E7ED6A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1665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2D6BDC-CBA9-405F-87E3-76E0B3954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C8D8D2"/>
                </a:solidFill>
              </a:defRPr>
            </a:pPr>
            <a:r>
              <a:rPr sz="750" b="0" i="0">
                <a:solidFill>
                  <a:srgbClr val="C8D8D2"/>
                </a:solidFill>
              </a:rPr>
              <a:t>Year 11 Preliminary · Term 1 · Weeks 7–8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60865F-393D-4AF1-8BF5-EC228E6BC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C8D8D2"/>
                </a:solidFill>
              </a:defRPr>
            </a:pPr>
            <a:r>
              <a:rPr sz="750" b="1" i="0">
                <a:solidFill>
                  <a:srgbClr val="C8D8D2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3D50FF-E7E2-4764-A5A1-3C4E5FD1F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04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FFFFFF"/>
                </a:solidFill>
              </a:defRPr>
            </a:pPr>
            <a:r>
              <a:rPr sz="3450" b="1" i="0">
                <a:solidFill>
                  <a:srgbClr val="FFFFFF"/>
                </a:solidFill>
              </a:rPr>
              <a:t>Leave with evidence, not just notes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4AFBA5-83BA-4AD6-8E7B-1192DF24F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952625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D3A453"/>
                </a:solidFill>
              </a:defRPr>
            </a:pPr>
            <a:r>
              <a:rPr sz="2400" b="1" i="0">
                <a:solidFill>
                  <a:srgbClr val="D3A453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9A3911-9CF1-45BF-A7C4-F9CDAC3B0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717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RECALL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5DCF34-2C11-4DD7-B591-F58AEE565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048000"/>
            <a:ext cx="2762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</a:rPr>
              <a:t>One idea I can now explain accurately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869BC1-C2D4-4637-80F4-393869905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952625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D3A453"/>
                </a:solidFill>
              </a:defRPr>
            </a:pPr>
            <a:r>
              <a:rPr sz="2400" b="1" i="0">
                <a:solidFill>
                  <a:srgbClr val="D3A453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8393DE-86CB-4013-A558-FDF39698A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5717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APPLY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51A97A-D2CE-4009-94CD-51CD19850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048000"/>
            <a:ext cx="2762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</a:rPr>
              <a:t>One design decision or evidence judgement I can justify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BD8ACF-4506-4BFE-90D1-A8E35FFC3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952625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D3A453"/>
                </a:solidFill>
              </a:defRPr>
            </a:pPr>
            <a:r>
              <a:rPr sz="2400" b="1" i="0">
                <a:solidFill>
                  <a:srgbClr val="D3A453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2407C0-2F37-413A-A427-50E2C861F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5717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A175D7-52DA-456D-8D1A-92B28943F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048000"/>
            <a:ext cx="2762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</a:rPr>
              <a:t>One next action for Research Assignment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CF65CC-483B-4AAB-98BE-6688D5E2F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19650"/>
            <a:ext cx="99060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55C8D1-0414-4032-9367-6A256493B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105400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73A32"/>
                </a:solidFill>
              </a:defRPr>
            </a:pPr>
            <a:r>
              <a:rPr sz="1275" b="1" i="0">
                <a:solidFill>
                  <a:srgbClr val="173A32"/>
                </a:solidFill>
              </a:rPr>
              <a:t>Save a dated response in your module learning record or design folio. Follow teacher directions for any formal submission.</a:t>
            </a:r>
          </a:p>
        </p:txBody>
      </p:sp>
    </p:spTree>
    <p:extLst>
      <p:ext uri="{BB962C8B-B14F-4D97-AF65-F5344CB8AC3E}">
        <p14:creationId xmlns:p14="http://schemas.microsoft.com/office/powerpoint/2010/main" val="10399221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2026-08-31T18:33:40.7940000Z</dcterms:created>
  <dcterms:modified xsi:type="dcterms:W3CDTF">2026-08-31T18:33:40.7940000Z</dcterms:modified>
</coreProperties>
</file>