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4811c03cdc4173" /><Relationship Type="http://schemas.openxmlformats.org/officeDocument/2006/relationships/extended-properties" Target="/docProps/app.xml" Id="Rd82879f770db4197" /><Relationship Type="http://schemas.openxmlformats.org/officeDocument/2006/relationships/officeDocument" Target="/ppt/presentation.xml" Id="R824ce2f3b53e40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dafa8ebe614ebc"/>
  </p:sldMasterIdLst>
  <p:notesMasterIdLst>
    <p:notesMasterId xmlns:r="http://schemas.openxmlformats.org/officeDocument/2006/relationships" r:id="R69051e4800dd4e55"/>
  </p:notesMasterIdLst>
  <p:sldIdLst>
    <p:sldId xmlns:r="http://schemas.openxmlformats.org/officeDocument/2006/relationships" id="256" r:id="Rdab7f26dcbf84376"/>
    <p:sldId xmlns:r="http://schemas.openxmlformats.org/officeDocument/2006/relationships" id="257" r:id="R1c83cd5554494086"/>
    <p:sldId xmlns:r="http://schemas.openxmlformats.org/officeDocument/2006/relationships" id="258" r:id="R869fe33a07eb4e5f"/>
    <p:sldId xmlns:r="http://schemas.openxmlformats.org/officeDocument/2006/relationships" id="259" r:id="Rc467ddb8154948c9"/>
    <p:sldId xmlns:r="http://schemas.openxmlformats.org/officeDocument/2006/relationships" id="260" r:id="Reabcab10bf20420d"/>
    <p:sldId xmlns:r="http://schemas.openxmlformats.org/officeDocument/2006/relationships" id="261" r:id="Re38f484396924bca"/>
    <p:sldId xmlns:r="http://schemas.openxmlformats.org/officeDocument/2006/relationships" id="262" r:id="R9504e5cd9eb64342"/>
    <p:sldId xmlns:r="http://schemas.openxmlformats.org/officeDocument/2006/relationships" id="263" r:id="Rc0dca291543e47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a430a70a134c63" /><Relationship Type="http://schemas.openxmlformats.org/officeDocument/2006/relationships/slideMaster" Target="/ppt/slideMasters/slideMaster1.xml" Id="R3fdafa8ebe614ebc" /><Relationship Type="http://schemas.openxmlformats.org/officeDocument/2006/relationships/notesMaster" Target="/ppt/notesMasters/notesMaster1.xml" Id="R69051e4800dd4e55" /><Relationship Type="http://schemas.openxmlformats.org/officeDocument/2006/relationships/presProps" Target="/ppt/presProps.xml" Id="R9bd3c02731a24048" /><Relationship Type="http://schemas.openxmlformats.org/officeDocument/2006/relationships/tableStyles" Target="/ppt/tableStyles.xml" Id="R49c74cb1482c4fcb" /><Relationship Type="http://schemas.openxmlformats.org/officeDocument/2006/relationships/slide" Target="/ppt/slides/slide1.xml" Id="Rdab7f26dcbf84376" /><Relationship Type="http://schemas.openxmlformats.org/officeDocument/2006/relationships/slide" Target="/ppt/slides/slide2.xml" Id="R1c83cd5554494086" /><Relationship Type="http://schemas.openxmlformats.org/officeDocument/2006/relationships/slide" Target="/ppt/slides/slide3.xml" Id="R869fe33a07eb4e5f" /><Relationship Type="http://schemas.openxmlformats.org/officeDocument/2006/relationships/slide" Target="/ppt/slides/slide4.xml" Id="Rc467ddb8154948c9" /><Relationship Type="http://schemas.openxmlformats.org/officeDocument/2006/relationships/slide" Target="/ppt/slides/slide5.xml" Id="Reabcab10bf20420d" /><Relationship Type="http://schemas.openxmlformats.org/officeDocument/2006/relationships/slide" Target="/ppt/slides/slide6.xml" Id="Re38f484396924bca" /><Relationship Type="http://schemas.openxmlformats.org/officeDocument/2006/relationships/slide" Target="/ppt/slides/slide7.xml" Id="R9504e5cd9eb64342" /><Relationship Type="http://schemas.openxmlformats.org/officeDocument/2006/relationships/slide" Target="/ppt/slides/slide8.xml" Id="Rc0dca291543e47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bb1da224844c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b6b41b53784be9" /><Relationship Type="http://schemas.openxmlformats.org/officeDocument/2006/relationships/notesMaster" Target="/ppt/notesMasters/notesMaster1.xml" Id="Rf8c2ba5c690546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d02661c7c44af3" /><Relationship Type="http://schemas.openxmlformats.org/officeDocument/2006/relationships/notesMaster" Target="/ppt/notesMasters/notesMaster1.xml" Id="Rca215466417f4e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c7b777ae114a64" /><Relationship Type="http://schemas.openxmlformats.org/officeDocument/2006/relationships/notesMaster" Target="/ppt/notesMasters/notesMaster1.xml" Id="R4e4c513925c443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edfd5e26cc4738" /><Relationship Type="http://schemas.openxmlformats.org/officeDocument/2006/relationships/notesMaster" Target="/ppt/notesMasters/notesMaster1.xml" Id="R32591d6b8f1f43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43a3740c274759" /><Relationship Type="http://schemas.openxmlformats.org/officeDocument/2006/relationships/notesMaster" Target="/ppt/notesMasters/notesMaster1.xml" Id="Rd42530c371da49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1dc9965bcd4801" /><Relationship Type="http://schemas.openxmlformats.org/officeDocument/2006/relationships/notesMaster" Target="/ppt/notesMasters/notesMaster1.xml" Id="R9cd3bb20277348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74e550018142cf" /><Relationship Type="http://schemas.openxmlformats.org/officeDocument/2006/relationships/notesMaster" Target="/ppt/notesMasters/notesMaster1.xml" Id="R0cccd170b02742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093814c74a4078" /><Relationship Type="http://schemas.openxmlformats.org/officeDocument/2006/relationships/notesMaster" Target="/ppt/notesMasters/notesMaster1.xml" Id="Rf084197450a34d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Graphical and design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Use freehand, pictorial, orthogonal and digital communication to develop and explain ideas.</a:t>
            </a:r>
          </a:p>
          <a:p xmlns:a="http://schemas.openxmlformats.org/drawingml/2006/main">
            <a:r>
              <a:t>- Name the three learning areas without teaching them yet: Freehand sketching and annotation; Isometric, oblique and orthogonal drawing; Models, presentations and folio communication.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Freehand sketching and annotation: Use quick, proportionate sketches to think, compare and communicate design ideas.</a:t>
            </a:r>
          </a:p>
          <a:p xmlns:a="http://schemas.openxmlformats.org/drawingml/2006/main">
            <a:r>
              <a:t>- 2. Isometric, oblique and orthogonal drawing: Select a drawing system that communicates form or manufacture accurately.</a:t>
            </a:r>
          </a:p>
          <a:p xmlns:a="http://schemas.openxmlformats.org/drawingml/2006/main">
            <a:r>
              <a:t>- 3. Models, presentations and folio communication: Use physical and digital communication to explain development, not merely display outcomes.</a:t>
            </a:r>
          </a:p>
          <a:p xmlns:a="http://schemas.openxmlformats.org/drawingml/2006/main">
            <a:r>
              <a:t>- Retrieval prompt: Which idea is most likely to change a real design decision in Kitchen Companion / Camping launch,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Freehand sketching and annotation.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assets/module-08-map.svg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quick, proportionate sketches to think, compare and communicate design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Construction lines, simple forms and proportion help a designer build clear sketches without over-rendering.</a:t>
            </a:r>
          </a:p>
          <a:p xmlns:a="http://schemas.openxmlformats.org/drawingml/2006/main">
            <a:r>
              <a:t>- Multiple views and detail sketches can expose issues hidden in a single attractive perspective.</a:t>
            </a:r>
          </a:p>
          <a:p xmlns:a="http://schemas.openxmlformats.org/drawingml/2006/main">
            <a:r>
              <a:t>- Annotations should identify materials, dimensions, functions, joins, movement and reasons for decisions where relevant.</a:t>
            </a:r>
          </a:p>
          <a:p xmlns:a="http://schemas.openxmlformats.org/drawingml/2006/main">
            <a:r>
              <a:t>- Sketch quality is judged by how effectively it develops or communicates an idea, not by artistic realism alone.</a:t>
            </a:r>
          </a:p>
          <a:p xmlns:a="http://schemas.openxmlformats.org/drawingml/2006/main">
            <a:r>
              <a:t>- Diagram notice: Trace PROPORTION → VIEWS → ANNOTATION and ask where evidence changes the next decision.</a:t>
            </a:r>
          </a:p>
          <a:p xmlns:a="http://schemas.openxmlformats.org/drawingml/2006/main">
            <a:r>
              <a:t>- Evidence prompt: A student has one polished concept image but cannot explain assembly or movement. What is the best next action?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Early sketches should be polished before more ideas are generated.</a:t>
            </a:r>
          </a:p>
          <a:p xmlns:a="http://schemas.openxmlformats.org/drawingml/2006/main">
            <a:r>
              <a:t>- One perspective view is enough to resolve a product.</a:t>
            </a:r>
          </a:p>
          <a:p xmlns:a="http://schemas.openxmlformats.org/drawingml/2006/main">
            <a:r>
              <a:t>- Annotations should describe only visible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Isometric, oblique and orthogonal drawing.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Authorised sketching folder and teacher answer booklet on annotated sketches.</a:t>
            </a:r>
          </a:p>
          <a:p xmlns:a="http://schemas.openxmlformats.org/drawingml/2006/main">
            <a:r>
              <a:t>- Visual: editable native PowerPoint relationship diagram derived only from the three source-bound section principles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Select a drawing system that communicates form or manufacture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Isometric drawing is useful for communicating overall form and relationships between features.</a:t>
            </a:r>
          </a:p>
          <a:p xmlns:a="http://schemas.openxmlformats.org/drawingml/2006/main">
            <a:r>
              <a:t>- Oblique drawing can make a complex front face easy to construct while showing depth.</a:t>
            </a:r>
          </a:p>
          <a:p xmlns:a="http://schemas.openxmlformats.org/drawingml/2006/main">
            <a:r>
              <a:t>- Orthogonal drawings use multiple aligned views because no single view normally communicates every feature.</a:t>
            </a:r>
          </a:p>
          <a:p xmlns:a="http://schemas.openxmlformats.org/drawingml/2006/main">
            <a:r>
              <a:t>- Dimensions, line types, scale and view selection should provide necessary production information without duplication.</a:t>
            </a:r>
          </a:p>
          <a:p xmlns:a="http://schemas.openxmlformats.org/drawingml/2006/main">
            <a:r>
              <a:t>- Visual notice: Ask students what the scene makes visible about isometric, oblique and orthogonal drawing, then connect observations to the stated principles.</a:t>
            </a:r>
          </a:p>
          <a:p xmlns:a="http://schemas.openxmlformats.org/drawingml/2006/main">
            <a:r>
              <a:t>- Evidence prompt: A manufacturer needs exact hole positions and overall size for a component. Which communication is strongest?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Isometric drawings show perspective by making distant edges smaller.</a:t>
            </a:r>
          </a:p>
          <a:p xmlns:a="http://schemas.openxmlformats.org/drawingml/2006/main">
            <a:r>
              <a:t>- Oblique receding lines are always drawn at their full depth.</a:t>
            </a:r>
          </a:p>
          <a:p xmlns:a="http://schemas.openxmlformats.org/drawingml/2006/main">
            <a:r>
              <a:t>- Orthogonal projection is simply three unrelated drawings of the object.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Models, presentations and folio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Authorised Isometric and Oblique Technical Drawing PDF and Isometric Drawing Guide video in the course Drive.</a:t>
            </a:r>
          </a:p>
          <a:p xmlns:a="http://schemas.openxmlformats.org/drawingml/2006/main">
            <a:r>
              <a:t>- Visual: approved family-generated teaching asset, Year 12 D&amp;T assets/images/m10s02.png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physical and digital communication to explain development, not merely display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Low-fidelity models can test form, size, layout and interaction before detailed resources are committed.</a:t>
            </a:r>
          </a:p>
          <a:p xmlns:a="http://schemas.openxmlformats.org/drawingml/2006/main">
            <a:r>
              <a:t>- Digital models can be revised, measured, shared and linked to manufacturing processes, but they still require verification.</a:t>
            </a:r>
          </a:p>
          <a:p xmlns:a="http://schemas.openxmlformats.org/drawingml/2006/main">
            <a:r>
              <a:t>- A presentation should select evidence for the audience rather than reproducing the entire folio.</a:t>
            </a:r>
          </a:p>
          <a:p xmlns:a="http://schemas.openxmlformats.org/drawingml/2006/main">
            <a:r>
              <a:t>- Folio pages should label evidence and explain what it showed, what changed and why.</a:t>
            </a:r>
          </a:p>
          <a:p xmlns:a="http://schemas.openxmlformats.org/drawingml/2006/main">
            <a:r>
              <a:t>- Visual notice: Ask students what the scene makes visible about models, presentations and folio communication, then connect observations to the stated principles.</a:t>
            </a:r>
          </a:p>
          <a:p xmlns:a="http://schemas.openxmlformats.org/drawingml/2006/main">
            <a:r>
              <a:t>- Evidence prompt: A cardboard model shows that a handle blocks access to a control. What is the best folio record?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model is useful only when it resembles the final product closely.</a:t>
            </a:r>
          </a:p>
          <a:p xmlns:a="http://schemas.openxmlformats.org/drawingml/2006/main">
            <a:r>
              <a:t>- A CAD model proves that a product can be manufactured successfully.</a:t>
            </a:r>
          </a:p>
          <a:p xmlns:a="http://schemas.openxmlformats.org/drawingml/2006/main">
            <a:r>
              <a:t>- A presentation is strongest when it includes every project image.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communication and computer-based technology content; current project folio requirements.</a:t>
            </a:r>
          </a:p>
          <a:p xmlns:a="http://schemas.openxmlformats.org/drawingml/2006/main">
            <a:r>
              <a:t>- Visual: approved family-generated teaching asset, Year 12 D&amp;T assets/images/m12s01.png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student has one polished concept image but cannot explain assembly or movement. What is the best next action?</a:t>
            </a:r>
          </a:p>
          <a:p xmlns:a="http://schemas.openxmlformats.org/drawingml/2006/main">
            <a:r>
              <a:t>- Indicative answer: Add quick alternative views, an exploded or detail sketch and annotations showing components, joins, movement and design reasoning.</a:t>
            </a:r>
          </a:p>
          <a:p xmlns:a="http://schemas.openxmlformats.org/drawingml/2006/main">
            <a:r>
              <a:t>- Check 2: A manufacturer needs exact hole positions and overall size for a component. Which communication is strongest?</a:t>
            </a:r>
          </a:p>
          <a:p xmlns:a="http://schemas.openxmlformats.org/drawingml/2006/main">
            <a:r>
              <a:t>- Indicative answer: A clear orthogonal drawing with appropriate views, line types, scale and non-duplicated dimensions.</a:t>
            </a:r>
          </a:p>
          <a:p xmlns:a="http://schemas.openxmlformats.org/drawingml/2006/main">
            <a:r>
              <a:t>- Check 3: A cardboard model shows that a handle blocks access to a control. What is the best folio record?</a:t>
            </a:r>
          </a:p>
          <a:p xmlns:a="http://schemas.openxmlformats.org/drawingml/2006/main">
            <a:r>
              <a:t>- Indicative answer: Include the model evidence, explain the observed conflict, show the revised idea and identify the next test.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Authorised sketching folder and teacher answer booklet on annotated sketches.</a:t>
            </a:r>
          </a:p>
          <a:p xmlns:a="http://schemas.openxmlformats.org/drawingml/2006/main">
            <a:r>
              <a:t>- Y11 source note: Authorised Isometric and Oblique Technical Drawing PDF and Isometric Drawing Guide video in the course Drive.</a:t>
            </a:r>
          </a:p>
          <a:p xmlns:a="http://schemas.openxmlformats.org/drawingml/2006/main">
            <a:r>
              <a:t>- Y11 source note: NESA communication and computer-based technology content; current project folio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Produce an annotated concept sheet containing a freehand idea, a pictorial view and essential working information.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Authorised sketching folder and teacher answer booklet on annotated sketches.</a:t>
            </a:r>
          </a:p>
          <a:p xmlns:a="http://schemas.openxmlformats.org/drawingml/2006/main">
            <a:r>
              <a:t>- Y11 source note: Authorised Isometric and Oblique Technical Drawing PDF and Isometric Drawing Guide video in the course Drive.</a:t>
            </a:r>
          </a:p>
          <a:p xmlns:a="http://schemas.openxmlformats.org/drawingml/2006/main">
            <a:r>
              <a:t>- Y11 source note: NESA communication and computer-based technology content; current project folio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Kitchen Companion / Camping launch.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Authorised sketching folder and teacher answer booklet on annotated sketches.</a:t>
            </a:r>
          </a:p>
          <a:p xmlns:a="http://schemas.openxmlformats.org/drawingml/2006/main">
            <a:r>
              <a:t>- Y11 source note: Authorised Isometric and Oblique Technical Drawing PDF and Isometric Drawing Guide video in the course Drive.</a:t>
            </a:r>
          </a:p>
          <a:p xmlns:a="http://schemas.openxmlformats.org/drawingml/2006/main">
            <a:r>
              <a:t>- Y11 source note: NESA communication and computer-based technology content; current project folio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ef92fdcef49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f6c78eaab24e60" /><Relationship Type="http://schemas.openxmlformats.org/officeDocument/2006/relationships/slideLayout" Target="/ppt/slideLayouts/slideLayout1.xml" Id="R8660a0a76b1943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60a0a76b1943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90e77da094841" /><Relationship Type="http://schemas.openxmlformats.org/officeDocument/2006/relationships/image" Target="/ppt/media/image.png" Id="R5c66a124f7904eaa" /><Relationship Type="http://schemas.openxmlformats.org/officeDocument/2006/relationships/notesSlide" Target="/ppt/notesSlides/notesSlide1.xml" Id="Re781b1ef97cb49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60f443c574449" /><Relationship Type="http://schemas.openxmlformats.org/officeDocument/2006/relationships/image" Target="/ppt/media/image2.png" Id="Rb93153dead4c4727" /><Relationship Type="http://schemas.openxmlformats.org/officeDocument/2006/relationships/image" Target="/ppt/media/image.svg" Id="R06c9a13dcae84d48" /><Relationship Type="http://schemas.openxmlformats.org/officeDocument/2006/relationships/notesSlide" Target="/ppt/notesSlides/notesSlide2.xml" Id="Rffb0952e54ab40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3ddf6fc5c4e05" /><Relationship Type="http://schemas.openxmlformats.org/officeDocument/2006/relationships/notesSlide" Target="/ppt/notesSlides/notesSlide3.xml" Id="Rde27034635c24b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ffe19733e41f4" /><Relationship Type="http://schemas.openxmlformats.org/officeDocument/2006/relationships/image" Target="/ppt/media/image3.png" Id="Ra24dc1dea6fd43a5" /><Relationship Type="http://schemas.openxmlformats.org/officeDocument/2006/relationships/notesSlide" Target="/ppt/notesSlides/notesSlide4.xml" Id="R2202eecf702e4d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f0e5f74ef4b6f" /><Relationship Type="http://schemas.openxmlformats.org/officeDocument/2006/relationships/image" Target="/ppt/media/image4.png" Id="R4083a413bd0443f3" /><Relationship Type="http://schemas.openxmlformats.org/officeDocument/2006/relationships/notesSlide" Target="/ppt/notesSlides/notesSlide5.xml" Id="R758f552d8b1542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3276e97804333" /><Relationship Type="http://schemas.openxmlformats.org/officeDocument/2006/relationships/notesSlide" Target="/ppt/notesSlides/notesSlide6.xml" Id="R930b79fb72d345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bd2a131654be7" /><Relationship Type="http://schemas.openxmlformats.org/officeDocument/2006/relationships/notesSlide" Target="/ppt/notesSlides/notesSlide7.xml" Id="R1b6162be0ce74f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924ab1cdd4c05" /><Relationship Type="http://schemas.openxmlformats.org/officeDocument/2006/relationships/notesSlide" Target="/ppt/notesSlides/notesSlide8.xml" Id="Rfd6e5276089d46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6a124f7904eaa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C7C0F-5421-4B93-B9D7-5CC4EA13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4B204-0854-4451-B0E8-6EBF1997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08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7786E94-7C2B-45AD-8CF7-C3088D18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Graphical and design communication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6823481D-43EB-4CDA-8334-21849EB5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Use freehand, pictorial, orthogonal and digital communication to develop and explain ideas.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602E0-8558-4073-AA92-F2B0235C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Kitchen Companion / Camping launch  ·  P5.2 · P6.2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9A0E8-E4B2-4BBA-A5C9-3C9191FF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58557-53DD-42A0-A2B1-4EBB1A44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90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0E3C5694-3BE7-47B3-BF9A-71FDD582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A462E-EB0D-4313-B33B-5ECE93CD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8404D-9EAA-4640-8664-8516385B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15–16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E62C0-5413-498C-9908-1A6893F9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07ECE05C-502F-45B3-B257-C2BEA563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153dead4c4727">
            <a:extLst>
              <a:ext uri="{96DAC541-7B7A-43D3-8B79-37D633B846F1}">
                <asvg:svgBlip xmlns:asvg="http://schemas.microsoft.com/office/drawing/2016/SVG/main" r:embed="R06c9a13dcae84d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C3043735-B16D-41DE-8FF3-B3F94C41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1DED9-1FC5-43B9-A28D-D1C5A4C6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94B84-4965-4803-9EE2-46CA7092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Produce an annotated concept sheet containing a freehand idea, a pictorial view and essential working information.</a:t>
            </a:r>
          </a:p>
        </p:txBody>
      </p:sp>
    </p:spTree>
    <p:extLst>
      <p:ext uri="{BB962C8B-B14F-4D97-AF65-F5344CB8AC3E}">
        <p14:creationId xmlns:p14="http://schemas.microsoft.com/office/powerpoint/2010/main" val="832455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-3">
            <a:extLst xmlns:a="http://schemas.openxmlformats.org/drawingml/2006/main">
              <a:ext uri="{FF2B5EF4-FFF2-40B4-BE49-F238E27FC236}">
                <a16:creationId xmlns:a16="http://schemas.microsoft.com/office/drawing/2014/main" id="{E733BEF3-D098-4F0B-B454-3B01C361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96AD9-4FFE-4C7F-8EAD-BBD65541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A865D-EB86-4562-82BC-14819082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15–16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BC5E4-BDA0-424A-96D1-03485E3D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2F57D-1C28-4587-8F0F-DB9809ED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Freehand sketching and annotation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E1B35-5E2F-46ED-B36A-47C14C2D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963"/>
                </a:solidFill>
              </a:defRPr>
            </a:pPr>
            <a:r>
              <a:rPr sz="1350" b="0" i="0">
                <a:solidFill>
                  <a:srgbClr val="5C6963"/>
                </a:solidFill>
              </a:rPr>
              <a:t>Use quick, proportionate sketches to think, compare and communicate design ideas.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A5F53-4501-4555-991F-441B995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E09D2-B561-4787-9A93-FB884ECC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7AAE9-532C-4BEB-8157-20514086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EB8BB-6340-4907-9BA0-0DB0FC00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PROPORTION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8B69A-107F-4B12-996F-3E3E00EA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Construction lines, simple forms and proportion help a designer build clear sketches without over-rendering.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58413-F945-45A2-8A54-6E5AB0C8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AFAF5-5C0F-4400-8297-AAE307C7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7837F-DF36-4D20-B2BB-60D57C35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Multiple views and detail sketches can expose issues hidden in a single attractive perspective.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577E6-0F0E-4C57-B4C1-FB85384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3FE4F-F8C5-4618-BC57-E2F79CBB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ANNOTATION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B6694-6D62-4584-B65E-1F8AE48F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Annotations should identify materials, dimensions, functions, joins, movement and reasons for decisions where relevant.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F37D2-384F-4E1A-BDC8-B11DB8C1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F0DAB-1616-41B1-B64F-228E788F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A32"/>
                </a:solidFill>
              </a:defRPr>
            </a:pPr>
            <a:r>
              <a:rPr sz="1125" b="1" i="0">
                <a:solidFill>
                  <a:srgbClr val="173A32"/>
                </a:solidFill>
              </a:rPr>
              <a:t>EVIDENCE PROMPT  ·  A student has one polished concept image but cannot explain assembly or movement. What is the best next action?</a:t>
            </a:r>
          </a:p>
        </p:txBody>
      </p:sp>
    </p:spTree>
    <p:extLst>
      <p:ext uri="{BB962C8B-B14F-4D97-AF65-F5344CB8AC3E}">
        <p14:creationId xmlns:p14="http://schemas.microsoft.com/office/powerpoint/2010/main" val="2345555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9F7D5244-3F0D-4342-ACC1-942B3BB7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09A86-5B27-4001-A66A-BB18C20F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20C31-4AD4-4FE7-8239-96E2E984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15–16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F5AFD-F0BA-4565-BF8F-4C003C18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9757A153-87A4-40BD-8926-D4DF827A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Isometric, oblique and orthogonal drawing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dc1dea6fd43a5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2CFC2-5E65-48E9-A6B3-06CC9D17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6855D-E5A8-422A-B30D-580AC09D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F4932-8A32-41C0-A056-5296AB34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751FC-D9D1-47B7-8ABF-BCBF3DE2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Isometric drawing is useful for communicating overall form and relationships between features.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A378A-9221-4F57-B9AE-A1244DEB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A0EF5-61D1-4857-9E99-4DCD77F4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Oblique drawing can make a complex front face easy to construct while showing depth.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54325-55FA-4210-A38A-1172CC94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5FE1B-684E-45FD-B92B-4AF80381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Orthogonal drawings use multiple aligned views because no single view normally communicates every feature.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E2DD8-7CD8-4A14-A2EE-11EDEEFA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39CDE-4DA2-41EE-B751-3FED0DE8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manufacturer needs exact hole positions and overall size for a component. Which communication is strongest?</a:t>
            </a:r>
          </a:p>
        </p:txBody>
      </p:sp>
    </p:spTree>
    <p:extLst>
      <p:ext uri="{BB962C8B-B14F-4D97-AF65-F5344CB8AC3E}">
        <p14:creationId xmlns:p14="http://schemas.microsoft.com/office/powerpoint/2010/main" val="630891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C813A606-6C3C-4886-AC18-EB7ED7CA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1122E-978F-443B-BCCE-D1CEDC77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DE4BD-BACF-491A-B424-14F9F35F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15–16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8C5DF-2AE7-44BD-B1E7-A48AEC4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577511B6-C61B-42BE-8F70-2F466726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Models, presentations and folio communication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3a413bd0443f3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C6139-59F5-415A-BB16-C53EF9D6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BE6F2-C8CD-46D5-8F2D-DCB39496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75A1A-A026-4A0B-B77E-CA1349FF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6A860-341B-4AA8-87ED-8535B5F0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Low-fidelity models can test form, size, layout and interaction before detailed resources are committed.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30F7A-2E57-4733-93B8-F783D5C4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E99A8-FA48-4948-A22D-52F11FFA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Digital models can be revised, measured, shared and linked to manufacturing processes, but they still require verification.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2D0BE-FA28-4CD3-A8CE-FFCC041A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1E27B-6532-4F5F-AB45-C221076C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presentation should select evidence for the audience rather than reproducing the entire folio.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544AE-2A38-4684-82CE-9D94287D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67FB5-C8F8-4569-8E9D-6A692C2B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cardboard model shows that a handle blocks access to a control. What is the best folio record?</a:t>
            </a:r>
          </a:p>
        </p:txBody>
      </p:sp>
    </p:spTree>
    <p:extLst>
      <p:ext uri="{BB962C8B-B14F-4D97-AF65-F5344CB8AC3E}">
        <p14:creationId xmlns:p14="http://schemas.microsoft.com/office/powerpoint/2010/main" val="176091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E9588F08-D8C9-4B78-9DC8-9B2CF097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FE699-2554-4AEC-AD35-AC58AE40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D13D8-610F-44BC-9A21-F3D8BC86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15–16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5E7A6-F423-43FA-BF1C-1048D119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E4E25-694F-4CAE-9347-3CBD8C4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BA7F8-5F65-4DCC-8F96-53965CCB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B89AF-B6AF-448B-85B6-EDF5F8FF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E23BA-8907-40CA-BC70-9104D896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student has one polished concept image but cannot explain assembly or movement. What is the best next action?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56727-47E7-4529-9D75-E4667CBB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605DE-1180-4939-AE96-BC075F24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D6AFE-670E-4289-AF1C-DD74498F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manufacturer needs exact hole positions and overall size for a component. Which communication is strongest?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6E18B-4213-4073-BC2F-1CFD9AF9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AAD91-C51C-44A1-941E-27592E90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CD8F5-8220-43A4-BAD1-15F0BA80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cardboard model shows that a handle blocks access to a control. What is the best folio record?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0298A-CBDC-44C2-A21A-EAAA3458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529C5-6401-45D5-8211-70673DA9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639BB-FF99-44FF-9477-725033C9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5D7FF-D638-425A-9FD6-FE478FC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E80E9-FB63-4E01-9B89-4CBF38CB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170FA-55BA-4693-A5BF-329B57C8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F6AC1-203E-4D79-B6EA-08EA6896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1064018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68642860-DDE1-40C7-97F5-7DF8D865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35000-ACFE-414A-8759-B9448C1C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77DDE-57D5-417B-9EBB-7782CC55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15–16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7C59B-FF15-4CED-8FDA-93FA7169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EB096-60AB-4AA7-BA0D-4DDC888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F3B74590-9160-42C1-9D59-AE512C5D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Produce an annotated concept sheet containing a freehand idea, a pictorial view and essential working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C3CB1-190E-4A2A-AC59-92DB1FBD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01A7C-AEB1-44A5-9AC7-9AAFAE49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3A5F1-A00C-4BEF-9CA3-0802A557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ACF17-DD7F-4E1C-B1F8-F8C92966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4F47D-08EF-4AFD-BCAA-F38B78C6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C6824-D0A6-4817-949C-DB91D9B7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3539D-61A0-46D0-934E-1089DF6F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7B021-F517-4847-9EAB-7F66A63E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DECD0-0F8E-4AB6-9E76-4296644D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5A791-9AA5-4E35-ABB4-52044DB3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CDCB1-DAE0-43EB-BF54-0B3EA1DC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2D25E-D33E-41D4-BAC4-592F896E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AA3DF-CC62-4268-86ED-F3CBE273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8F0CE-D21B-44B1-A83D-D0206DCE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3BCF9-9997-4B3A-9A78-1A8275F5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3DE0B-10E9-449D-A841-3281CCD5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8776202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24DAF95C-97B8-4DCB-815E-D1F5F058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E52EF-E361-4BDF-8ECD-938B47E0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F8E52-9CBE-4B1F-9013-E798764B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2 · Weeks 15–16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A10C5-FCD9-4618-97D6-B8C370DE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DA4DD-B92A-414A-AFB3-F49C5167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BD131-35A4-4DEB-9F09-819ECA65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2AF4C-8150-46E8-8643-91E2CCB2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1B0C9-FA2F-4DAB-8359-FD34AD19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37539-5D27-4218-A0E8-DC96EC90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69431-4065-47CE-9CC8-4B3EAC57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1DC7E-F2C9-4310-9228-9068189E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07033-5CD2-41D3-98DC-16FF3239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EBD3B-8219-4CDA-BECD-5E29CF0B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C02FC-E9DB-4D46-8F5F-7AFAF1F0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Kitchen Companion / Camping launch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5FDB1-612F-43DA-904F-971DDACA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071F8-1861-4F6C-B9C0-DCBD1B38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746917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2026-08-31T18:33:47.9640000Z</dcterms:created>
  <dcterms:modified xsi:type="dcterms:W3CDTF">2026-08-31T18:33:47.9640000Z</dcterms:modified>
</coreProperties>
</file>