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85b4c66de34628" /><Relationship Type="http://schemas.openxmlformats.org/officeDocument/2006/relationships/extended-properties" Target="/docProps/app.xml" Id="R5544ef3ebc2f4d42" /><Relationship Type="http://schemas.openxmlformats.org/officeDocument/2006/relationships/officeDocument" Target="/ppt/presentation.xml" Id="R257e474b59d8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2744d854c4946"/>
  </p:sldMasterIdLst>
  <p:notesMasterIdLst>
    <p:notesMasterId xmlns:r="http://schemas.openxmlformats.org/officeDocument/2006/relationships" r:id="R2475b6d5d99d40cb"/>
  </p:notesMasterIdLst>
  <p:sldIdLst>
    <p:sldId xmlns:r="http://schemas.openxmlformats.org/officeDocument/2006/relationships" id="256" r:id="R4050d247716c4d46"/>
    <p:sldId xmlns:r="http://schemas.openxmlformats.org/officeDocument/2006/relationships" id="257" r:id="R0203c46f3431491b"/>
    <p:sldId xmlns:r="http://schemas.openxmlformats.org/officeDocument/2006/relationships" id="258" r:id="Rbc64d7b2727944e8"/>
    <p:sldId xmlns:r="http://schemas.openxmlformats.org/officeDocument/2006/relationships" id="259" r:id="Ra729d4f43bfa48f5"/>
    <p:sldId xmlns:r="http://schemas.openxmlformats.org/officeDocument/2006/relationships" id="260" r:id="Rcc4c3d3b397d4bbb"/>
    <p:sldId xmlns:r="http://schemas.openxmlformats.org/officeDocument/2006/relationships" id="261" r:id="Re51b56ac1a0e4762"/>
    <p:sldId xmlns:r="http://schemas.openxmlformats.org/officeDocument/2006/relationships" id="262" r:id="R0ba9bf9f260e4156"/>
    <p:sldId xmlns:r="http://schemas.openxmlformats.org/officeDocument/2006/relationships" id="263" r:id="R8c0797b7fa3844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e6ba3ac29e4e10" /><Relationship Type="http://schemas.openxmlformats.org/officeDocument/2006/relationships/slideMaster" Target="/ppt/slideMasters/slideMaster1.xml" Id="R3392744d854c4946" /><Relationship Type="http://schemas.openxmlformats.org/officeDocument/2006/relationships/notesMaster" Target="/ppt/notesMasters/notesMaster1.xml" Id="R2475b6d5d99d40cb" /><Relationship Type="http://schemas.openxmlformats.org/officeDocument/2006/relationships/presProps" Target="/ppt/presProps.xml" Id="R8c7354d37e254656" /><Relationship Type="http://schemas.openxmlformats.org/officeDocument/2006/relationships/tableStyles" Target="/ppt/tableStyles.xml" Id="R3f6af56f109b4280" /><Relationship Type="http://schemas.openxmlformats.org/officeDocument/2006/relationships/slide" Target="/ppt/slides/slide1.xml" Id="R4050d247716c4d46" /><Relationship Type="http://schemas.openxmlformats.org/officeDocument/2006/relationships/slide" Target="/ppt/slides/slide2.xml" Id="R0203c46f3431491b" /><Relationship Type="http://schemas.openxmlformats.org/officeDocument/2006/relationships/slide" Target="/ppt/slides/slide3.xml" Id="Rbc64d7b2727944e8" /><Relationship Type="http://schemas.openxmlformats.org/officeDocument/2006/relationships/slide" Target="/ppt/slides/slide4.xml" Id="Ra729d4f43bfa48f5" /><Relationship Type="http://schemas.openxmlformats.org/officeDocument/2006/relationships/slide" Target="/ppt/slides/slide5.xml" Id="Rcc4c3d3b397d4bbb" /><Relationship Type="http://schemas.openxmlformats.org/officeDocument/2006/relationships/slide" Target="/ppt/slides/slide6.xml" Id="Re51b56ac1a0e4762" /><Relationship Type="http://schemas.openxmlformats.org/officeDocument/2006/relationships/slide" Target="/ppt/slides/slide7.xml" Id="R0ba9bf9f260e4156" /><Relationship Type="http://schemas.openxmlformats.org/officeDocument/2006/relationships/slide" Target="/ppt/slides/slide8.xml" Id="R8c0797b7fa3844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e3b8cd3b2f43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3dfbb8ba57447a" /><Relationship Type="http://schemas.openxmlformats.org/officeDocument/2006/relationships/notesMaster" Target="/ppt/notesMasters/notesMaster1.xml" Id="Rb9e3c41595cf48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3e9c2aa034a52" /><Relationship Type="http://schemas.openxmlformats.org/officeDocument/2006/relationships/notesMaster" Target="/ppt/notesMasters/notesMaster1.xml" Id="R8d5b11d19c2049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d1e79d074e42ad" /><Relationship Type="http://schemas.openxmlformats.org/officeDocument/2006/relationships/notesMaster" Target="/ppt/notesMasters/notesMaster1.xml" Id="R1b17ba1864844b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de99d752e9406a" /><Relationship Type="http://schemas.openxmlformats.org/officeDocument/2006/relationships/notesMaster" Target="/ppt/notesMasters/notesMaster1.xml" Id="R44299812d90a4b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5420e3df7f4920" /><Relationship Type="http://schemas.openxmlformats.org/officeDocument/2006/relationships/notesMaster" Target="/ppt/notesMasters/notesMaster1.xml" Id="R731b1cb63afe4b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041826f78c416c" /><Relationship Type="http://schemas.openxmlformats.org/officeDocument/2006/relationships/notesMaster" Target="/ppt/notesMasters/notesMaster1.xml" Id="Rdc42a9ed04224f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3bd32b92894b01" /><Relationship Type="http://schemas.openxmlformats.org/officeDocument/2006/relationships/notesMaster" Target="/ppt/notesMasters/notesMaster1.xml" Id="R6e3447eb01c948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4c557a2ae947a2" /><Relationship Type="http://schemas.openxmlformats.org/officeDocument/2006/relationships/notesMaster" Target="/ppt/notesMasters/notesMaster1.xml" Id="Rf06a3a93415d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Preliminary synthesis and Year 12 bridge.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Integrate Preliminary knowledge, practise evidence-rich responses and carry disciplined project habits into the HSC course.</a:t>
            </a:r>
          </a:p>
          <a:p xmlns:a="http://schemas.openxmlformats.org/drawingml/2006/main">
            <a:r>
              <a:t>- Name the three learning areas without teaching them yet: Connecting the Preliminary course; Responding to command verbs and stimuli; Readiness for the HSC course and Major Design Project.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Connecting the Preliminary course: Explain how research, design factors, communication, management, production, technology and evaluation form one system.</a:t>
            </a:r>
          </a:p>
          <a:p xmlns:a="http://schemas.openxmlformats.org/drawingml/2006/main">
            <a:r>
              <a:t>- 2. Responding to command verbs and stimuli: Construct direct, evidence-linked responses that match the depth required by the command verb.</a:t>
            </a:r>
          </a:p>
          <a:p xmlns:a="http://schemas.openxmlformats.org/drawingml/2006/main">
            <a:r>
              <a:t>- 3. Readiness for the HSC course and Major Design Project: Evaluate which Preliminary habits and evidence practices should be carried into Year 12.</a:t>
            </a:r>
          </a:p>
          <a:p xmlns:a="http://schemas.openxmlformats.org/drawingml/2006/main">
            <a:r>
              <a:t>- Retrieval prompt: Which idea is most likely to change a real design decision in Course synthesis and transition,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Connecting the Preliminary course.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assets/module-15-map.svg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Explain how research, design factors, communication, management, production, technology and evaluation form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change in one design factor can affect cost, function, aesthetics, manufacture, sustainability and market acceptance.</a:t>
            </a:r>
          </a:p>
          <a:p xmlns:a="http://schemas.openxmlformats.org/drawingml/2006/main">
            <a:r>
              <a:t>- Research is useful only when findings influence criteria, concepts, resources, tests or evaluation.</a:t>
            </a:r>
          </a:p>
          <a:p xmlns:a="http://schemas.openxmlformats.org/drawingml/2006/main">
            <a:r>
              <a:t>- Communication methods should preserve design intent across users, collaborators, producers and assessors.</a:t>
            </a:r>
          </a:p>
          <a:p xmlns:a="http://schemas.openxmlformats.org/drawingml/2006/main">
            <a:r>
              <a:t>- Evaluation connects the whole process by turning observations and results into judgements and modifications.</a:t>
            </a:r>
          </a:p>
          <a:p xmlns:a="http://schemas.openxmlformats.org/drawingml/2006/main">
            <a:r>
              <a:t>- Visual notice: Ask students what the scene makes visible about connecting the preliminary course, then connect observations to the stated principles.</a:t>
            </a:r>
          </a:p>
          <a:p xmlns:a="http://schemas.openxmlformats.org/drawingml/2006/main">
            <a:r>
              <a:t>- Evidence prompt: A prototype fails a stability test late in development. Which course connections matter most?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Course topics are best revised as separate definitions.</a:t>
            </a:r>
          </a:p>
          <a:p xmlns:a="http://schemas.openxmlformats.org/drawingml/2006/main">
            <a:r>
              <a:t>- Once criteria are written, later evidence should not change them.</a:t>
            </a:r>
          </a:p>
          <a:p xmlns:a="http://schemas.openxmlformats.org/drawingml/2006/main">
            <a:r>
              <a:t>- A resolved CAD model reduces the need for prototype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Responding to command verbs and stimuli.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content overview; teacher answer booklet synthesis and extended-response guidance.</a:t>
            </a:r>
          </a:p>
          <a:p xmlns:a="http://schemas.openxmlformats.org/drawingml/2006/main">
            <a:r>
              <a:t>- Visual: approved family-generated teaching asset, Year 12 D&amp;T assets/images/m12s03.png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Construct direct, evidence-linked responses that match the depth required by the command verb.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Identify and list questions require relevant points; outline and describe require increasing feature detail.</a:t>
            </a:r>
          </a:p>
          <a:p xmlns:a="http://schemas.openxmlformats.org/drawingml/2006/main">
            <a:r>
              <a:t>- Explain shows how or why by linking cause and effect.</a:t>
            </a:r>
          </a:p>
          <a:p xmlns:a="http://schemas.openxmlformats.org/drawingml/2006/main">
            <a:r>
              <a:t>- Analyse identifies relationships and draws out consequences or implications.</a:t>
            </a:r>
          </a:p>
          <a:p xmlns:a="http://schemas.openxmlformats.org/drawingml/2006/main">
            <a:r>
              <a:t>- Justify, discuss and evaluate require evidence, reasoning and an explicit position or judgement suited to the wording.</a:t>
            </a:r>
          </a:p>
          <a:p xmlns:a="http://schemas.openxmlformats.org/drawingml/2006/main">
            <a:r>
              <a:t>- Visual notice: Ask students what the scene makes visible about responding to command verbs and stimuli, then connect observations to the stated principles.</a:t>
            </a:r>
          </a:p>
          <a:p xmlns:a="http://schemas.openxmlformats.org/drawingml/2006/main">
            <a:r>
              <a:t>- Evidence prompt: The command is “Evaluate the usefulness of a questionnaire for a new public product.” What structure is strongest?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longer response automatically demonstrates analysis.</a:t>
            </a:r>
          </a:p>
          <a:p xmlns:a="http://schemas.openxmlformats.org/drawingml/2006/main">
            <a:r>
              <a:t>- Definitions should be written before answering every question.</a:t>
            </a:r>
          </a:p>
          <a:p xmlns:a="http://schemas.openxmlformats.org/drawingml/2006/main">
            <a:r>
              <a:t>- Examples gain marks whenever they are named.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Readiness for the HSC course and Major Design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command-verb guide, marking reminders and model responses.</a:t>
            </a:r>
          </a:p>
          <a:p xmlns:a="http://schemas.openxmlformats.org/drawingml/2006/main">
            <a:r>
              <a:t>- Visual: approved family-generated teaching asset, Year 12 D&amp;T assets/images/m12s02.png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Evaluate which Preliminary habits and evidence practices should be carried into Year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An MDP opportunity should be investigated before a solution or technology is fixed.</a:t>
            </a:r>
          </a:p>
          <a:p xmlns:a="http://schemas.openxmlformats.org/drawingml/2006/main">
            <a:r>
              <a:t>- A manageable scope allows depth of development, production quality and credible evaluation.</a:t>
            </a:r>
          </a:p>
          <a:p xmlns:a="http://schemas.openxmlformats.org/drawingml/2006/main">
            <a:r>
              <a:t>- Early prototypes and experiments reduce uncertainty in high-risk functions, materials or processes.</a:t>
            </a:r>
          </a:p>
          <a:p xmlns:a="http://schemas.openxmlformats.org/drawingml/2006/main">
            <a:r>
              <a:t>- A folio becomes stronger when evidence is captured as decisions occur rather than reconstructed near submission.</a:t>
            </a:r>
          </a:p>
          <a:p xmlns:a="http://schemas.openxmlformats.org/drawingml/2006/main">
            <a:r>
              <a:t>- Diagram notice: Trace SCOPE → PROTOTYPE → READINESS and ask where evidence changes the next decision.</a:t>
            </a:r>
          </a:p>
          <a:p xmlns:a="http://schemas.openxmlformats.org/drawingml/2006/main">
            <a:r>
              <a:t>- Evidence prompt: A possible MDP is exciting but depends on unfamiliar electronics, custom fabrication and a large external client. What is the best Year 11-style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The best MDP idea is the most technically difficult one the student can imagine.</a:t>
            </a:r>
          </a:p>
          <a:p xmlns:a="http://schemas.openxmlformats.org/drawingml/2006/main">
            <a:r>
              <a:t>- A student should choose the final material before researching the need.</a:t>
            </a:r>
          </a:p>
          <a:p xmlns:a="http://schemas.openxmlformats.org/drawingml/2006/main">
            <a:r>
              <a:t>- A polished folio template is the most important Year 12 preparation.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HSC course description and project requirements; teacher answer booklet marking and project habits.</a:t>
            </a:r>
          </a:p>
          <a:p xmlns:a="http://schemas.openxmlformats.org/drawingml/2006/main">
            <a:r>
              <a:t>- Visual: editable native PowerPoint relationship diagram derived only from the three source-bound section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prototype fails a stability test late in development. Which course connections matter most?</a:t>
            </a:r>
          </a:p>
          <a:p xmlns:a="http://schemas.openxmlformats.org/drawingml/2006/main">
            <a:r>
              <a:t>- Indicative answer: Revisit the criterion and design factors, analyse research and technical communication, update management, modify the design and record the evaluation evidence.</a:t>
            </a:r>
          </a:p>
          <a:p xmlns:a="http://schemas.openxmlformats.org/drawingml/2006/main">
            <a:r>
              <a:t>- Check 2: The command is “Evaluate the usefulness of a questionnaire for a new public product.” What structure is strongest?</a:t>
            </a:r>
          </a:p>
          <a:p xmlns:a="http://schemas.openxmlformats.org/drawingml/2006/main">
            <a:r>
              <a:t>- Indicative answer: Make a judgement, explain relevant strengths and limitations in the public-product context, use evidence or examples and state how another method could address the gaps.</a:t>
            </a:r>
          </a:p>
          <a:p xmlns:a="http://schemas.openxmlformats.org/drawingml/2006/main">
            <a:r>
              <a:t>- Check 3: A possible MDP is exciting but depends on unfamiliar electronics, custom fabrication and a large external client. What is the best Year 11-style response?</a:t>
            </a:r>
          </a:p>
          <a:p xmlns:a="http://schemas.openxmlformats.org/drawingml/2006/main">
            <a:r>
              <a:t>- Indicative answer: Investigate the need and stakeholders, test the highest-risk technologies, reduce scope where necessary and decide only after feasibility evidence is available.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content overview; teacher answer booklet synthesis and extended-response guidance.</a:t>
            </a:r>
          </a:p>
          <a:p xmlns:a="http://schemas.openxmlformats.org/drawingml/2006/main">
            <a:r>
              <a:t>- Y11 source note: Teacher answer booklet command-verb guide, marking reminders and model responses.</a:t>
            </a:r>
          </a:p>
          <a:p xmlns:a="http://schemas.openxmlformats.org/drawingml/2006/main">
            <a:r>
              <a:t>- Y11 source note: NESA HSC course description and project requirements; teacher answer booklet marking and project habits.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Complete a course audit, extended-response practice and MDP-readiness reflection based on evidence from the year.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content overview; teacher answer booklet synthesis and extended-response guidance.</a:t>
            </a:r>
          </a:p>
          <a:p xmlns:a="http://schemas.openxmlformats.org/drawingml/2006/main">
            <a:r>
              <a:t>- Y11 source note: Teacher answer booklet command-verb guide, marking reminders and model responses.</a:t>
            </a:r>
          </a:p>
          <a:p xmlns:a="http://schemas.openxmlformats.org/drawingml/2006/main">
            <a:r>
              <a:t>- Y11 source note: NESA HSC course description and project requirements; teacher answer booklet marking and project habits.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Course synthesis and transition.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content overview; teacher answer booklet synthesis and extended-response guidance.</a:t>
            </a:r>
          </a:p>
          <a:p xmlns:a="http://schemas.openxmlformats.org/drawingml/2006/main">
            <a:r>
              <a:t>- Y11 source note: Teacher answer booklet command-verb guide, marking reminders and model responses.</a:t>
            </a:r>
          </a:p>
          <a:p xmlns:a="http://schemas.openxmlformats.org/drawingml/2006/main">
            <a:r>
              <a:t>- Y11 source note: NESA HSC course description and project requirements; teacher answer booklet marking and project habits.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4bab0654542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833a9a521f43d2" /><Relationship Type="http://schemas.openxmlformats.org/officeDocument/2006/relationships/slideLayout" Target="/ppt/slideLayouts/slideLayout1.xml" Id="R9ca04022f2a640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a04022f2a640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168ca403a4612" /><Relationship Type="http://schemas.openxmlformats.org/officeDocument/2006/relationships/image" Target="/ppt/media/image.png" Id="Rd510b777b7b24aa5" /><Relationship Type="http://schemas.openxmlformats.org/officeDocument/2006/relationships/notesSlide" Target="/ppt/notesSlides/notesSlide1.xml" Id="R1b24d3d7511f48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1b557f4324329" /><Relationship Type="http://schemas.openxmlformats.org/officeDocument/2006/relationships/image" Target="/ppt/media/image2.png" Id="Recce9232a2884a21" /><Relationship Type="http://schemas.openxmlformats.org/officeDocument/2006/relationships/image" Target="/ppt/media/image.svg" Id="Rda6de81b32ce4b3e" /><Relationship Type="http://schemas.openxmlformats.org/officeDocument/2006/relationships/notesSlide" Target="/ppt/notesSlides/notesSlide2.xml" Id="R2bcabd4f0e6c40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7db4c7f4f41cd" /><Relationship Type="http://schemas.openxmlformats.org/officeDocument/2006/relationships/image" Target="/ppt/media/image3.png" Id="R1233c7ffb2264155" /><Relationship Type="http://schemas.openxmlformats.org/officeDocument/2006/relationships/notesSlide" Target="/ppt/notesSlides/notesSlide3.xml" Id="R90330799872542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5c146765b42cd" /><Relationship Type="http://schemas.openxmlformats.org/officeDocument/2006/relationships/image" Target="/ppt/media/image4.png" Id="R768c28af2f774b61" /><Relationship Type="http://schemas.openxmlformats.org/officeDocument/2006/relationships/notesSlide" Target="/ppt/notesSlides/notesSlide4.xml" Id="Rcd6151bd16a443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4376bd0d54035" /><Relationship Type="http://schemas.openxmlformats.org/officeDocument/2006/relationships/notesSlide" Target="/ppt/notesSlides/notesSlide5.xml" Id="R4e65512aa0074d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d410a94754dea" /><Relationship Type="http://schemas.openxmlformats.org/officeDocument/2006/relationships/notesSlide" Target="/ppt/notesSlides/notesSlide6.xml" Id="R565908d3237b45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8b05370d146aa" /><Relationship Type="http://schemas.openxmlformats.org/officeDocument/2006/relationships/notesSlide" Target="/ppt/notesSlides/notesSlide7.xml" Id="Rd319acbc8f934e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0d50739f7402b" /><Relationship Type="http://schemas.openxmlformats.org/officeDocument/2006/relationships/notesSlide" Target="/ppt/notesSlides/notesSlide8.xml" Id="Rca03835f162746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0b777b7b24aa5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90226-7026-49EA-AB8C-DBA918F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36251-62BC-4852-A447-00EAA5E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15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EA55C54F-6309-4291-B864-48A15BF8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Preliminary synthesis and Year 12 bridge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1BECF640-642E-41AD-94C8-2D07607B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Integrate Preliminary knowledge, practise evidence-rich responses and carry disciplined project habits into the HSC course.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71009-7B3B-49D8-AFCD-55A72546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Course synthesis and transition  ·  P1.1 · P4.3 · P5.2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41D59-70FF-4AE3-94A3-092A5C80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B21A6-4E98-4999-8506-4B05C945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4296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DB76E323-46E0-459C-ABB6-2EF04FA1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259BE-CAED-4BB4-96E4-FDED1CA4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0A5A3-1D54-45A5-9793-0B830A4A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DA40B-D331-4296-9824-314C6132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0FB599AF-E0C0-4BF7-AF42-EDD45AB0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e9232a2884a21">
            <a:extLst>
              <a:ext uri="{96DAC541-7B7A-43D3-8B79-37D633B846F1}">
                <asvg:svgBlip xmlns:asvg="http://schemas.microsoft.com/office/drawing/2016/SVG/main" r:embed="Rda6de81b32ce4b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764DB0A3-3207-4192-B98A-C780DA20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4A132-E88E-4FE5-9E5A-C82D0F46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4F7CF-479A-4C84-9074-31BB9C28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Complete a course audit, extended-response practice and MDP-readiness reflection based on evidence from the year.</a:t>
            </a:r>
          </a:p>
        </p:txBody>
      </p:sp>
    </p:spTree>
    <p:extLst>
      <p:ext uri="{BB962C8B-B14F-4D97-AF65-F5344CB8AC3E}">
        <p14:creationId xmlns:p14="http://schemas.microsoft.com/office/powerpoint/2010/main" val="794737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95819ECB-D501-46BC-B690-305DA2C5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6B61C-8E20-488A-B2DB-F56661F8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0EE4E-2DD7-49DF-AB97-5438BE23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65DE3-8B58-4816-B7CA-6BB54468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C8FD6413-DD35-4B83-8503-7EB13A3A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Connecting the Preliminary course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3c7ffb2264155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F3446-E6EF-4765-8550-851D4C55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DCE14-BB7E-4CB6-9D6E-8CC7F9DA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03D8E-C279-4CBE-90D6-81750DB1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3DD31-5768-4FE5-B520-0736D7F0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change in one design factor can affect cost, function, aesthetics, manufacture, sustainability and market acceptance.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3DA82-D4BE-4B8F-8DC6-D08DC85B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852EF-D5EA-4BD2-A821-73CC751B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Research is useful only when findings influence criteria, concepts, resources, tests or evaluation.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8F2D5-DF0F-4462-9A40-2C19A12E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D9C32-53A9-4173-AF76-CBD650FB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Communication methods should preserve design intent across users, collaborators, producers and assessors.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C4593-D306-4988-B8B6-060B8F5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B0B09-E78E-426D-B5ED-8E359E2B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prototype fails a stability test late in development. Which course connections matter most?</a:t>
            </a:r>
          </a:p>
        </p:txBody>
      </p:sp>
    </p:spTree>
    <p:extLst>
      <p:ext uri="{BB962C8B-B14F-4D97-AF65-F5344CB8AC3E}">
        <p14:creationId xmlns:p14="http://schemas.microsoft.com/office/powerpoint/2010/main" val="355331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5FB6B26A-6D2C-474B-8EA4-2CEDA5F5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8BE71-1203-4B2E-9633-30CEFC09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5EC20-E90A-4362-9230-E6F9C738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9ED0F-3869-4593-B0A1-B2FB7E9B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1EE7259E-8B55-4F21-AB54-8C8A6EE6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Responding to command verbs and stimuli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c28af2f774b61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5B7E3-516D-4C8E-854C-B2D93545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477E7-6DFB-4BF1-B220-9CE145C9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748A8-1AD7-4C6B-89A8-A58EEB08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427AF-236F-4EAB-9388-ABA8C5B7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Identify and list questions require relevant points; outline and describe require increasing feature detail.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29191-8E7E-40F9-B809-8B55BF8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4DDB8-43EA-4217-BC6C-16D52471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Explain shows how or why by linking cause and effect.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66B0F-A871-4CC7-8200-F18D1922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39ECE-0A0A-4031-A2EB-6EAFB14F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Analyse identifies relationships and draws out consequences or implications.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5030C-5524-4D98-B1D1-477194CA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3A0F5-7BCB-4C23-822A-6444AC16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The command is “Evaluate the usefulness of a questionnaire for a new public product.” What structure is strongest?</a:t>
            </a:r>
          </a:p>
        </p:txBody>
      </p:sp>
    </p:spTree>
    <p:extLst>
      <p:ext uri="{BB962C8B-B14F-4D97-AF65-F5344CB8AC3E}">
        <p14:creationId xmlns:p14="http://schemas.microsoft.com/office/powerpoint/2010/main" val="608478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5">
            <a:extLst xmlns:a="http://schemas.openxmlformats.org/drawingml/2006/main">
              <a:ext uri="{FF2B5EF4-FFF2-40B4-BE49-F238E27FC236}">
                <a16:creationId xmlns:a16="http://schemas.microsoft.com/office/drawing/2014/main" id="{C705D7B9-76F6-47DD-8E62-295E6725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710FF-A457-4AE0-B5EA-DFB92AAD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276D4-80DF-41DD-A4DE-EB2A7348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0562B-813F-4E21-9C1B-68FEF57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0A747-E274-4E57-B164-8C47B3EF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A32"/>
                </a:solidFill>
              </a:defRPr>
            </a:pPr>
            <a:r>
              <a:rPr sz="2625" b="1" i="0">
                <a:solidFill>
                  <a:srgbClr val="173A32"/>
                </a:solidFill>
              </a:rPr>
              <a:t>Readiness for the HSC course and Major Design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BC0E7-6628-4933-BFFF-2115C82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963"/>
                </a:solidFill>
              </a:defRPr>
            </a:pPr>
            <a:r>
              <a:rPr sz="1350" b="0" i="0">
                <a:solidFill>
                  <a:srgbClr val="5C6963"/>
                </a:solidFill>
              </a:rPr>
              <a:t>Evaluate which Preliminary habits and evidence practices should be carried into Year 12.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618F8-E21A-47A2-926B-CBF6BD72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0136B-D3B2-4331-BFE5-E6BEAF49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54DB4-DE77-4124-ADCA-335B5896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8B010-03D4-4F85-AE35-30DB9F0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4F738-0475-40F5-AF2F-327AAF5F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An MDP opportunity should be investigated before a solution or technology is fixed.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ED2E1-DA89-4B7C-A9DB-C8031B6B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0A081-DE44-4981-BC29-8397A14E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488D6-8FC5-4B71-87A3-EFAA3771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A manageable scope allows depth of development, production quality and credible evaluation.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B9B97-72DE-46CE-9BB8-BDC365EE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013BD-159D-4126-A1D2-997828F7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F8EA6-EFCD-4760-AAE3-48CF0B00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Early prototypes and experiments reduce uncertainty in high-risk functions, materials or processes.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3EBD4-4ADF-4F42-A303-0FF6C748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A9483-64E8-45F4-BA06-050CC4E3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A32"/>
                </a:solidFill>
              </a:defRPr>
            </a:pPr>
            <a:r>
              <a:rPr sz="1125" b="1" i="0">
                <a:solidFill>
                  <a:srgbClr val="173A32"/>
                </a:solidFill>
              </a:rPr>
              <a:t>EVIDENCE PROMPT  ·  A possible MDP is exciting but depends on unfamiliar electronics, custom fabrication and a large external client. What is the best Year 11-style response?</a:t>
            </a:r>
          </a:p>
        </p:txBody>
      </p:sp>
    </p:spTree>
    <p:extLst>
      <p:ext uri="{BB962C8B-B14F-4D97-AF65-F5344CB8AC3E}">
        <p14:creationId xmlns:p14="http://schemas.microsoft.com/office/powerpoint/2010/main" val="135534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C6C41B99-3008-4A1D-8B01-CE198FA4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33FE2-655D-45FC-8256-9187694D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7A233-2ED0-4BA0-B74B-729785AB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4ECFD-D04E-40CA-931F-09A12B60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800BA-CAD8-4255-98DC-81188458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451B4-F59A-46D8-B92E-50E1D0EA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2D114-6C77-4839-A597-F50EA3D6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138B9-40B7-4D96-9C19-54F8E923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prototype fails a stability test late in development. Which course connections matter most?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3832A-C520-4285-88F2-0BCEC1D4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A4366-4160-4EF9-B93B-739C6C44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C208B-8AF7-471C-B205-1D40F736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The command is “Evaluate the usefulness of a questionnaire for a new public product.” What structure is strongest?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CB467-A671-471A-A1B0-96A9987D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902BD-8547-4B28-A772-41EFCD1E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98F88-61FD-4B06-BCDA-BB1FF0C4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possible MDP is exciting but depends on unfamiliar electronics, custom fabrication and a large external client. What is the best Year 11-style response?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C8E36-DF6B-49B8-95BD-B1B30E11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3E137-7681-4894-A57A-DD3BF4B9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C3A3D-21D2-438D-9FA5-4B5724F7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478D8-74C9-4B3A-ABDC-C9E86067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996A5-E8FC-476C-BEC5-67D7D60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8C89E-20AC-4843-B7B2-DEAA650F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0295F-EA0A-4718-896D-0D874FDA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16575410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E13FEBC6-3996-475C-A0F1-16D28DDE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F6325-8338-466E-ACB7-3C51B900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296D5-7405-4DE6-9F6A-DF91382F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74CC5-96EC-4EEC-BED5-4385B896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F9F4E-65DC-4923-98C0-C6A6ACCB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D15BD756-9A0B-45F6-AE2C-E83220C6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Complete a course audit, extended-response practice and MDP-readiness reflection based on evidence from the year.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62448-4F71-4BD7-9287-5D7A7E34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79BF3-072D-4949-8005-8797DC35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02C62-F1B7-4208-BAC7-5915793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081B5-AD3B-4BCD-BD20-2A3C2D39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90436-2219-4068-BA6B-00A18ECA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15FB4-4466-4938-B088-9739C21F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D6834-FF32-43C6-A079-85812AE4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C660D-AA41-462D-A0FE-6911EC13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774B7-E570-4663-8923-3E43A706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219BE-2D9F-4915-8202-CFDF7BBE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5009E-1B0D-4A5F-892A-D7EFF5D5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8BC97-5184-4514-99A1-FD21152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D83D6-8B97-4612-B1CD-F149A869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70FF2-05F6-45C3-9E50-B4387411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C936E-CC45-412D-B55B-EDDE1486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F6D37-8893-4598-9D69-ACC3A9F9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3890972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E2FC8BC4-7248-416E-98C3-8543E34C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52E0C-0069-4C60-B34D-BAF446C3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76835-040D-4F39-8111-F10D190D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3 · Weeks 9–10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97ABD-E4E7-4AB7-9CC2-BACD9629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0C880-F467-4BD4-9905-168E6AE5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A3F40-539D-4815-8901-2BC699E8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B5B43-2B1A-4685-8C7F-D0E63A43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7DFD8-ED7A-4375-BDAF-80FE5A65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9A94C-8ACE-4ABD-8CA9-3283095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7A862-36CB-4039-8731-B1BB4A51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40A93-8D3F-43A1-9375-3913A52E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E7EFD-ED1F-4FBB-8991-A76656B8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ADB3B-FD4E-4F79-8236-64934512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D787D-A961-4127-B91C-289D7819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Course synthesis and transition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59C58-9177-4C01-B7A3-7903AA78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FC682-B7C3-4EA7-AA79-3EBE880B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738725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2026-08-31T18:34:01.5440000Z</dcterms:created>
  <dcterms:modified xsi:type="dcterms:W3CDTF">2026-08-31T18:34:01.5440000Z</dcterms:modified>
</coreProperties>
</file>