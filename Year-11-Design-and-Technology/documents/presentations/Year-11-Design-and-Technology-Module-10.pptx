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ed129cc62242eb" /><Relationship Type="http://schemas.openxmlformats.org/officeDocument/2006/relationships/extended-properties" Target="/docProps/app.xml" Id="Rabb9d670ee884e2e" /><Relationship Type="http://schemas.openxmlformats.org/officeDocument/2006/relationships/officeDocument" Target="/ppt/presentation.xml" Id="Rd7c60cb5bd80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b2887fe6a84986"/>
  </p:sldMasterIdLst>
  <p:notesMasterIdLst>
    <p:notesMasterId xmlns:r="http://schemas.openxmlformats.org/officeDocument/2006/relationships" r:id="R117166221c4f4fb4"/>
  </p:notesMasterIdLst>
  <p:sldIdLst>
    <p:sldId xmlns:r="http://schemas.openxmlformats.org/officeDocument/2006/relationships" id="256" r:id="R36e052c17a5b4571"/>
    <p:sldId xmlns:r="http://schemas.openxmlformats.org/officeDocument/2006/relationships" id="257" r:id="R27ab639688224ba3"/>
    <p:sldId xmlns:r="http://schemas.openxmlformats.org/officeDocument/2006/relationships" id="258" r:id="R7f5765a88e2142cc"/>
    <p:sldId xmlns:r="http://schemas.openxmlformats.org/officeDocument/2006/relationships" id="259" r:id="R303672e1afc74a1c"/>
    <p:sldId xmlns:r="http://schemas.openxmlformats.org/officeDocument/2006/relationships" id="260" r:id="R76cf0cb6a61847c9"/>
    <p:sldId xmlns:r="http://schemas.openxmlformats.org/officeDocument/2006/relationships" id="261" r:id="R9c90db2a80e244d1"/>
    <p:sldId xmlns:r="http://schemas.openxmlformats.org/officeDocument/2006/relationships" id="262" r:id="Rc231225991594da9"/>
    <p:sldId xmlns:r="http://schemas.openxmlformats.org/officeDocument/2006/relationships" id="263" r:id="R0bad3f396cee47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2168aba6d40bd" /><Relationship Type="http://schemas.openxmlformats.org/officeDocument/2006/relationships/slideMaster" Target="/ppt/slideMasters/slideMaster1.xml" Id="R49b2887fe6a84986" /><Relationship Type="http://schemas.openxmlformats.org/officeDocument/2006/relationships/notesMaster" Target="/ppt/notesMasters/notesMaster1.xml" Id="R117166221c4f4fb4" /><Relationship Type="http://schemas.openxmlformats.org/officeDocument/2006/relationships/presProps" Target="/ppt/presProps.xml" Id="R6a9b76790193416f" /><Relationship Type="http://schemas.openxmlformats.org/officeDocument/2006/relationships/tableStyles" Target="/ppt/tableStyles.xml" Id="Rfba81f2e2a764dbd" /><Relationship Type="http://schemas.openxmlformats.org/officeDocument/2006/relationships/slide" Target="/ppt/slides/slide1.xml" Id="R36e052c17a5b4571" /><Relationship Type="http://schemas.openxmlformats.org/officeDocument/2006/relationships/slide" Target="/ppt/slides/slide2.xml" Id="R27ab639688224ba3" /><Relationship Type="http://schemas.openxmlformats.org/officeDocument/2006/relationships/slide" Target="/ppt/slides/slide3.xml" Id="R7f5765a88e2142cc" /><Relationship Type="http://schemas.openxmlformats.org/officeDocument/2006/relationships/slide" Target="/ppt/slides/slide4.xml" Id="R303672e1afc74a1c" /><Relationship Type="http://schemas.openxmlformats.org/officeDocument/2006/relationships/slide" Target="/ppt/slides/slide5.xml" Id="R76cf0cb6a61847c9" /><Relationship Type="http://schemas.openxmlformats.org/officeDocument/2006/relationships/slide" Target="/ppt/slides/slide6.xml" Id="R9c90db2a80e244d1" /><Relationship Type="http://schemas.openxmlformats.org/officeDocument/2006/relationships/slide" Target="/ppt/slides/slide7.xml" Id="Rc231225991594da9" /><Relationship Type="http://schemas.openxmlformats.org/officeDocument/2006/relationships/slide" Target="/ppt/slides/slide8.xml" Id="R0bad3f396cee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ce2c6fe03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518963ff84602" /><Relationship Type="http://schemas.openxmlformats.org/officeDocument/2006/relationships/notesMaster" Target="/ppt/notesMasters/notesMaster1.xml" Id="Rdd835e83fa33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ffbe62fbb44ed1" /><Relationship Type="http://schemas.openxmlformats.org/officeDocument/2006/relationships/notesMaster" Target="/ppt/notesMasters/notesMaster1.xml" Id="Rd5a9382b7e1942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e710b9e98842dc" /><Relationship Type="http://schemas.openxmlformats.org/officeDocument/2006/relationships/notesMaster" Target="/ppt/notesMasters/notesMaster1.xml" Id="Ra32e32208df945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40856e8f4b4412" /><Relationship Type="http://schemas.openxmlformats.org/officeDocument/2006/relationships/notesMaster" Target="/ppt/notesMasters/notesMaster1.xml" Id="R607cf9d3a1d84a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744d737d84c28" /><Relationship Type="http://schemas.openxmlformats.org/officeDocument/2006/relationships/notesMaster" Target="/ppt/notesMasters/notesMaster1.xml" Id="R0418543ab61d4f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edbc6cd4fa475e" /><Relationship Type="http://schemas.openxmlformats.org/officeDocument/2006/relationships/notesMaster" Target="/ppt/notesMasters/notesMaster1.xml" Id="Ra05c06db208747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d45ebaf054111" /><Relationship Type="http://schemas.openxmlformats.org/officeDocument/2006/relationships/notesMaster" Target="/ppt/notesMasters/notesMaster1.xml" Id="R9af10e0862654f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6e5722744d48e5" /><Relationship Type="http://schemas.openxmlformats.org/officeDocument/2006/relationships/notesMaster" Target="/ppt/notesMasters/notesMaster1.xml" Id="Ra37ac8d38b4d46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Testing, materials and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Select resources through evidence, plan fair tests and use evaluation to refine prototypes before final production.</a:t>
            </a:r>
          </a:p>
          <a:p xmlns:a="http://schemas.openxmlformats.org/drawingml/2006/main">
            <a:r>
              <a:t>- Name the three learning areas without teaching them yet: Material selection and evidence; Manufacturing processes and scale; Prototype testing and continual evaluation.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Material selection and evidence: Justify materials using properties, processing, context, cost, safety and whole-of-life evidence.</a:t>
            </a:r>
          </a:p>
          <a:p xmlns:a="http://schemas.openxmlformats.org/drawingml/2006/main">
            <a:r>
              <a:t>- 2. Manufacturing processes and scale: Select manufacturing processes that suit material, geometry, volume, quality and available resources.</a:t>
            </a:r>
          </a:p>
          <a:p xmlns:a="http://schemas.openxmlformats.org/drawingml/2006/main">
            <a:r>
              <a:t>- 3. Prototype testing and continual evaluation: Design fair tests, interpret feedback and make evidence-based modifications.</a:t>
            </a:r>
          </a:p>
          <a:p xmlns:a="http://schemas.openxmlformats.org/drawingml/2006/main">
            <a:r>
              <a:t>- Retrieval prompt: Which idea is most likely to change a real design decision in Kitchen Companion completion / Camping launch,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Material selection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assets/module-10-map.svg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Justify materials using properties, processing, context, cost, safety and whole-of-life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Required properties should be derived from the user, load, environment, expected life, appearance and maintenance needs.</a:t>
            </a:r>
          </a:p>
          <a:p xmlns:a="http://schemas.openxmlformats.org/drawingml/2006/main">
            <a:r>
              <a:t>- Supplier information is useful but should be checked against the actual form, process and use condition.</a:t>
            </a:r>
          </a:p>
          <a:p xmlns:a="http://schemas.openxmlformats.org/drawingml/2006/main">
            <a:r>
              <a:t>- Testing can verify strength, stiffness, wear, fit, finish, weather response or workability where these are critical.</a:t>
            </a:r>
          </a:p>
          <a:p xmlns:a="http://schemas.openxmlformats.org/drawingml/2006/main">
            <a:r>
              <a:t>- A justified selection explains why the material is more appropriate than feasible alternatives, including limitations.</a:t>
            </a:r>
          </a:p>
          <a:p xmlns:a="http://schemas.openxmlformats.org/drawingml/2006/main">
            <a:r>
              <a:t>- Visual notice: Ask students what the scene makes visible about material selection and evidence, then connect observations to the stated principles.</a:t>
            </a:r>
          </a:p>
          <a:p xmlns:a="http://schemas.openxmlformats.org/drawingml/2006/main">
            <a:r>
              <a:t>- Evidence prompt: A camping product needs low mass, weather resistance and safe school manufacture. What is the best approach?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familiar material is appropriate because the student already knows how to use it.</a:t>
            </a:r>
          </a:p>
          <a:p xmlns:a="http://schemas.openxmlformats.org/drawingml/2006/main">
            <a:r>
              <a:t>- Material data applies equally to every thickness, direction and manufacturing process.</a:t>
            </a:r>
          </a:p>
          <a:p xmlns:a="http://schemas.openxmlformats.org/drawingml/2006/main">
            <a:r>
              <a:t>- Testing is unnecessary when the supplier describes the material as durable.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Manufacturing processes and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material criteria, testing and research; current project contexts.</a:t>
            </a:r>
          </a:p>
          <a:p xmlns:a="http://schemas.openxmlformats.org/drawingml/2006/main">
            <a:r>
              <a:t>- Visual: approved family-generated teaching asset, Year 12 D&amp;T assets/images/m09s01.png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Select manufacturing processes that suit material, geometry, volume, quality and available resources.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The required geometry and material behaviour narrow the feasible manufacturing processes.</a:t>
            </a:r>
          </a:p>
          <a:p xmlns:a="http://schemas.openxmlformats.org/drawingml/2006/main">
            <a:r>
              <a:t>- One-off production supports customisation but usually has higher unit labour and less specialised tooling.</a:t>
            </a:r>
          </a:p>
          <a:p xmlns:a="http://schemas.openxmlformats.org/drawingml/2006/main">
            <a:r>
              <a:t>- Batch and mass production use standardisation, jigs, tooling or automation to improve consistency and output.</a:t>
            </a:r>
          </a:p>
          <a:p xmlns:a="http://schemas.openxmlformats.org/drawingml/2006/main">
            <a:r>
              <a:t>- Process selection should include quality checkpoints and a realistic plan for errors, maintenance and waste.</a:t>
            </a:r>
          </a:p>
          <a:p xmlns:a="http://schemas.openxmlformats.org/drawingml/2006/main">
            <a:r>
              <a:t>- Visual notice: Ask students what the scene makes visible about manufacturing processes and scale, then connect observations to the stated principles.</a:t>
            </a:r>
          </a:p>
          <a:p xmlns:a="http://schemas.openxmlformats.org/drawingml/2006/main">
            <a:r>
              <a:t>- Evidence prompt: A design requires twelve identical holes in a small batch of plywood components. Which approach is most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fastest process is normally the most efficient.</a:t>
            </a:r>
          </a:p>
          <a:p xmlns:a="http://schemas.openxmlformats.org/drawingml/2006/main">
            <a:r>
              <a:t>- Mass-production methods are appropriate whenever a component repeats.</a:t>
            </a:r>
          </a:p>
          <a:p xmlns:a="http://schemas.openxmlformats.org/drawingml/2006/main">
            <a:r>
              <a:t>- Manual production cannot achieve consistent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Prototype testing and continual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manufacturing content; teacher answer booklet on one-off/mass production and process change.</a:t>
            </a:r>
          </a:p>
          <a:p xmlns:a="http://schemas.openxmlformats.org/drawingml/2006/main">
            <a:r>
              <a:t>- Visual: approved family-generated teaching asset, Year 12 D&amp;T assets/images/m02s02.png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Design fair tests, interpret feedback and make evidence-based modifications.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Each test should identify the criterion, method, conditions, measurement or observation and decision rule.</a:t>
            </a:r>
          </a:p>
          <a:p xmlns:a="http://schemas.openxmlformats.org/drawingml/2006/main">
            <a:r>
              <a:t>- A fair comparison changes one important variable at a time or records other differences clearly.</a:t>
            </a:r>
          </a:p>
          <a:p xmlns:a="http://schemas.openxmlformats.org/drawingml/2006/main">
            <a:r>
              <a:t>- User feedback should involve representative users and focused tasks rather than general liking.</a:t>
            </a:r>
          </a:p>
          <a:p xmlns:a="http://schemas.openxmlformats.org/drawingml/2006/main">
            <a:r>
              <a:t>- Evaluation explains what the evidence means, what changed and what uncertainty remains.</a:t>
            </a:r>
          </a:p>
          <a:p xmlns:a="http://schemas.openxmlformats.org/drawingml/2006/main">
            <a:r>
              <a:t>- Diagram notice: Trace TEST → COMPARE → CHANGE and ask where evidence changes the next decision.</a:t>
            </a:r>
          </a:p>
          <a:p xmlns:a="http://schemas.openxmlformats.org/drawingml/2006/main">
            <a:r>
              <a:t>- Evidence prompt: Two handle prototypes are made from different materials and tested by different users doing different tasks. What is the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prototype is successful when it resembles the final product.</a:t>
            </a:r>
          </a:p>
          <a:p xmlns:a="http://schemas.openxmlformats.org/drawingml/2006/main">
            <a:r>
              <a:t>- More participants automatically make a test valid.</a:t>
            </a:r>
          </a:p>
          <a:p xmlns:a="http://schemas.openxmlformats.org/drawingml/2006/main">
            <a:r>
              <a:t>- General comments such as “looks good” provide sufficient user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prototype uses, fair testing, feedback and continual evaluation.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camping product needs low mass, weather resistance and safe school manufacture. What is the best approach?</a:t>
            </a:r>
          </a:p>
          <a:p xmlns:a="http://schemas.openxmlformats.org/drawingml/2006/main">
            <a:r>
              <a:t>- Indicative answer: Compare feasible materials against all three requirements, verify critical properties and consider joining, finish, cost, availability and end-of-life.</a:t>
            </a:r>
          </a:p>
          <a:p xmlns:a="http://schemas.openxmlformats.org/drawingml/2006/main">
            <a:r>
              <a:t>- Check 2: A design requires twelve identical holes in a small batch of plywood components. Which approach is most defensible?</a:t>
            </a:r>
          </a:p>
          <a:p xmlns:a="http://schemas.openxmlformats.org/drawingml/2006/main">
            <a:r>
              <a:t>- Indicative answer: Compare a drilling jig, CNC process and manual layout against accuracy, setup time, safety, equipment and batch size.</a:t>
            </a:r>
          </a:p>
          <a:p xmlns:a="http://schemas.openxmlformats.org/drawingml/2006/main">
            <a:r>
              <a:t>- Check 3: Two handle prototypes are made from different materials and tested by different users doing different tasks. What is the problem?</a:t>
            </a:r>
          </a:p>
          <a:p xmlns:a="http://schemas.openxmlformats.org/drawingml/2006/main">
            <a:r>
              <a:t>- Indicative answer: Too many variables changed, so the result cannot show whether shape or material caused the difference; redesign the comparison.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material criteria, testing and research; current project contexts.</a:t>
            </a:r>
          </a:p>
          <a:p xmlns:a="http://schemas.openxmlformats.org/drawingml/2006/main">
            <a:r>
              <a:t>- Y11 source note: NESA manufacturing content; teacher answer booklet on one-off/mass production and process change.</a:t>
            </a:r>
          </a:p>
          <a:p xmlns:a="http://schemas.openxmlformats.org/drawingml/2006/main">
            <a:r>
              <a:t>- Y11 source note: Teacher answer booklet on prototype uses, fair testing, feedback and continual evaluation.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Complete one controlled material or feature test and document the decision it changes.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material criteria, testing and research; current project contexts.</a:t>
            </a:r>
          </a:p>
          <a:p xmlns:a="http://schemas.openxmlformats.org/drawingml/2006/main">
            <a:r>
              <a:t>- Y11 source note: NESA manufacturing content; teacher answer booklet on one-off/mass production and process change.</a:t>
            </a:r>
          </a:p>
          <a:p xmlns:a="http://schemas.openxmlformats.org/drawingml/2006/main">
            <a:r>
              <a:t>- Y11 source note: Teacher answer booklet on prototype uses, fair testing, feedback and continual evaluation.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Kitchen Companion completion / Camping launch.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material criteria, testing and research; current project contexts.</a:t>
            </a:r>
          </a:p>
          <a:p xmlns:a="http://schemas.openxmlformats.org/drawingml/2006/main">
            <a:r>
              <a:t>- Y11 source note: NESA manufacturing content; teacher answer booklet on one-off/mass production and process change.</a:t>
            </a:r>
          </a:p>
          <a:p xmlns:a="http://schemas.openxmlformats.org/drawingml/2006/main">
            <a:r>
              <a:t>- Y11 source note: Teacher answer booklet on prototype uses, fair testing, feedback and continual evaluation.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8308d48b9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3ac04812ef451e" /><Relationship Type="http://schemas.openxmlformats.org/officeDocument/2006/relationships/slideLayout" Target="/ppt/slideLayouts/slideLayout1.xml" Id="R249f00bd2d2946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f00bd2d2946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a7816961412c" /><Relationship Type="http://schemas.openxmlformats.org/officeDocument/2006/relationships/image" Target="/ppt/media/image.png" Id="R3fdd6516b586437c" /><Relationship Type="http://schemas.openxmlformats.org/officeDocument/2006/relationships/notesSlide" Target="/ppt/notesSlides/notesSlide1.xml" Id="R59fcbfe5867f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864d804e94303" /><Relationship Type="http://schemas.openxmlformats.org/officeDocument/2006/relationships/image" Target="/ppt/media/image2.png" Id="R98189e8bd35a4648" /><Relationship Type="http://schemas.openxmlformats.org/officeDocument/2006/relationships/image" Target="/ppt/media/image.svg" Id="R44e4daee37cc4887" /><Relationship Type="http://schemas.openxmlformats.org/officeDocument/2006/relationships/notesSlide" Target="/ppt/notesSlides/notesSlide2.xml" Id="R388e78bf404b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e671cbb5d406a" /><Relationship Type="http://schemas.openxmlformats.org/officeDocument/2006/relationships/image" Target="/ppt/media/image3.png" Id="R425457faea02415c" /><Relationship Type="http://schemas.openxmlformats.org/officeDocument/2006/relationships/notesSlide" Target="/ppt/notesSlides/notesSlide3.xml" Id="R1b87b3b102b0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e1a7a4fb64d08" /><Relationship Type="http://schemas.openxmlformats.org/officeDocument/2006/relationships/image" Target="/ppt/media/image4.png" Id="Rb06b8424bac44fde" /><Relationship Type="http://schemas.openxmlformats.org/officeDocument/2006/relationships/notesSlide" Target="/ppt/notesSlides/notesSlide4.xml" Id="Rc34ba4906e2f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b7d4851504331" /><Relationship Type="http://schemas.openxmlformats.org/officeDocument/2006/relationships/notesSlide" Target="/ppt/notesSlides/notesSlide5.xml" Id="R941eb5842e2a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fb9e43bd44c3c" /><Relationship Type="http://schemas.openxmlformats.org/officeDocument/2006/relationships/notesSlide" Target="/ppt/notesSlides/notesSlide6.xml" Id="Rb59575cbf04744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6964f1270461f" /><Relationship Type="http://schemas.openxmlformats.org/officeDocument/2006/relationships/notesSlide" Target="/ppt/notesSlides/notesSlide7.xml" Id="R0c950a37843e43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145f36c2648d3" /><Relationship Type="http://schemas.openxmlformats.org/officeDocument/2006/relationships/notesSlide" Target="/ppt/notesSlides/notesSlide8.xml" Id="Rc1233250647f4c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d6516b586437c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A5436-3615-4B08-9F11-E40657E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BAEFB-F2A8-4C67-845A-40058524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94BD6DF1-C049-4702-92F5-CBD8A9ED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Testing, materials and evaluation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E4C2E424-A931-41C9-B5DA-3BD5B7E4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Select resources through evidence, plan fair tests and use evaluation to refine prototypes before final production.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2FE00-0A2A-4C03-9C22-89B8EB36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Kitchen Companion completion / Camping launch  ·  P4.2 · P4.3 · P6.1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A14A1-8A2A-432E-86FE-6E906E04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B4239-29CF-46AD-BBEE-5CF4299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8316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E3B811CA-549D-46DB-8E26-88D012A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DE958-D81C-4FEC-96AD-799D998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F886D-309B-443C-B8AC-D94457F8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1CEE5-6CE8-4499-A1F1-88F2802B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E92CF6A8-3214-4781-9267-6741A31E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89e8bd35a4648">
            <a:extLst>
              <a:ext uri="{96DAC541-7B7A-43D3-8B79-37D633B846F1}">
                <asvg:svgBlip xmlns:asvg="http://schemas.microsoft.com/office/drawing/2016/SVG/main" r:embed="R44e4daee37cc48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0F6EF4E8-4333-4605-98EE-B2A446FF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A536C-7B03-47B5-A039-4C8D79E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DDED9-54BA-4B9C-9B11-1981E32D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Complete one controlled material or feature test and document the decision it changes.</a:t>
            </a:r>
          </a:p>
        </p:txBody>
      </p:sp>
    </p:spTree>
    <p:extLst>
      <p:ext uri="{BB962C8B-B14F-4D97-AF65-F5344CB8AC3E}">
        <p14:creationId xmlns:p14="http://schemas.microsoft.com/office/powerpoint/2010/main" val="1589887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9E563EC3-70E1-4DAA-86D3-0A6EC51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A75C7-CEA0-4BEE-A75E-A4ADCA2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58C22-3A9E-4C25-9BE5-82A66C2B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A1AF-2F23-401C-97FC-80636E56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B89C41D0-2B1C-402F-A3E8-44C285E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Material selection and evidence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457faea02415c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3DC05-780E-49ED-9BAD-24AF2541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36D5F-5C72-4564-B7AA-C2289AF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495B-F80D-4B0E-97CC-48E58D3E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982BE-821D-4FA2-8E9E-44DABEAE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Required properties should be derived from the user, load, environment, expected life, appearance and maintenance needs.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1D5FA-A02C-4399-ADDC-3920B22F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1CF3A-F07D-417F-A394-381B90C3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Supplier information is useful but should be checked against the actual form, process and use condition.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3EA4-F604-49A8-9557-370BC61C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9EC71-603A-437C-8C73-84E0E040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Testing can verify strength, stiffness, wear, fit, finish, weather response or workability where these are critical.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A4DFB-110E-42CA-8AD2-EAB69AA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24DAE-383A-47E4-9872-A0145AE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camping product needs low mass, weather resistance and safe school manufacture. What is the best approach?</a:t>
            </a:r>
          </a:p>
        </p:txBody>
      </p:sp>
    </p:spTree>
    <p:extLst>
      <p:ext uri="{BB962C8B-B14F-4D97-AF65-F5344CB8AC3E}">
        <p14:creationId xmlns:p14="http://schemas.microsoft.com/office/powerpoint/2010/main" val="18438390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EC95C895-E8AA-40AB-9071-B60100A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4DAE4-8808-4264-A7B1-F5C1A3D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E70F6-4BD2-4DA3-8574-D5886940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213D3-5B01-42C5-8B93-9ECB466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38A11992-902D-468B-95B7-3B95F60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Manufacturing processes and scale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b8424bac44fde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32D0C-CADA-458F-B7FA-E0140451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FE69D-9D16-4D12-B83C-2B21AECC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D07CA-6C51-4FE4-9A61-B570BB4E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17359-8978-43C7-851D-FFF52DE4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required geometry and material behaviour narrow the feasible manufacturing processes.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347C3-719C-4603-8D04-89D3E823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25FE4-0501-4666-A272-9D15419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One-off production supports customisation but usually has higher unit labour and less specialised tooling.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5F707-C589-49D9-B661-0CD98B31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E9BCA-E5A5-48CB-9CB2-64312A23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Batch and mass production use standardisation, jigs, tooling or automation to improve consistency and output.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9B3CE-937F-4FB9-A8EC-5F0E6C8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ED0CC-9CCE-4BF4-B890-E3EE6CC1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design requires twelve identical holes in a small batch of plywood components. Which approach is most defensible?</a:t>
            </a:r>
          </a:p>
        </p:txBody>
      </p:sp>
    </p:spTree>
    <p:extLst>
      <p:ext uri="{BB962C8B-B14F-4D97-AF65-F5344CB8AC3E}">
        <p14:creationId xmlns:p14="http://schemas.microsoft.com/office/powerpoint/2010/main" val="1206152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5">
            <a:extLst xmlns:a="http://schemas.openxmlformats.org/drawingml/2006/main">
              <a:ext uri="{FF2B5EF4-FFF2-40B4-BE49-F238E27FC236}">
                <a16:creationId xmlns:a16="http://schemas.microsoft.com/office/drawing/2014/main" id="{65692374-3B06-4405-86FE-62E6D83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EF788-4B3F-4769-BBED-53184631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DF36D-9567-4993-874D-66D0242C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B861E-1B1F-4873-96BD-B60245DB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2EEEA-E747-422C-91AF-C847014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Prototype testing and continual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9B31D-5A97-48A7-A690-873E8E19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Design fair tests, interpret feedback and make evidence-based modifications.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703DB-8FB0-4766-8F6E-5C98E96A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5AC0-CE95-437D-8E15-15C6D2ED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B9E3D-411C-491F-AF19-338AED97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4B857-EB2B-442E-962E-8B8C8259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B2A8C-9A95-44E0-B785-E2C8F3D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Each test should identify the criterion, method, conditions, measurement or observation and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F39FF-06B5-444C-8B34-DDE30088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C9127-A945-4A73-82AB-E2A862C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0111F-E292-415F-BB11-2F66341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A fair comparison changes one important variable at a time or records other differences clearly.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E5B3C-F79A-4451-A269-9FAD7E78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E74F6-15B0-4F1E-81CC-397219A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E43C0-D0FE-4428-AD32-95FF92C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User feedback should involve representative users and focused tasks rather than general liking.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3A72A-AB93-4298-9E55-7FD1516E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B27B4-4117-4017-8439-379AB1ED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Two handle prototypes are made from different materials and tested by different users doing different tasks. What is the problem?</a:t>
            </a:r>
          </a:p>
        </p:txBody>
      </p:sp>
    </p:spTree>
    <p:extLst>
      <p:ext uri="{BB962C8B-B14F-4D97-AF65-F5344CB8AC3E}">
        <p14:creationId xmlns:p14="http://schemas.microsoft.com/office/powerpoint/2010/main" val="1473917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C48024A5-B93A-44B8-9226-31EF3FA3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4BA9A-EF13-4D34-9796-54A01191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77911-68FF-410E-AE37-22A44BC4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D2C1B-E88C-4EE6-9214-E6578A31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35BFB-9306-4A30-9786-C7AA28B1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B2AD7-8C08-4474-962E-2ACF1096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5D028-E25F-496C-B850-74969E3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A8DC9-B2D8-4E99-81DC-B4C368D4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camping product needs low mass, weather resistance and safe school manufacture. What is the best approach?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B85F1-5DC7-4305-8456-947AA84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C94D0-8CA6-49EF-B420-DF4E6113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08550-C021-4365-854C-FF7BA564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design requires twelve identical holes in a small batch of plywood components. Which approach is most defensible?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D752E-33EC-47DB-AF3A-188CD1C0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773E1-E8EC-444F-8518-F12CFAB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33755-207A-4181-9D63-23F07F74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Two handle prototypes are made from different materials and tested by different users doing different tasks. What is the problem?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FA4E1-3E85-4773-9423-640325D0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0B1D2-E0E2-464B-8F68-1FF24164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51459-97E0-49A8-8122-E4B17D44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8B712-CE5D-4A6A-A52C-1FE7D372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CDE51-5F6C-473B-809D-DC01E18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F6F90-570F-44B4-BFA9-A415965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7B08A-5D10-47D2-A3FC-040D4A70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595863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43483FBD-0078-47B7-B1D5-87CAD046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343FC-57BB-4A45-8481-8E6FD56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A55E4-3CB3-44D7-BD5E-ED67620B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B45F6-05F0-435B-8456-0D41132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9C983-B2C0-4A9C-9BD4-545F8EE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321E905E-A0F8-492B-BF92-6C2AC397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Complete one controlled material or feature test and document the decision it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A1849-8636-4D6F-B1DD-47D8FCCB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64059-3E5B-477F-AE5D-9197532E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F4CEB-7AA2-4A5B-90C4-34BF045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61D0F-F2A0-4861-82B8-6786E430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7CD91-AB05-4ACF-92A2-E4FDA5E7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0C09-4922-4ED8-80E7-A9B8E37C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F0EB1-B810-49FD-A464-5F7D7FBB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15919-48B8-48F5-B09C-CF7EDED7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47B11-6EAF-49AB-B433-8BB0590B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D22CA-7D28-4B35-A694-1E3C5B9C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09B06-86F0-443B-99A2-FCC6DE83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998D4-CB6A-4C5A-BA79-196F25D7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73A79-176F-4D04-8AFB-E013B494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ABB51-4D41-4652-B000-7989EBA3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10408-2309-44D5-9C27-247E36C3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14EF86-F9A3-4FD9-BF73-972ADDA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339473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63216ADF-496B-4FD2-87AE-C4E7B049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9D07F-D7BE-45F6-AE36-2C55325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3702D-2175-4CBC-9C57-3D36612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2 · Weeks 19–20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E2CD5-D16D-44A4-BCA8-80101FFA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3ACF-A407-42AD-B234-98E4248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E2BD6-22AC-4AE7-8EC4-5916992E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5E2C7-E4C5-4C82-9ED0-97116E6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58E33-45F8-4D61-AEFB-9CE60B7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82355-E2B5-4853-95A8-757DC97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1D6F1-CEC9-425C-ACB7-8B4CCEF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0C8CD-506A-44C7-9FB4-6ACF2143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B1EFB-F3D0-4D62-94FD-55E3929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C7865-055F-44B7-AE6E-FAA45212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BAA71-5D6D-4219-B767-93F6E0C9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Kitchen Companion completion / Camping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DC668-56CB-427F-8D61-FD9C5316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1C0F9-F353-4BC5-A521-FCAA65A9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518932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2026-08-31T18:33:51.7340000Z</dcterms:created>
  <dcterms:modified xsi:type="dcterms:W3CDTF">2026-08-31T18:33:51.7340000Z</dcterms:modified>
</coreProperties>
</file>