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5ea970e144702" /><Relationship Type="http://schemas.openxmlformats.org/officeDocument/2006/relationships/extended-properties" Target="/docProps/app.xml" Id="Rc98c1482b1eb4e26" /><Relationship Type="http://schemas.openxmlformats.org/officeDocument/2006/relationships/officeDocument" Target="/ppt/presentation.xml" Id="Rd8f9b75fe58540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5196bfe344e97"/>
  </p:sldMasterIdLst>
  <p:notesMasterIdLst>
    <p:notesMasterId xmlns:r="http://schemas.openxmlformats.org/officeDocument/2006/relationships" r:id="R1dd04be6e74b46ac"/>
  </p:notesMasterIdLst>
  <p:sldIdLst>
    <p:sldId xmlns:r="http://schemas.openxmlformats.org/officeDocument/2006/relationships" id="256" r:id="Ra2ff62fef98c4537"/>
    <p:sldId xmlns:r="http://schemas.openxmlformats.org/officeDocument/2006/relationships" id="257" r:id="Rb552bb8792ee441e"/>
    <p:sldId xmlns:r="http://schemas.openxmlformats.org/officeDocument/2006/relationships" id="258" r:id="Ra4176de82afb4cf1"/>
    <p:sldId xmlns:r="http://schemas.openxmlformats.org/officeDocument/2006/relationships" id="259" r:id="Rcb57aa7cc270481e"/>
    <p:sldId xmlns:r="http://schemas.openxmlformats.org/officeDocument/2006/relationships" id="260" r:id="Rf7601388b3064e80"/>
    <p:sldId xmlns:r="http://schemas.openxmlformats.org/officeDocument/2006/relationships" id="261" r:id="R2122487390c34239"/>
    <p:sldId xmlns:r="http://schemas.openxmlformats.org/officeDocument/2006/relationships" id="262" r:id="R64894805ee0d4f9d"/>
    <p:sldId xmlns:r="http://schemas.openxmlformats.org/officeDocument/2006/relationships" id="263" r:id="Rf3ec094b553a44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667b7422ae7416b" /><Relationship Type="http://schemas.openxmlformats.org/officeDocument/2006/relationships/slideMaster" Target="/ppt/slideMasters/slideMaster1.xml" Id="R0875196bfe344e97" /><Relationship Type="http://schemas.openxmlformats.org/officeDocument/2006/relationships/notesMaster" Target="/ppt/notesMasters/notesMaster1.xml" Id="R1dd04be6e74b46ac" /><Relationship Type="http://schemas.openxmlformats.org/officeDocument/2006/relationships/presProps" Target="/ppt/presProps.xml" Id="R68877cf8535e410c" /><Relationship Type="http://schemas.openxmlformats.org/officeDocument/2006/relationships/tableStyles" Target="/ppt/tableStyles.xml" Id="Rc5c4d2c510554f7c" /><Relationship Type="http://schemas.openxmlformats.org/officeDocument/2006/relationships/slide" Target="/ppt/slides/slide1.xml" Id="Ra2ff62fef98c4537" /><Relationship Type="http://schemas.openxmlformats.org/officeDocument/2006/relationships/slide" Target="/ppt/slides/slide2.xml" Id="Rb552bb8792ee441e" /><Relationship Type="http://schemas.openxmlformats.org/officeDocument/2006/relationships/slide" Target="/ppt/slides/slide3.xml" Id="Ra4176de82afb4cf1" /><Relationship Type="http://schemas.openxmlformats.org/officeDocument/2006/relationships/slide" Target="/ppt/slides/slide4.xml" Id="Rcb57aa7cc270481e" /><Relationship Type="http://schemas.openxmlformats.org/officeDocument/2006/relationships/slide" Target="/ppt/slides/slide5.xml" Id="Rf7601388b3064e80" /><Relationship Type="http://schemas.openxmlformats.org/officeDocument/2006/relationships/slide" Target="/ppt/slides/slide6.xml" Id="R2122487390c34239" /><Relationship Type="http://schemas.openxmlformats.org/officeDocument/2006/relationships/slide" Target="/ppt/slides/slide7.xml" Id="R64894805ee0d4f9d" /><Relationship Type="http://schemas.openxmlformats.org/officeDocument/2006/relationships/slide" Target="/ppt/slides/slide8.xml" Id="Rf3ec094b553a44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f09a75721a4d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0df3da1b514553" /><Relationship Type="http://schemas.openxmlformats.org/officeDocument/2006/relationships/notesMaster" Target="/ppt/notesMasters/notesMaster1.xml" Id="R890801115a4348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8d9e41c76411e" /><Relationship Type="http://schemas.openxmlformats.org/officeDocument/2006/relationships/notesMaster" Target="/ppt/notesMasters/notesMaster1.xml" Id="R2a2b88b29f6248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2a04eff7ba4b4c" /><Relationship Type="http://schemas.openxmlformats.org/officeDocument/2006/relationships/notesMaster" Target="/ppt/notesMasters/notesMaster1.xml" Id="R16e0b9dddcb0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150faf204f4447" /><Relationship Type="http://schemas.openxmlformats.org/officeDocument/2006/relationships/notesMaster" Target="/ppt/notesMasters/notesMaster1.xml" Id="R4e1788fbff3c45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7a7d20ed054a37" /><Relationship Type="http://schemas.openxmlformats.org/officeDocument/2006/relationships/notesMaster" Target="/ppt/notesMasters/notesMaster1.xml" Id="Rec3bddb690df48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60b84022ff43b5" /><Relationship Type="http://schemas.openxmlformats.org/officeDocument/2006/relationships/notesMaster" Target="/ppt/notesMasters/notesMaster1.xml" Id="Rd0a22266d01f4f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760004048742c9" /><Relationship Type="http://schemas.openxmlformats.org/officeDocument/2006/relationships/notesMaster" Target="/ppt/notesMasters/notesMaster1.xml" Id="Ra17e871607de44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e8fc9e47254193" /><Relationship Type="http://schemas.openxmlformats.org/officeDocument/2006/relationships/notesMaster" Target="/ppt/notesMasters/notesMaster1.xml" Id="Raba8266925e048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Establish the purpose of Factors affecting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Analyse how needs, function, aesthetics, ergonomics, finance, quality, safety and environmental consequences interact.</a:t>
            </a:r>
          </a:p>
          <a:p xmlns:a="http://schemas.openxmlformats.org/drawingml/2006/main">
            <a:r>
              <a:t>- Name the three learning areas without teaching them yet: Needs, function and appropriateness; Aesthetics, ergonomics and quality; Finance, WHS, environment and product life.</a:t>
            </a:r>
          </a:p>
          <a:p xmlns:a="http://schemas.openxmlformats.org/drawingml/2006/main">
            <a:r>
              <a:t>- Explain that this deck supports classroom learning and formative evidence. Current teacher directions and formal notices remain authoritative.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the module purpose to the three-part learning 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approved family-generated teaching asset, Year 12 D&amp;T assets/images/course-hero.png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Preview the three named ideas as a connected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- 1. Needs, function and appropriateness: Analyse whether a design solution is appropriate for its intended user, purpose and context.</a:t>
            </a:r>
          </a:p>
          <a:p xmlns:a="http://schemas.openxmlformats.org/drawingml/2006/main">
            <a:r>
              <a:t>- 2. Aesthetics, ergonomics and quality: Explain how appearance, human use and dependable performance influence design success.</a:t>
            </a:r>
          </a:p>
          <a:p xmlns:a="http://schemas.openxmlformats.org/drawingml/2006/main">
            <a:r>
              <a:t>- 3. Finance, WHS, environment and product life: Discuss how financial, safety and whole-of-life consequences shape design decisions.</a:t>
            </a:r>
          </a:p>
          <a:p xmlns:a="http://schemas.openxmlformats.org/drawingml/2006/main">
            <a:r>
              <a:t>- Retrieval prompt: Which idea is most likely to change a real design decision in Research Assignment,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Begin with Needs, function and appropriateness.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NESA Design and Technology Stage 6 Syllabus (2013), official course authority</a:t>
            </a:r>
          </a:p>
          <a:p xmlns:a="http://schemas.openxmlformats.org/drawingml/2006/main">
            <a:r>
              <a:t>- Current Year 11 site source register and source-bound module data</a:t>
            </a:r>
          </a:p>
          <a:p xmlns:a="http://schemas.openxmlformats.org/drawingml/2006/main">
            <a:r>
              <a:t>- Visual: current Year 11 local teaching asset assets/module-02-map.svg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Analyse whether a design solution is appropriate for its intended user, purpose and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need should be supported by research rather than assumed from the designer’s personal preference.</a:t>
            </a:r>
          </a:p>
          <a:p xmlns:a="http://schemas.openxmlformats.org/drawingml/2006/main">
            <a:r>
              <a:t>- Functional requirements should be observable or testable wherever possible.</a:t>
            </a:r>
          </a:p>
          <a:p xmlns:a="http://schemas.openxmlformats.org/drawingml/2006/main">
            <a:r>
              <a:t>- An appropriate solution fits the intended context, not merely the designer’s technical ability.</a:t>
            </a:r>
          </a:p>
          <a:p xmlns:a="http://schemas.openxmlformats.org/drawingml/2006/main">
            <a:r>
              <a:t>- A product can perform its basic function and still be inappropriate because of cost, access, safety or environmental consequences.</a:t>
            </a:r>
          </a:p>
          <a:p xmlns:a="http://schemas.openxmlformats.org/drawingml/2006/main">
            <a:r>
              <a:t>- Visual notice: Ask students what the scene makes visible about needs, function and appropriateness, then connect observations to the stated principles.</a:t>
            </a:r>
          </a:p>
          <a:p xmlns:a="http://schemas.openxmlformats.org/drawingml/2006/main">
            <a:r>
              <a:t>- Evidence prompt: A compact camping table supports a load but is too heavy for its target users to carry. What is the strongest conclusion?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Any problem noticed by a designer automatically represents a genuine need.</a:t>
            </a:r>
          </a:p>
          <a:p xmlns:a="http://schemas.openxmlformats.org/drawingml/2006/main">
            <a:r>
              <a:t>- Function can be proved by describing what the product is meant to do.</a:t>
            </a:r>
          </a:p>
          <a:p xmlns:a="http://schemas.openxmlformats.org/drawingml/2006/main">
            <a:r>
              <a:t>- The most technically complex solution is usually the most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Aesthetics, ergonomics and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on user needs, function and success.</a:t>
            </a:r>
          </a:p>
          <a:p xmlns:a="http://schemas.openxmlformats.org/drawingml/2006/main">
            <a:r>
              <a:t>- Visual: approved family-generated teaching asset, Year 12 D&amp;T assets/images/m07s02.png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Explain how appearance, human use and dependable performance influence design success.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Aesthetic choices should support the target market, context and intended identity of the solution.</a:t>
            </a:r>
          </a:p>
          <a:p xmlns:a="http://schemas.openxmlformats.org/drawingml/2006/main">
            <a:r>
              <a:t>- Ergonomic decisions should be based on user characteristics, tasks, reach, force, visibility, comfort and safety.</a:t>
            </a:r>
          </a:p>
          <a:p xmlns:a="http://schemas.openxmlformats.org/drawingml/2006/main">
            <a:r>
              <a:t>- Quality includes reliable performance and consistency, not simply an expensive or polished appearance.</a:t>
            </a:r>
          </a:p>
          <a:p xmlns:a="http://schemas.openxmlformats.org/drawingml/2006/main">
            <a:r>
              <a:t>- Improving one factor may affect another; for example, a larger handle may improve grip but alter size, appearance and cost.</a:t>
            </a:r>
          </a:p>
          <a:p xmlns:a="http://schemas.openxmlformats.org/drawingml/2006/main">
            <a:r>
              <a:t>- Visual notice: Ask students what the scene makes visible about aesthetics, ergonomics and quality, then connect observations to the stated principles.</a:t>
            </a:r>
          </a:p>
          <a:p xmlns:a="http://schemas.openxmlformats.org/drawingml/2006/main">
            <a:r>
              <a:t>- Evidence prompt: A jar opener is visually appealing but requires high grip strength. What is the most defensible modification?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Aesthetics is simply whether the designer personally likes the appearance.</a:t>
            </a:r>
          </a:p>
          <a:p xmlns:a="http://schemas.openxmlformats.org/drawingml/2006/main">
            <a:r>
              <a:t>- Ergonomics is concerned only with chair comfort.</a:t>
            </a:r>
          </a:p>
          <a:p xmlns:a="http://schemas.openxmlformats.org/drawingml/2006/main">
            <a:r>
              <a:t>- A flawless surface finish proves that a product is high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to Finance, WHS, environment and product life.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examples on ergonomics, aesthetics and durability/quality.</a:t>
            </a:r>
          </a:p>
          <a:p xmlns:a="http://schemas.openxmlformats.org/drawingml/2006/main">
            <a:r>
              <a:t>- Visual: approved family-generated teaching asset, Year 12 D&amp;T assets/images/m11s02.png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Discuss how financial, safety and whole-of-life consequences shape design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 finance decision should consider total project and production costs rather than material price alone.</a:t>
            </a:r>
          </a:p>
          <a:p xmlns:a="http://schemas.openxmlformats.org/drawingml/2006/main">
            <a:r>
              <a:t>- WHS begins with identifying hazards and applying suitable controls; personal protective equipment is only one part of the system.</a:t>
            </a:r>
          </a:p>
          <a:p xmlns:a="http://schemas.openxmlformats.org/drawingml/2006/main">
            <a:r>
              <a:t>- Life-cycle analysis examines impacts from raw materials through manufacture, distribution, use, maintenance and end-of-life.</a:t>
            </a:r>
          </a:p>
          <a:p xmlns:a="http://schemas.openxmlformats.org/drawingml/2006/main">
            <a:r>
              <a:t>- Durability, repairability, recyclability and obsolescence can create trade-offs that require evidence-based judgement.</a:t>
            </a:r>
          </a:p>
          <a:p xmlns:a="http://schemas.openxmlformats.org/drawingml/2006/main">
            <a:r>
              <a:t>- Visual notice: Ask students what the scene makes visible about finance, whs, environment and product life, then connect observations to the stated principles.</a:t>
            </a:r>
          </a:p>
          <a:p xmlns:a="http://schemas.openxmlformats.org/drawingml/2006/main">
            <a:r>
              <a:t>- Evidence prompt: A durable housing is difficult to recycle but can be repaired and used for many years. What should the designer 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Likely misconceptions</a:t>
            </a:r>
          </a:p>
          <a:p xmlns:a="http://schemas.openxmlformats.org/drawingml/2006/main">
            <a:r>
              <a:t>- The cheapest material always produces the most financially responsible design.</a:t>
            </a:r>
          </a:p>
          <a:p xmlns:a="http://schemas.openxmlformats.org/drawingml/2006/main">
            <a:r>
              <a:t>- Wearing PPE removes the need to control hazards at their source.</a:t>
            </a:r>
          </a:p>
          <a:p xmlns:a="http://schemas.openxmlformats.org/drawingml/2006/main">
            <a:r>
              <a:t>- Environmental evaluation begins after the product is discarded.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Move from teaching into retrieval across all three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on WHS, life cycle, durability, cost and obsolescence.</a:t>
            </a:r>
          </a:p>
          <a:p xmlns:a="http://schemas.openxmlformats.org/drawingml/2006/main">
            <a:r>
              <a:t>- Visual: approved family-generated teaching asset, Year 12 D&amp;T assets/images/m11s03.png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Use retrieval to expose and repair reasoning gaps across all three sections.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Give quiet recall time before inviting answers.</a:t>
            </a:r>
          </a:p>
          <a:p xmlns:a="http://schemas.openxmlformats.org/drawingml/2006/main">
            <a:r>
              <a:t>- Check 1: A compact camping table supports a load but is too heavy for its target users to carry. What is the strongest conclusion?</a:t>
            </a:r>
          </a:p>
          <a:p xmlns:a="http://schemas.openxmlformats.org/drawingml/2006/main">
            <a:r>
              <a:t>- Indicative answer: It meets one functional requirement but is not yet appropriate because portability is part of the intended context.</a:t>
            </a:r>
          </a:p>
          <a:p xmlns:a="http://schemas.openxmlformats.org/drawingml/2006/main">
            <a:r>
              <a:t>- Check 2: A jar opener is visually appealing but requires high grip strength. What is the most defensible modification?</a:t>
            </a:r>
          </a:p>
          <a:p xmlns:a="http://schemas.openxmlformats.org/drawingml/2006/main">
            <a:r>
              <a:t>- Indicative answer: Test alternative handle shapes and operating forces with intended users, then refine the form while retaining a suitable visual identity.</a:t>
            </a:r>
          </a:p>
          <a:p xmlns:a="http://schemas.openxmlformats.org/drawingml/2006/main">
            <a:r>
              <a:t>- Check 3: A durable housing is difficult to recycle but can be repaired and used for many years. What should the designer do?</a:t>
            </a:r>
          </a:p>
          <a:p xmlns:a="http://schemas.openxmlformats.org/drawingml/2006/main">
            <a:r>
              <a:t>- Indicative answer: Compare whole-of-life impacts, expected service life, repair pathways and end-of-life options before making a justified selection.</a:t>
            </a:r>
          </a:p>
          <a:p xmlns:a="http://schemas.openxmlformats.org/drawingml/2006/main">
            <a:r>
              <a:t>- Ask students to explain why the answer is defensible before they return to notes.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retrieved ideas to construct one sustained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on user needs, function and success.</a:t>
            </a:r>
          </a:p>
          <a:p xmlns:a="http://schemas.openxmlformats.org/drawingml/2006/main">
            <a:r>
              <a:t>- Y11 source note: NESA factors affecting design; teacher answer booklet examples on ergonomics, aesthetics and durability/quality.</a:t>
            </a:r>
          </a:p>
          <a:p xmlns:a="http://schemas.openxmlformats.org/drawingml/2006/main">
            <a:r>
              <a:t>- Y11 source note: NESA factors affecting design; teacher answer booklet on WHS, life cycle, durability, cost and obsolescence.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Guide one higher-order formative response using all three module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Prompt: Complete a product success-and-failure audit that identifies evidence, trade-offs and consequences.</a:t>
            </a:r>
          </a:p>
          <a:p xmlns:a="http://schemas.openxmlformats.org/drawingml/2006/main">
            <a:r>
              <a:t>- Read: identify the user, context and design question.</a:t>
            </a:r>
          </a:p>
          <a:p xmlns:a="http://schemas.openxmlformats.org/drawingml/2006/main">
            <a:r>
              <a:t>- Select: choose source-bound evidence rather than a preference.</a:t>
            </a:r>
          </a:p>
          <a:p xmlns:a="http://schemas.openxmlformats.org/drawingml/2006/main">
            <a:r>
              <a:t>- Explain: connect the evidence to a design consequence or decision.</a:t>
            </a:r>
          </a:p>
          <a:p xmlns:a="http://schemas.openxmlformats.org/drawingml/2006/main">
            <a:r>
              <a:t>- Check: test the response against the relevant need, criterion or source.</a:t>
            </a:r>
          </a:p>
          <a:p xmlns:a="http://schemas.openxmlformats.org/drawingml/2006/main">
            <a:r>
              <a:t>- Remind students that this is formative learning evidence, not a formal submission instruction.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by asking each student to retain the response and name the next useful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on user needs, function and success.</a:t>
            </a:r>
          </a:p>
          <a:p xmlns:a="http://schemas.openxmlformats.org/drawingml/2006/main">
            <a:r>
              <a:t>- Y11 source note: NESA factors affecting design; teacher answer booklet examples on ergonomics, aesthetics and durability/quality.</a:t>
            </a:r>
          </a:p>
          <a:p xmlns:a="http://schemas.openxmlformats.org/drawingml/2006/main">
            <a:r>
              <a:t>- Y11 source note: NESA factors affecting design; teacher answer booklet on WHS, life cycle, durability, cost and obsolescence.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focus: Make the exit ticket produce a concrete learning record and a manageable next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Talking points</a:t>
            </a:r>
          </a:p>
          <a:p xmlns:a="http://schemas.openxmlformats.org/drawingml/2006/main">
            <a:r>
              <a:t>- Ask students to complete all three prompts individually before discussion.</a:t>
            </a:r>
          </a:p>
          <a:p xmlns:a="http://schemas.openxmlformats.org/drawingml/2006/main">
            <a:r>
              <a:t>- Keep the record labelled formative learning evidence; do not imply a cloud submission or formal assessment requirement.</a:t>
            </a:r>
          </a:p>
          <a:p xmlns:a="http://schemas.openxmlformats.org/drawingml/2006/main">
            <a:r>
              <a:t>- Next action: connect the module evidence to Research Assignment.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End with each student's own next action, not a generic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Y11 source note: NESA factors affecting design; teacher answer booklet on user needs, function and success.</a:t>
            </a:r>
          </a:p>
          <a:p xmlns:a="http://schemas.openxmlformats.org/drawingml/2006/main">
            <a:r>
              <a:t>- Y11 source note: NESA factors affecting design; teacher answer booklet examples on ergonomics, aesthetics and durability/quality.</a:t>
            </a:r>
          </a:p>
          <a:p xmlns:a="http://schemas.openxmlformats.org/drawingml/2006/main">
            <a:r>
              <a:t>- Y11 source note: NESA factors affecting design; teacher answer booklet on WHS, life cycle, durability, cost and obsolescence.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e4effb608d4ff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6f0583ac8045e5" /><Relationship Type="http://schemas.openxmlformats.org/officeDocument/2006/relationships/slideLayout" Target="/ppt/slideLayouts/slideLayout1.xml" Id="Rc9df7a4353f946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df7a4353f946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78ce9d079d4609" /><Relationship Type="http://schemas.openxmlformats.org/officeDocument/2006/relationships/image" Target="/ppt/media/image.png" Id="Rcae80b656e764c86" /><Relationship Type="http://schemas.openxmlformats.org/officeDocument/2006/relationships/notesSlide" Target="/ppt/notesSlides/notesSlide1.xml" Id="R6986f8b679714d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5dc4e16a54875" /><Relationship Type="http://schemas.openxmlformats.org/officeDocument/2006/relationships/image" Target="/ppt/media/image2.png" Id="R3de7dbf23f9b4355" /><Relationship Type="http://schemas.openxmlformats.org/officeDocument/2006/relationships/image" Target="/ppt/media/image.svg" Id="R12021edeeb614b79" /><Relationship Type="http://schemas.openxmlformats.org/officeDocument/2006/relationships/notesSlide" Target="/ppt/notesSlides/notesSlide2.xml" Id="Rc94791e932c94f3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ee9631d8d4f4b" /><Relationship Type="http://schemas.openxmlformats.org/officeDocument/2006/relationships/image" Target="/ppt/media/image3.png" Id="Rbc17613e2fbb4c2b" /><Relationship Type="http://schemas.openxmlformats.org/officeDocument/2006/relationships/notesSlide" Target="/ppt/notesSlides/notesSlide3.xml" Id="R83084071a4ab4d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4752125e4416a" /><Relationship Type="http://schemas.openxmlformats.org/officeDocument/2006/relationships/image" Target="/ppt/media/image4.png" Id="Re817f76ae01b4c85" /><Relationship Type="http://schemas.openxmlformats.org/officeDocument/2006/relationships/notesSlide" Target="/ppt/notesSlides/notesSlide4.xml" Id="R98f6d410f27f49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62f3e5b484139" /><Relationship Type="http://schemas.openxmlformats.org/officeDocument/2006/relationships/image" Target="/ppt/media/image5.png" Id="R87259f91bdfe4fef" /><Relationship Type="http://schemas.openxmlformats.org/officeDocument/2006/relationships/notesSlide" Target="/ppt/notesSlides/notesSlide5.xml" Id="R2ab22cd7fb4143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ab21c90704d1e" /><Relationship Type="http://schemas.openxmlformats.org/officeDocument/2006/relationships/notesSlide" Target="/ppt/notesSlides/notesSlide6.xml" Id="Rd660c8ccc80743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9b0d5ed0b4c30" /><Relationship Type="http://schemas.openxmlformats.org/officeDocument/2006/relationships/notesSlide" Target="/ppt/notesSlides/notesSlide7.xml" Id="R7fac2e2c1b184a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087546c114318" /><Relationship Type="http://schemas.openxmlformats.org/officeDocument/2006/relationships/notesSlide" Target="/ppt/notesSlides/notesSlide8.xml" Id="R1c16d5fc4a7640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80b656e764c86"/>
          <a:srcRect xmlns:a="http://schemas.openxmlformats.org/drawingml/2006/main" l="19792" t="0" r="197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4E52D-9B70-467B-922F-108E9380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871FF-33F2-4472-A46C-35391244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5F49"/>
                </a:solidFill>
              </a:defRPr>
            </a:pPr>
            <a:r>
              <a:rPr sz="1275" b="1" i="0">
                <a:solidFill>
                  <a:srgbClr val="B65F49"/>
                </a:solidFill>
              </a:rPr>
              <a:t>MODULE 02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E039440B-0B86-44C2-9D80-01BF5EFC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2197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73A32"/>
                </a:solidFill>
              </a:defRPr>
            </a:pPr>
            <a:r>
              <a:rPr sz="3900" b="1" i="0">
                <a:solidFill>
                  <a:srgbClr val="173A32"/>
                </a:solidFill>
              </a:rPr>
              <a:t>Factors affecting design</a:t>
            </a:r>
          </a:p>
        </p:txBody>
      </p:sp>
      <p:sp>
        <p:nvSpPr>
          <p:cNvPr id="5" name="deck-purpose">
            <a:extLst xmlns:a="http://schemas.openxmlformats.org/drawingml/2006/main">
              <a:ext uri="{FF2B5EF4-FFF2-40B4-BE49-F238E27FC236}">
                <a16:creationId xmlns:a16="http://schemas.microsoft.com/office/drawing/2014/main" id="{F1D20FD0-0F07-479E-8098-5683DA63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1244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8231F"/>
                </a:solidFill>
              </a:defRPr>
            </a:pPr>
            <a:r>
              <a:rPr sz="1575" b="0" i="0">
                <a:solidFill>
                  <a:srgbClr val="18231F"/>
                </a:solidFill>
              </a:rPr>
              <a:t>Analyse how needs, function, aesthetics, ergonomics, finance, quality, safety and environmental consequences interact.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B1AF3-649C-40E4-A2E5-5DDA4A76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315A4D"/>
                </a:solidFill>
              </a:defRPr>
            </a:pPr>
            <a:r>
              <a:rPr sz="1125" b="1" i="0">
                <a:solidFill>
                  <a:srgbClr val="315A4D"/>
                </a:solidFill>
              </a:rPr>
              <a:t>Research Assignment  ·  P1.1 · P2.2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5610B-4B28-4BCF-A467-E4A30E2C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FORMATIVE LEARNING DECK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943B8-6461-46DD-AA3D-C21C2F9A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60769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5C6963"/>
                </a:solidFill>
              </a:defRPr>
            </a:pPr>
            <a:r>
              <a:rPr sz="825" b="1" i="0">
                <a:solidFill>
                  <a:srgbClr val="5C6963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4050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header-2">
            <a:extLst xmlns:a="http://schemas.openxmlformats.org/drawingml/2006/main">
              <a:ext uri="{FF2B5EF4-FFF2-40B4-BE49-F238E27FC236}">
                <a16:creationId xmlns:a16="http://schemas.microsoft.com/office/drawing/2014/main" id="{E3F13C6F-1F7C-4C08-BE89-78DB2E6D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FBA84-95D5-467C-88ED-7227837C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287B7-A4A7-4FEA-B0E9-AAFCF83E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50330-2442-4FC5-9972-AC59326C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02</a:t>
            </a:r>
          </a:p>
        </p:txBody>
      </p:sp>
      <p:sp>
        <p:nvSpPr>
          <p:cNvPr id="5" name="map-title">
            <a:extLst xmlns:a="http://schemas.openxmlformats.org/drawingml/2006/main">
              <a:ext uri="{FF2B5EF4-FFF2-40B4-BE49-F238E27FC236}">
                <a16:creationId xmlns:a16="http://schemas.microsoft.com/office/drawing/2014/main" id="{E1C3BD63-C46F-4AAC-8A07-13291E18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A32"/>
                </a:solidFill>
              </a:defRPr>
            </a:pPr>
            <a:r>
              <a:rPr sz="3150" b="1" i="0">
                <a:solidFill>
                  <a:srgbClr val="173A32"/>
                </a:solidFill>
              </a:rPr>
              <a:t>Three ideas build one evidence pathway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7dbf23f9b4355">
            <a:extLst>
              <a:ext uri="{96DAC541-7B7A-43D3-8B79-37D633B846F1}">
                <asvg:svgBlip xmlns:asvg="http://schemas.microsoft.com/office/drawing/2016/SVG/main" r:embed="R12021edeeb614b7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524000"/>
            <a:ext cx="10820400" cy="2428875"/>
          </a:xfrm>
          <a:prstGeom xmlns:a="http://schemas.openxmlformats.org/drawingml/2006/main" prst="rect">
            <a:avLst/>
          </a:prstGeom>
        </p:spPr>
      </p:pic>
      <p:sp>
        <p:nvSpPr>
          <p:cNvPr id="7" name="applied-path">
            <a:extLst xmlns:a="http://schemas.openxmlformats.org/drawingml/2006/main">
              <a:ext uri="{FF2B5EF4-FFF2-40B4-BE49-F238E27FC236}">
                <a16:creationId xmlns:a16="http://schemas.microsoft.com/office/drawing/2014/main" id="{1CA6F9B6-9004-472C-8F17-E5C99EC4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14850"/>
            <a:ext cx="9334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141B-A05D-4B36-83C9-C7526230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24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APPLY + KEEP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39998-FE8A-41A3-8ECE-05FDB116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095875"/>
            <a:ext cx="847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Complete a product success-and-failure audit that identifies evidence, trade-offs and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4763761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3">
            <a:extLst xmlns:a="http://schemas.openxmlformats.org/drawingml/2006/main">
              <a:ext uri="{FF2B5EF4-FFF2-40B4-BE49-F238E27FC236}">
                <a16:creationId xmlns:a16="http://schemas.microsoft.com/office/drawing/2014/main" id="{1C163FBC-1F16-4050-975C-F7B84342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A16A-63B9-428B-AA7E-D4CE943C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2BB26-5D59-453F-93DB-DF3859E79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35946-35AC-4CE7-B7CC-94CA33B8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03</a:t>
            </a:r>
          </a:p>
        </p:txBody>
      </p:sp>
      <p:sp>
        <p:nvSpPr>
          <p:cNvPr id="5" name="section-1-title">
            <a:extLst xmlns:a="http://schemas.openxmlformats.org/drawingml/2006/main">
              <a:ext uri="{FF2B5EF4-FFF2-40B4-BE49-F238E27FC236}">
                <a16:creationId xmlns:a16="http://schemas.microsoft.com/office/drawing/2014/main" id="{6A331A71-37D1-4D74-9D5A-0B565A77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Needs, function and appropriateness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613e2fbb4c2b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85E69F-B608-4A51-A0AC-F9225D5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0AF31-5F00-4DA9-B797-CB92DB85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533B3-C133-4687-8683-359B0D98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E1DB5-9D64-4D93-9E30-BA52AD06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need should be supported by research rather than assumed from the designer’s personal preference.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4590B-E15F-4000-B8FB-94ED8470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F82B3-F87C-4EBC-8E14-05D9BB98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Functional requirements should be observable or testable wherever possible.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3D595-7D95-407E-9603-AABA9B5E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CDD61F-4497-4FFD-9F57-ACDD6492C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An appropriate solution fits the intended context, not merely the designer’s technical 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B17BBD-06E2-425D-BC8F-1CA59FD5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A6163-5E8C-4F16-8A15-1B01BFE4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compact camping table supports a load but is too heavy for its target users to carry. What is the strongest conclusion?</a:t>
            </a:r>
          </a:p>
        </p:txBody>
      </p:sp>
    </p:spTree>
    <p:extLst>
      <p:ext uri="{BB962C8B-B14F-4D97-AF65-F5344CB8AC3E}">
        <p14:creationId xmlns:p14="http://schemas.microsoft.com/office/powerpoint/2010/main" val="146688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4">
            <a:extLst xmlns:a="http://schemas.openxmlformats.org/drawingml/2006/main">
              <a:ext uri="{FF2B5EF4-FFF2-40B4-BE49-F238E27FC236}">
                <a16:creationId xmlns:a16="http://schemas.microsoft.com/office/drawing/2014/main" id="{23D17FEE-7B9C-44A9-A312-B4E2F119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76486-6F26-4B10-B54B-771C18F0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E8FA1-C55E-4B30-B7F3-6CDB82F8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E776-A1E2-4093-913D-C94DA07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04</a:t>
            </a:r>
          </a:p>
        </p:txBody>
      </p:sp>
      <p:sp>
        <p:nvSpPr>
          <p:cNvPr id="5" name="section-2-title">
            <a:extLst xmlns:a="http://schemas.openxmlformats.org/drawingml/2006/main">
              <a:ext uri="{FF2B5EF4-FFF2-40B4-BE49-F238E27FC236}">
                <a16:creationId xmlns:a16="http://schemas.microsoft.com/office/drawing/2014/main" id="{8E4A61EF-2FD7-4E3D-97CB-AD49413F6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Aesthetics, ergonomics and quality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7f76ae01b4c85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4C144-E072-4CAB-B807-A2E16998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5A570-AFC6-41C2-BFD8-9EBA134F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64CDA9-90AD-4134-9BC9-EA91610C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3936B0-0D2D-4EBF-9B36-32220083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Aesthetic choices should support the target market, context and intended identity of the solution.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DAC45A-4B34-4B0F-8A91-1C623A9F1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B5B498-009A-49DC-8986-C1C8DFE4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Ergonomic decisions should be based on user characteristics, tasks, reach, force, visibility, comfort and safety.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33960C-A2EE-4D21-832B-281A6561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5A262-A83A-428C-92DF-5EC9AE5B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Quality includes reliable performance and consistency, not simply an expensive or polished appearance.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F72A8-C424-46FD-92D1-012ED5BE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9309D3-CB32-46A6-B2A3-7F73B22A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jar opener is visually appealing but requires high grip strength. What is the most defensible modification?</a:t>
            </a:r>
          </a:p>
        </p:txBody>
      </p:sp>
    </p:spTree>
    <p:extLst>
      <p:ext uri="{BB962C8B-B14F-4D97-AF65-F5344CB8AC3E}">
        <p14:creationId xmlns:p14="http://schemas.microsoft.com/office/powerpoint/2010/main" val="5494970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5">
            <a:extLst xmlns:a="http://schemas.openxmlformats.org/drawingml/2006/main">
              <a:ext uri="{FF2B5EF4-FFF2-40B4-BE49-F238E27FC236}">
                <a16:creationId xmlns:a16="http://schemas.microsoft.com/office/drawing/2014/main" id="{C06556BA-6CCA-4471-8FA5-DA25B6A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B05C1-B508-4005-8123-1D97D7D8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AEA9EB-2CE8-42F4-A893-74F906B4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314931-B234-4BD2-8733-401C78AC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05</a:t>
            </a:r>
          </a:p>
        </p:txBody>
      </p:sp>
      <p:sp>
        <p:nvSpPr>
          <p:cNvPr id="5" name="section-3-title">
            <a:extLst xmlns:a="http://schemas.openxmlformats.org/drawingml/2006/main">
              <a:ext uri="{FF2B5EF4-FFF2-40B4-BE49-F238E27FC236}">
                <a16:creationId xmlns:a16="http://schemas.microsoft.com/office/drawing/2014/main" id="{73937954-9B89-49B0-9D5E-0170D210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820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173A32"/>
                </a:solidFill>
              </a:defRPr>
            </a:pPr>
            <a:r>
              <a:rPr sz="2925" b="1" i="0">
                <a:solidFill>
                  <a:srgbClr val="173A32"/>
                </a:solidFill>
              </a:rPr>
              <a:t>Finance, WHS, environment and product life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59f91bdfe4fef"/>
          <a:srcRect xmlns:a="http://schemas.openxmlformats.org/drawingml/2006/main" l="15683" t="0" r="156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71625"/>
            <a:ext cx="4762500" cy="3905250"/>
          </a:xfrm>
          <a:prstGeom xmlns:a="http://schemas.openxmlformats.org/drawingml/2006/main" prst="roundRect">
            <a:avLst>
              <a:gd name="adj" fmla="val 390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7E5B4-6A6F-4B3B-BC6C-1DAB2588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05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0E3"/>
          </a:solidFill>
          <a:ln xmlns:a="http://schemas.openxmlformats.org/drawingml/2006/main" w="9525">
            <a:solidFill>
              <a:srgbClr val="F7F0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36234-9DC8-4C47-841A-73C45DD9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91100"/>
            <a:ext cx="3952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73A32"/>
                </a:solidFill>
              </a:defRPr>
            </a:pPr>
            <a:r>
              <a:rPr sz="900" b="1" i="0">
                <a:solidFill>
                  <a:srgbClr val="173A32"/>
                </a:solidFill>
              </a:rPr>
              <a:t>LOOK FOR  ·  KEY RELATIONSHIPS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4FF4C-097D-4C29-A6A7-3C8A8923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859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B36043-B27F-4D60-9D48-785F2ABB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192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A finance decision should consider total project and production costs rather than material price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B911D7-A195-4326-A6FB-3FFEFB1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95383-2EA0-44D4-96E1-E1C158E9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860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WHS begins with identifying hazards and applying suitable controls; personal protective equipment is only one part of the system.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49517-9930-4D19-85FF-CA45E98C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195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F2BF3-BAF4-4EC4-8BCB-1DBA4F59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42100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8231F"/>
                </a:solidFill>
              </a:defRPr>
            </a:pPr>
            <a:r>
              <a:rPr sz="1350" b="0" i="0">
                <a:solidFill>
                  <a:srgbClr val="18231F"/>
                </a:solidFill>
              </a:rPr>
              <a:t>Life-cycle analysis examines impacts from raw materials through manufacture, distribution, use, maintenance and end-of-life.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438CB2-698D-48DA-852E-81CDC11C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33950"/>
            <a:ext cx="4476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DF3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99B89E-966F-4B90-AD1D-AD31979B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A32"/>
                </a:solidFill>
              </a:defRPr>
            </a:pPr>
            <a:r>
              <a:rPr sz="1050" b="1" i="0">
                <a:solidFill>
                  <a:srgbClr val="173A32"/>
                </a:solidFill>
              </a:rPr>
              <a:t>EVIDENCE PROMPT  ·  A durable housing is difficult to recycle but can be repaired and used for many years. What should the designer do?</a:t>
            </a:r>
          </a:p>
        </p:txBody>
      </p:sp>
    </p:spTree>
    <p:extLst>
      <p:ext uri="{BB962C8B-B14F-4D97-AF65-F5344CB8AC3E}">
        <p14:creationId xmlns:p14="http://schemas.microsoft.com/office/powerpoint/2010/main" val="8437844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0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header-6">
            <a:extLst xmlns:a="http://schemas.openxmlformats.org/drawingml/2006/main">
              <a:ext uri="{FF2B5EF4-FFF2-40B4-BE49-F238E27FC236}">
                <a16:creationId xmlns:a16="http://schemas.microsoft.com/office/drawing/2014/main" id="{4AD0D47E-42A2-4037-AB7C-4BBEA0E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01F7E-B4D8-4157-BFEC-473402F3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C128A-ACC6-4DC4-AC48-B01CF095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16963-14E1-405B-96D6-550D451B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5941D-A236-4C9F-9B99-6BD053CF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Retrieve first; then check and improve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19D76-8AF1-438C-AF35-39EA677F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315A4D"/>
                </a:solidFill>
              </a:defRPr>
            </a:pPr>
            <a:r>
              <a:rPr sz="1275" b="0" i="0">
                <a:solidFill>
                  <a:srgbClr val="315A4D"/>
                </a:solidFill>
              </a:rPr>
              <a:t>Answer without notes. Use one precise sentence for each check.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46079-9F60-40BE-A9CF-72306096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65F49"/>
                </a:solidFill>
              </a:defRPr>
            </a:pPr>
            <a:r>
              <a:rPr sz="1800" b="1" i="0">
                <a:solidFill>
                  <a:srgbClr val="B65F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F8978-5DE5-4363-B90B-4422D091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526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compact camping table supports a load but is too heavy for its target users to carry. What is the strongest conclusion?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066EE-07BE-4C12-8C6F-84550C14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860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A58A4D-98F0-4A46-B26F-FCFCB153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3A453"/>
                </a:solidFill>
              </a:defRPr>
            </a:pPr>
            <a:r>
              <a:rPr sz="18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F9C3C4-08B4-4EC5-AD39-968A8FB26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jar opener is visually appealing but requires high grip strength. What is the most defensible modification?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91E9E4-B5D2-40FE-A108-FABD5C8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D9E684-F004-4807-AFA6-CEDF9103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53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47D69"/>
                </a:solidFill>
              </a:defRPr>
            </a:pPr>
            <a:r>
              <a:rPr sz="1800" b="1" i="0">
                <a:solidFill>
                  <a:srgbClr val="547D69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248EC-CE36-45F5-9217-EBD18F6D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57700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A32"/>
                </a:solidFill>
              </a:defRPr>
            </a:pPr>
            <a:r>
              <a:rPr sz="1350" b="1" i="0">
                <a:solidFill>
                  <a:srgbClr val="173A32"/>
                </a:solidFill>
              </a:rPr>
              <a:t>A durable housing is difficult to recycle but can be repaired and used for many years. What should the designer do?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63AF0-D094-4499-BF81-740DC290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91150"/>
            <a:ext cx="6667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31BCC7-EEFC-4E84-810A-C3D7540A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62100"/>
            <a:ext cx="2838450" cy="4095750"/>
          </a:xfrm>
          <a:prstGeom xmlns:a="http://schemas.openxmlformats.org/drawingml/2006/main" prst="roundRect">
            <a:avLst>
              <a:gd name="adj" fmla="val 5369"/>
            </a:avLst>
          </a:prstGeom>
          <a:solidFill xmlns:a="http://schemas.openxmlformats.org/drawingml/2006/main">
            <a:srgbClr val="173A32"/>
          </a:solidFill>
          <a:ln xmlns:a="http://schemas.openxmlformats.org/drawingml/2006/main" w="9525">
            <a:solidFill>
              <a:srgbClr val="173A3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8C5454-F99B-4DF9-A608-3E23B965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859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A calm checking 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35946-1507-464E-9247-2E4F0E72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0CF8E"/>
                </a:solidFill>
              </a:defRPr>
            </a:pPr>
            <a:r>
              <a:rPr sz="1200" b="1" i="0">
                <a:solidFill>
                  <a:srgbClr val="F0CF8E"/>
                </a:solidFill>
              </a:rPr>
              <a:t>1  Recall from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89219-2378-4198-AA89-6EF9D499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4290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2  Check the matching section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4E94C-2744-47F4-A378-F7FCC46F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5765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3  Repair the reason, not just the word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73333-BA3F-4B58-B2F9-F533105C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686300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4  Try the question again</a:t>
            </a:r>
          </a:p>
        </p:txBody>
      </p:sp>
    </p:spTree>
    <p:extLst>
      <p:ext uri="{BB962C8B-B14F-4D97-AF65-F5344CB8AC3E}">
        <p14:creationId xmlns:p14="http://schemas.microsoft.com/office/powerpoint/2010/main" val="1917126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header-7">
            <a:extLst xmlns:a="http://schemas.openxmlformats.org/drawingml/2006/main">
              <a:ext uri="{FF2B5EF4-FFF2-40B4-BE49-F238E27FC236}">
                <a16:creationId xmlns:a16="http://schemas.microsoft.com/office/drawing/2014/main" id="{14846949-2226-4C3B-B9D1-E19AF661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5F49"/>
                </a:solidFill>
              </a:defRPr>
            </a:pPr>
            <a:r>
              <a:rPr sz="900" b="1" i="0">
                <a:solidFill>
                  <a:srgbClr val="B65F49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C39BD-945B-4EDE-A3CF-F4594A15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2C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6DABA-77A9-477B-BD6C-287230FF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C6963"/>
                </a:solidFill>
              </a:defRPr>
            </a:pPr>
            <a:r>
              <a:rPr sz="750" b="0" i="0">
                <a:solidFill>
                  <a:srgbClr val="5C6963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BD16A-31B4-4267-A44E-B2C38DEF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5C6963"/>
                </a:solidFill>
              </a:defRPr>
            </a:pPr>
            <a:r>
              <a:rPr sz="750" b="1" i="0">
                <a:solidFill>
                  <a:srgbClr val="5C69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D5E85-8913-4AC1-B3D0-4D5EF2B5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73A32"/>
                </a:solidFill>
              </a:defRPr>
            </a:pPr>
            <a:r>
              <a:rPr sz="3000" b="1" i="0">
                <a:solidFill>
                  <a:srgbClr val="173A32"/>
                </a:solidFill>
              </a:rPr>
              <a:t>Construct evidence that makes reasoning visible</a:t>
            </a:r>
          </a:p>
        </p:txBody>
      </p:sp>
      <p:sp>
        <p:nvSpPr>
          <p:cNvPr id="6" name="evidence-prompt">
            <a:extLst xmlns:a="http://schemas.openxmlformats.org/drawingml/2006/main">
              <a:ext uri="{FF2B5EF4-FFF2-40B4-BE49-F238E27FC236}">
                <a16:creationId xmlns:a16="http://schemas.microsoft.com/office/drawing/2014/main" id="{81BBA7E9-1934-41C1-A9F5-EEB494D2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73A32"/>
                </a:solidFill>
              </a:defRPr>
            </a:pPr>
            <a:r>
              <a:rPr sz="1875" b="1" i="0">
                <a:solidFill>
                  <a:srgbClr val="173A32"/>
                </a:solidFill>
              </a:rPr>
              <a:t>Complete a product success-and-failure audit that identifies evidence, trade-offs and consequences.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5972A-9435-420F-B764-6CD9540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Name the user, context or design issue.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Select one relevant principle from this module.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Explain how the evidence changes a decision.</a:t>
            </a:r>
          </a:p>
          <a:p xmlns:a="http://schemas.openxmlformats.org/drawingml/2006/main">
            <a:pPr algn="l">
              <a:defRPr sz="1425" b="0" i="0">
                <a:solidFill>
                  <a:srgbClr val="18231F"/>
                </a:solidFill>
              </a:defRPr>
            </a:pPr>
            <a:r>
              <a:rPr sz="1425" b="0" i="0">
                <a:solidFill>
                  <a:srgbClr val="18231F"/>
                </a:solidFill>
              </a:rPr>
              <a:t>• Check the decision against the need, criteria or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C4A0E-2298-4A50-ADCF-6C326019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6191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3D7"/>
          </a:solidFill>
          <a:ln xmlns:a="http://schemas.openxmlformats.org/drawingml/2006/main" w="9525">
            <a:solidFill>
              <a:srgbClr val="FFF3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B63DE-DBE3-4843-BCDD-01A6C463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577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3A32"/>
                </a:solidFill>
              </a:defRPr>
            </a:pPr>
            <a:r>
              <a:rPr sz="1200" b="1" i="0">
                <a:solidFill>
                  <a:srgbClr val="173A32"/>
                </a:solidFill>
              </a:rPr>
              <a:t>SENTENCE SUPPORT  ·  The evidence shows … This matters because … Therefore I would 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52E2D-E1E3-41EE-B32A-81AF169E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050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9D2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3816F-3271-4D20-82E9-86C1A4AD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62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E1141-F7F8-4F72-9C1A-7B75252C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5430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READ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50B49-866B-4B2C-9CA6-2DFBC5A4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8288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Identify the design question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73C5D-7362-4917-B594-732BC4C1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90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65F49"/>
          </a:solidFill>
          <a:ln xmlns:a="http://schemas.openxmlformats.org/drawingml/2006/main" w="0">
            <a:solidFill>
              <a:srgbClr val="B65F4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F8757-84AC-4556-9404-EB0DFF99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SELECT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287DCA-DF61-471E-95F2-4A0FC397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575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Choose relevant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E16DD-7EA7-4FEB-A2C4-0C31E51B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19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A453"/>
          </a:solidFill>
          <a:ln xmlns:a="http://schemas.openxmlformats.org/drawingml/2006/main" w="0">
            <a:solidFill>
              <a:srgbClr val="D3A45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83DB89-5A72-416A-8211-32008041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EXPLAIN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D13CD-B409-4816-A5C5-10C6FE79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8862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Connect evidence to the decision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D3DED7-3DAD-426C-9EFA-1B62B51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48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47D69"/>
          </a:solidFill>
          <a:ln xmlns:a="http://schemas.openxmlformats.org/drawingml/2006/main" w="0">
            <a:solidFill>
              <a:srgbClr val="547D6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5130C-2CFA-4E2B-9176-5B013401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23C898-60D8-451C-BA4E-974E06DD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1490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963"/>
                </a:solidFill>
              </a:defRPr>
            </a:pPr>
            <a:r>
              <a:rPr sz="1125" b="0" i="0">
                <a:solidFill>
                  <a:srgbClr val="5C6963"/>
                </a:solidFill>
              </a:rPr>
              <a:t>Test against the requirement</a:t>
            </a:r>
          </a:p>
        </p:txBody>
      </p:sp>
    </p:spTree>
    <p:extLst>
      <p:ext uri="{BB962C8B-B14F-4D97-AF65-F5344CB8AC3E}">
        <p14:creationId xmlns:p14="http://schemas.microsoft.com/office/powerpoint/2010/main" val="8209251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er-8">
            <a:extLst xmlns:a="http://schemas.openxmlformats.org/drawingml/2006/main">
              <a:ext uri="{FF2B5EF4-FFF2-40B4-BE49-F238E27FC236}">
                <a16:creationId xmlns:a16="http://schemas.microsoft.com/office/drawing/2014/main" id="{8EA4A7F8-D24E-4F88-B2E9-FE234D39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F0CF8E"/>
                </a:solidFill>
              </a:defRPr>
            </a:pPr>
            <a:r>
              <a:rPr sz="900" b="1" i="0">
                <a:solidFill>
                  <a:srgbClr val="F0CF8E"/>
                </a:solidFill>
              </a:rPr>
              <a:t>YEAR 11 DESIGN &amp; TECHNOLOGY  ·  MODULE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1F96AE-BC47-4D7B-8C7C-A5965B41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1665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E72DA-8E28-480C-956D-B501BC82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90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C8D8D2"/>
                </a:solidFill>
              </a:defRPr>
            </a:pPr>
            <a:r>
              <a:rPr sz="750" b="0" i="0">
                <a:solidFill>
                  <a:srgbClr val="C8D8D2"/>
                </a:solidFill>
              </a:rPr>
              <a:t>Year 11 Preliminary · Term 1 · Weeks 3–4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C67BC-6C1C-4490-B545-89EBE13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C8D8D2"/>
                </a:solidFill>
              </a:defRPr>
            </a:pPr>
            <a:r>
              <a:rPr sz="750" b="1" i="0">
                <a:solidFill>
                  <a:srgbClr val="C8D8D2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335F5-2001-4AE1-9540-167F6334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04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Leave with evidence, not just notes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F4F5F-76A5-4AFA-9A30-30779F9D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CDE6BB-32F6-4925-BD8D-E2268900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7AC4A-925B-45F9-93BC-CAB4C6B1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idea I can now explain accurately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4247A-E665-44F2-A9E1-F2CC475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046021-1CE9-4314-AC6A-3113444A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APPLY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54D559-0836-4A12-ABFF-6753C5CF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design decision or evidence judgement I can justify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46F024-B23B-46FB-AE0F-6026D43C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52625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D3A453"/>
                </a:solidFill>
              </a:defRPr>
            </a:pPr>
            <a:r>
              <a:rPr sz="2400" b="1" i="0">
                <a:solidFill>
                  <a:srgbClr val="D3A453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F67B55-0A76-41E8-A1FF-E4E735106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B4177-FC2C-4359-8AA6-05D9985FF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048000"/>
            <a:ext cx="2762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One next action for Research Assignment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F202E-F8C9-4605-BD6D-A0111528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9060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7640AA-1672-46B5-9A74-C17AA53A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054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3A32"/>
                </a:solidFill>
              </a:defRPr>
            </a:pPr>
            <a:r>
              <a:rPr sz="1275" b="1" i="0">
                <a:solidFill>
                  <a:srgbClr val="173A32"/>
                </a:solidFill>
              </a:rPr>
              <a:t>Save a dated response in your module learning record or design folio. Follow teacher directions for any formal submission.</a:t>
            </a:r>
          </a:p>
        </p:txBody>
      </p:sp>
    </p:spTree>
    <p:extLst>
      <p:ext uri="{BB962C8B-B14F-4D97-AF65-F5344CB8AC3E}">
        <p14:creationId xmlns:p14="http://schemas.microsoft.com/office/powerpoint/2010/main" val="15102720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2026-08-31T18:33:36.7920000Z</dcterms:created>
  <dcterms:modified xsi:type="dcterms:W3CDTF">2026-08-31T18:33:36.7920000Z</dcterms:modified>
</coreProperties>
</file>