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f629337289d4c2c" /><Relationship Type="http://schemas.openxmlformats.org/officeDocument/2006/relationships/extended-properties" Target="/docProps/app.xml" Id="R998d0ddb8d61457b" /><Relationship Type="http://schemas.openxmlformats.org/officeDocument/2006/relationships/officeDocument" Target="/ppt/presentation.xml" Id="R37c868d3ae96485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4a52853cb5e49bc"/>
  </p:sldMasterIdLst>
  <p:notesMasterIdLst>
    <p:notesMasterId xmlns:r="http://schemas.openxmlformats.org/officeDocument/2006/relationships" r:id="R20270903616e4b6f"/>
  </p:notesMasterIdLst>
  <p:sldIdLst>
    <p:sldId xmlns:r="http://schemas.openxmlformats.org/officeDocument/2006/relationships" id="256" r:id="R4819a8b8b6d84d85"/>
    <p:sldId xmlns:r="http://schemas.openxmlformats.org/officeDocument/2006/relationships" id="257" r:id="R0f384da8cb51489b"/>
    <p:sldId xmlns:r="http://schemas.openxmlformats.org/officeDocument/2006/relationships" id="258" r:id="R29afb03fed524e43"/>
    <p:sldId xmlns:r="http://schemas.openxmlformats.org/officeDocument/2006/relationships" id="259" r:id="Re69cda1317384e4f"/>
    <p:sldId xmlns:r="http://schemas.openxmlformats.org/officeDocument/2006/relationships" id="260" r:id="Rfb0fb981c33a49c3"/>
    <p:sldId xmlns:r="http://schemas.openxmlformats.org/officeDocument/2006/relationships" id="261" r:id="Rc3fd418f669e4971"/>
    <p:sldId xmlns:r="http://schemas.openxmlformats.org/officeDocument/2006/relationships" id="262" r:id="Rc53dbee3fcd74f05"/>
    <p:sldId xmlns:r="http://schemas.openxmlformats.org/officeDocument/2006/relationships" id="263" r:id="R899f71cdcafd404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b44a57d1f8b4b5b" /><Relationship Type="http://schemas.openxmlformats.org/officeDocument/2006/relationships/slideMaster" Target="/ppt/slideMasters/slideMaster1.xml" Id="R04a52853cb5e49bc" /><Relationship Type="http://schemas.openxmlformats.org/officeDocument/2006/relationships/notesMaster" Target="/ppt/notesMasters/notesMaster1.xml" Id="R20270903616e4b6f" /><Relationship Type="http://schemas.openxmlformats.org/officeDocument/2006/relationships/presProps" Target="/ppt/presProps.xml" Id="Rf778acaee6b74c64" /><Relationship Type="http://schemas.openxmlformats.org/officeDocument/2006/relationships/tableStyles" Target="/ppt/tableStyles.xml" Id="Rdf0f6541ae47489e" /><Relationship Type="http://schemas.openxmlformats.org/officeDocument/2006/relationships/slide" Target="/ppt/slides/slide1.xml" Id="R4819a8b8b6d84d85" /><Relationship Type="http://schemas.openxmlformats.org/officeDocument/2006/relationships/slide" Target="/ppt/slides/slide2.xml" Id="R0f384da8cb51489b" /><Relationship Type="http://schemas.openxmlformats.org/officeDocument/2006/relationships/slide" Target="/ppt/slides/slide3.xml" Id="R29afb03fed524e43" /><Relationship Type="http://schemas.openxmlformats.org/officeDocument/2006/relationships/slide" Target="/ppt/slides/slide4.xml" Id="Re69cda1317384e4f" /><Relationship Type="http://schemas.openxmlformats.org/officeDocument/2006/relationships/slide" Target="/ppt/slides/slide5.xml" Id="Rfb0fb981c33a49c3" /><Relationship Type="http://schemas.openxmlformats.org/officeDocument/2006/relationships/slide" Target="/ppt/slides/slide6.xml" Id="Rc3fd418f669e4971" /><Relationship Type="http://schemas.openxmlformats.org/officeDocument/2006/relationships/slide" Target="/ppt/slides/slide7.xml" Id="Rc53dbee3fcd74f05" /><Relationship Type="http://schemas.openxmlformats.org/officeDocument/2006/relationships/slide" Target="/ppt/slides/slide8.xml" Id="R899f71cdcafd404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555741ba79c4b2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899e844a16647b5" /><Relationship Type="http://schemas.openxmlformats.org/officeDocument/2006/relationships/notesMaster" Target="/ppt/notesMasters/notesMaster1.xml" Id="R205854c629c94d6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78244f714584ea7" /><Relationship Type="http://schemas.openxmlformats.org/officeDocument/2006/relationships/notesMaster" Target="/ppt/notesMasters/notesMaster1.xml" Id="R1595778240534dd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f8bb2c011ac4bac" /><Relationship Type="http://schemas.openxmlformats.org/officeDocument/2006/relationships/notesMaster" Target="/ppt/notesMasters/notesMaster1.xml" Id="R071c23d58400457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30e88397db84385" /><Relationship Type="http://schemas.openxmlformats.org/officeDocument/2006/relationships/notesMaster" Target="/ppt/notesMasters/notesMaster1.xml" Id="R1a52da8d04af493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9620439a6da4ab4" /><Relationship Type="http://schemas.openxmlformats.org/officeDocument/2006/relationships/notesMaster" Target="/ppt/notesMasters/notesMaster1.xml" Id="Rf7c28f5ccf5649c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041b7e978304895" /><Relationship Type="http://schemas.openxmlformats.org/officeDocument/2006/relationships/notesMaster" Target="/ppt/notesMasters/notesMaster1.xml" Id="R515900dba2c24e9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9b1fe20c11f4388" /><Relationship Type="http://schemas.openxmlformats.org/officeDocument/2006/relationships/notesMaster" Target="/ppt/notesMasters/notesMaster1.xml" Id="Rc95c1e72d8db44a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3af00514e1f440d" /><Relationship Type="http://schemas.openxmlformats.org/officeDocument/2006/relationships/notesMaster" Target="/ppt/notesMasters/notesMaster1.xml" Id="R587a372ddae445c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Establish the purpose of Creativity and collaborative design.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Talking points</a:t>
            </a:r>
          </a:p>
          <a:p xmlns:a="http://schemas.openxmlformats.org/drawingml/2006/main">
            <a:r>
              <a:t>- Generate alternatives, use cognitive organisers deliberately and collaborate through clear roles and evidence.</a:t>
            </a:r>
          </a:p>
          <a:p xmlns:a="http://schemas.openxmlformats.org/drawingml/2006/main">
            <a:r>
              <a:t>- Name the three learning areas without teaching them yet: Idea-generation techniques; Six Thinking Hats and collaboration; Selecting and justifying concepts.</a:t>
            </a:r>
          </a:p>
          <a:p xmlns:a="http://schemas.openxmlformats.org/drawingml/2006/main">
            <a:r>
              <a:t>- Explain that this deck supports classroom learning and formative evidence. Current teacher directions and formal notices remain authoritative.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Move from the module purpose to the three-part learning map.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NESA Design and Technology Stage 6 Syllabus (2013), official course authority</a:t>
            </a:r>
          </a:p>
          <a:p xmlns:a="http://schemas.openxmlformats.org/drawingml/2006/main">
            <a:r>
              <a:t>- Current Year 11 site source register and source-bound module data</a:t>
            </a:r>
          </a:p>
          <a:p xmlns:a="http://schemas.openxmlformats.org/drawingml/2006/main">
            <a:r>
              <a:t>- Visual: approved family-generated teaching asset, Year 12 D&amp;T assets/images/course-hero.png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Preview the three named ideas as a connected sequence.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Talking points</a:t>
            </a:r>
          </a:p>
          <a:p xmlns:a="http://schemas.openxmlformats.org/drawingml/2006/main">
            <a:r>
              <a:t>- 1. Idea-generation techniques: Use several techniques to expand, transform and organise design possibilities before selecting a concept.</a:t>
            </a:r>
          </a:p>
          <a:p xmlns:a="http://schemas.openxmlformats.org/drawingml/2006/main">
            <a:r>
              <a:t>- 2. Six Thinking Hats and collaboration: Use parallel-thinking roles and clear team responsibilities to improve collaborative decisions.</a:t>
            </a:r>
          </a:p>
          <a:p xmlns:a="http://schemas.openxmlformats.org/drawingml/2006/main">
            <a:r>
              <a:t>- 3. Selecting and justifying concepts: Compare alternatives against evidence and justify a developed design direction.</a:t>
            </a:r>
          </a:p>
          <a:p xmlns:a="http://schemas.openxmlformats.org/drawingml/2006/main">
            <a:r>
              <a:t>- Retrieval prompt: Which idea is most likely to change a real design decision in Kitchen Companion, and why?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Begin with Idea-generation techniques.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NESA Design and Technology Stage 6 Syllabus (2013), official course authority</a:t>
            </a:r>
          </a:p>
          <a:p xmlns:a="http://schemas.openxmlformats.org/drawingml/2006/main">
            <a:r>
              <a:t>- Current Year 11 site source register and source-bound module data</a:t>
            </a:r>
          </a:p>
          <a:p xmlns:a="http://schemas.openxmlformats.org/drawingml/2006/main">
            <a:r>
              <a:t>- Visual: current Year 11 local teaching asset assets/module-06-map.svg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Use several techniques to expand, transform and organise design possibilities before selecting a concept.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Talking points</a:t>
            </a:r>
          </a:p>
          <a:p xmlns:a="http://schemas.openxmlformats.org/drawingml/2006/main">
            <a:r>
              <a:t>- Early ideation should generate range before ideas are judged against criteria.</a:t>
            </a:r>
          </a:p>
          <a:p xmlns:a="http://schemas.openxmlformats.org/drawingml/2006/main">
            <a:r>
              <a:t>- SCAMPER prompts a designer to substitute, combine, adapt, modify, put to another use, eliminate or rearrange features.</a:t>
            </a:r>
          </a:p>
          <a:p xmlns:a="http://schemas.openxmlformats.org/drawingml/2006/main">
            <a:r>
              <a:t>- A morphological chart separates a problem into functions or features and recombines alternatives.</a:t>
            </a:r>
          </a:p>
          <a:p xmlns:a="http://schemas.openxmlformats.org/drawingml/2006/main">
            <a:r>
              <a:t>- Cognitive organisers are tools for thinking; they do not replace research, testing or designer judgement.</a:t>
            </a:r>
          </a:p>
          <a:p xmlns:a="http://schemas.openxmlformats.org/drawingml/2006/main">
            <a:r>
              <a:t>- Visual notice: Ask students what the scene makes visible about idea-generation techniques, then connect observations to the stated principles.</a:t>
            </a:r>
          </a:p>
          <a:p xmlns:a="http://schemas.openxmlformats.org/drawingml/2006/main">
            <a:r>
              <a:t>- Evidence prompt: A group keeps generating variations of the same utensil holder. What is the best next action?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Likely misconceptions</a:t>
            </a:r>
          </a:p>
          <a:p xmlns:a="http://schemas.openxmlformats.org/drawingml/2006/main">
            <a:r>
              <a:t>- The strongest first idea should be developed immediately to save time.</a:t>
            </a:r>
          </a:p>
          <a:p xmlns:a="http://schemas.openxmlformats.org/drawingml/2006/main">
            <a:r>
              <a:t>- SCAMPER is a checklist used only to improve existing commercial products.</a:t>
            </a:r>
          </a:p>
          <a:p xmlns:a="http://schemas.openxmlformats.org/drawingml/2006/main">
            <a:r>
              <a:t>- A morphological chart ranks final concepts by cost.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Move to Six Thinking Hats and collaboration.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Y11 source note: NESA creativity content; teacher answer booklet on brainstorming, mind maps and cognitive organisers.</a:t>
            </a:r>
          </a:p>
          <a:p xmlns:a="http://schemas.openxmlformats.org/drawingml/2006/main">
            <a:r>
              <a:t>- Visual: approved family-generated teaching asset, Year 12 D&amp;T assets/images/m07s01.png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Use parallel-thinking roles and clear team responsibilities to improve collaborative decisions.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Talking points</a:t>
            </a:r>
          </a:p>
          <a:p xmlns:a="http://schemas.openxmlformats.org/drawingml/2006/main">
            <a:r>
              <a:t>- The White Hat focuses on known information, evidence gaps and facts that need verification.</a:t>
            </a:r>
          </a:p>
          <a:p xmlns:a="http://schemas.openxmlformats.org/drawingml/2006/main">
            <a:r>
              <a:t>- The Red, Black, Yellow and Green Hats deliberately examine feelings, cautions, benefits and possibilities.</a:t>
            </a:r>
          </a:p>
          <a:p xmlns:a="http://schemas.openxmlformats.org/drawingml/2006/main">
            <a:r>
              <a:t>- The Blue Hat manages the process, roles, sequence and decision record.</a:t>
            </a:r>
          </a:p>
          <a:p xmlns:a="http://schemas.openxmlformats.org/drawingml/2006/main">
            <a:r>
              <a:t>- A useful session records contributions and shows how the team used them to develop or select concepts.</a:t>
            </a:r>
          </a:p>
          <a:p xmlns:a="http://schemas.openxmlformats.org/drawingml/2006/main">
            <a:r>
              <a:t>- Diagram notice: Trace EVIDENCE → POSSIBILITIES → PROCESS and ask where evidence changes the next decision.</a:t>
            </a:r>
          </a:p>
          <a:p xmlns:a="http://schemas.openxmlformats.org/drawingml/2006/main">
            <a:r>
              <a:t>- Evidence prompt: During a Six Hats session, the group jumps between facts, objections and ideas and no decision is recorded. What should the Blue Hat do?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Likely misconceptions</a:t>
            </a:r>
          </a:p>
          <a:p xmlns:a="http://schemas.openxmlformats.org/drawingml/2006/main">
            <a:r>
              <a:t>- Each person should permanently represent the hat that matches their personality.</a:t>
            </a:r>
          </a:p>
          <a:p xmlns:a="http://schemas.openxmlformats.org/drawingml/2006/main">
            <a:r>
              <a:t>- The Black Hat should stop risky or difficult ideas from being considered.</a:t>
            </a:r>
          </a:p>
          <a:p xmlns:a="http://schemas.openxmlformats.org/drawingml/2006/main">
            <a:r>
              <a:t>- The Green Hat is used only to add decorative features.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Move to Selecting and justifying concepts.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Y11 source note: Current Kitchen Companion brief and its required Six Thinking Hats collaboration.</a:t>
            </a:r>
          </a:p>
          <a:p xmlns:a="http://schemas.openxmlformats.org/drawingml/2006/main">
            <a:r>
              <a:t>- Visual: editable native PowerPoint relationship diagram derived only from the three source-bound section principles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Compare alternatives against evidence and justify a developed design direction.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Talking points</a:t>
            </a:r>
          </a:p>
          <a:p xmlns:a="http://schemas.openxmlformats.org/drawingml/2006/main">
            <a:r>
              <a:t>- Criteria should come from the brief, research, users, safety, resources and intended performance.</a:t>
            </a:r>
          </a:p>
          <a:p xmlns:a="http://schemas.openxmlformats.org/drawingml/2006/main">
            <a:r>
              <a:t>- A weighted decision matrix can organise comparison but the weighting and scores still require justification.</a:t>
            </a:r>
          </a:p>
          <a:p xmlns:a="http://schemas.openxmlformats.org/drawingml/2006/main">
            <a:r>
              <a:t>- A concept may be modified or combined before final selection when comparison reveals strengths worth retaining.</a:t>
            </a:r>
          </a:p>
          <a:p xmlns:a="http://schemas.openxmlformats.org/drawingml/2006/main">
            <a:r>
              <a:t>- A justification connects the selected features to evidence and acknowledges important limitations or further testing.</a:t>
            </a:r>
          </a:p>
          <a:p xmlns:a="http://schemas.openxmlformats.org/drawingml/2006/main">
            <a:r>
              <a:t>- Visual notice: Ask students what the scene makes visible about selecting and justifying concepts, then connect observations to the stated principles.</a:t>
            </a:r>
          </a:p>
          <a:p xmlns:a="http://schemas.openxmlformats.org/drawingml/2006/main">
            <a:r>
              <a:t>- Evidence prompt: A concept scores highly for appearance but poorly for stability and print time. What should the team do?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Likely misconceptions</a:t>
            </a:r>
          </a:p>
          <a:p xmlns:a="http://schemas.openxmlformats.org/drawingml/2006/main">
            <a:r>
              <a:t>- The concept with the highest total score is automatically the correct choice.</a:t>
            </a:r>
          </a:p>
          <a:p xmlns:a="http://schemas.openxmlformats.org/drawingml/2006/main">
            <a:r>
              <a:t>- Criteria should be adjusted after scoring so the preferred idea wins.</a:t>
            </a:r>
          </a:p>
          <a:p xmlns:a="http://schemas.openxmlformats.org/drawingml/2006/main">
            <a:r>
              <a:t>- Combining ideas shows that the original concepts were weak.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Move from teaching into retrieval across all three ideas.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Y11 source note: NESA creativity and design-process content; Kitchen Companion concept-selection context.</a:t>
            </a:r>
          </a:p>
          <a:p xmlns:a="http://schemas.openxmlformats.org/drawingml/2006/main">
            <a:r>
              <a:t>- Visual: approved family-generated teaching asset, Year 12 D&amp;T assets/images/m07s03.png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Use retrieval to expose and repair reasoning gaps across all three sections.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Talking points</a:t>
            </a:r>
          </a:p>
          <a:p xmlns:a="http://schemas.openxmlformats.org/drawingml/2006/main">
            <a:r>
              <a:t>- Give quiet recall time before inviting answers.</a:t>
            </a:r>
          </a:p>
          <a:p xmlns:a="http://schemas.openxmlformats.org/drawingml/2006/main">
            <a:r>
              <a:t>- Check 1: A group keeps generating variations of the same utensil holder. What is the best next action?</a:t>
            </a:r>
          </a:p>
          <a:p xmlns:a="http://schemas.openxmlformats.org/drawingml/2006/main">
            <a:r>
              <a:t>- Indicative answer: Change the thinking method: separate functions in a morphological chart or use SCAMPER to transform assumptions about storage, access and assembly.</a:t>
            </a:r>
          </a:p>
          <a:p xmlns:a="http://schemas.openxmlformats.org/drawingml/2006/main">
            <a:r>
              <a:t>- Check 2: During a Six Hats session, the group jumps between facts, objections and ideas and no decision is recorded. What should the Blue Hat do?</a:t>
            </a:r>
          </a:p>
          <a:p xmlns:a="http://schemas.openxmlformats.org/drawingml/2006/main">
            <a:r>
              <a:t>- Indicative answer: Set the sequence, clarify the question, allocate time, summarise evidence and record the agreed next test or decision.</a:t>
            </a:r>
          </a:p>
          <a:p xmlns:a="http://schemas.openxmlformats.org/drawingml/2006/main">
            <a:r>
              <a:t>- Check 3: A concept scores highly for appearance but poorly for stability and print time. What should the team do?</a:t>
            </a:r>
          </a:p>
          <a:p xmlns:a="http://schemas.openxmlformats.org/drawingml/2006/main">
            <a:r>
              <a:t>- Indicative answer: Review the weighting and evidence, modify or combine concepts, and select only after critical requirements such as function and safety are addressed.</a:t>
            </a:r>
          </a:p>
          <a:p xmlns:a="http://schemas.openxmlformats.org/drawingml/2006/main">
            <a:r>
              <a:t>- Ask students to explain why the answer is defensible before they return to notes.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Use the retrieved ideas to construct one sustained piece of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Y11 source note: NESA creativity content; teacher answer booklet on brainstorming, mind maps and cognitive organisers.</a:t>
            </a:r>
          </a:p>
          <a:p xmlns:a="http://schemas.openxmlformats.org/drawingml/2006/main">
            <a:r>
              <a:t>- Y11 source note: Current Kitchen Companion brief and its required Six Thinking Hats collaboration.</a:t>
            </a:r>
          </a:p>
          <a:p xmlns:a="http://schemas.openxmlformats.org/drawingml/2006/main">
            <a:r>
              <a:t>- Y11 source note: NESA creativity and design-process content; Kitchen Companion concept-selection context.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Guide one higher-order formative response using all three module ideas.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Talking points</a:t>
            </a:r>
          </a:p>
          <a:p xmlns:a="http://schemas.openxmlformats.org/drawingml/2006/main">
            <a:r>
              <a:t>- Prompt: Run and document a Six Thinking Hats session that produces several feasible Kitchen Companion directions.</a:t>
            </a:r>
          </a:p>
          <a:p xmlns:a="http://schemas.openxmlformats.org/drawingml/2006/main">
            <a:r>
              <a:t>- Read: identify the user, context and design question.</a:t>
            </a:r>
          </a:p>
          <a:p xmlns:a="http://schemas.openxmlformats.org/drawingml/2006/main">
            <a:r>
              <a:t>- Select: choose source-bound evidence rather than a preference.</a:t>
            </a:r>
          </a:p>
          <a:p xmlns:a="http://schemas.openxmlformats.org/drawingml/2006/main">
            <a:r>
              <a:t>- Explain: connect the evidence to a design consequence or decision.</a:t>
            </a:r>
          </a:p>
          <a:p xmlns:a="http://schemas.openxmlformats.org/drawingml/2006/main">
            <a:r>
              <a:t>- Check: test the response against the relevant need, criterion or source.</a:t>
            </a:r>
          </a:p>
          <a:p xmlns:a="http://schemas.openxmlformats.org/drawingml/2006/main">
            <a:r>
              <a:t>- Remind students that this is formative learning evidence, not a formal submission instruction.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Close by asking each student to retain the response and name the next useful action.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Y11 source note: NESA creativity content; teacher answer booklet on brainstorming, mind maps and cognitive organisers.</a:t>
            </a:r>
          </a:p>
          <a:p xmlns:a="http://schemas.openxmlformats.org/drawingml/2006/main">
            <a:r>
              <a:t>- Y11 source note: Current Kitchen Companion brief and its required Six Thinking Hats collaboration.</a:t>
            </a:r>
          </a:p>
          <a:p xmlns:a="http://schemas.openxmlformats.org/drawingml/2006/main">
            <a:r>
              <a:t>- Y11 source note: NESA creativity and design-process content; Kitchen Companion concept-selection context.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Make the exit ticket produce a concrete learning record and a manageable next action.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Talking points</a:t>
            </a:r>
          </a:p>
          <a:p xmlns:a="http://schemas.openxmlformats.org/drawingml/2006/main">
            <a:r>
              <a:t>- Ask students to complete all three prompts individually before discussion.</a:t>
            </a:r>
          </a:p>
          <a:p xmlns:a="http://schemas.openxmlformats.org/drawingml/2006/main">
            <a:r>
              <a:t>- Keep the record labelled formative learning evidence; do not imply a cloud submission or formal assessment requirement.</a:t>
            </a:r>
          </a:p>
          <a:p xmlns:a="http://schemas.openxmlformats.org/drawingml/2006/main">
            <a:r>
              <a:t>- Next action: connect the module evidence to Kitchen Companion.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End with each student's own next action, not a generic summary.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Y11 source note: NESA creativity content; teacher answer booklet on brainstorming, mind maps and cognitive organisers.</a:t>
            </a:r>
          </a:p>
          <a:p xmlns:a="http://schemas.openxmlformats.org/drawingml/2006/main">
            <a:r>
              <a:t>- Y11 source note: Current Kitchen Companion brief and its required Six Thinking Hats collaboration.</a:t>
            </a:r>
          </a:p>
          <a:p xmlns:a="http://schemas.openxmlformats.org/drawingml/2006/main">
            <a:r>
              <a:t>- Y11 source note: NESA creativity and design-process content; Kitchen Companion concept-selection context.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edfef7ddb049c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703fd8b6c894e8c" /><Relationship Type="http://schemas.openxmlformats.org/officeDocument/2006/relationships/slideLayout" Target="/ppt/slideLayouts/slideLayout1.xml" Id="Reebe6eb6277c402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ebe6eb6277c402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4ee2110c6542c5" /><Relationship Type="http://schemas.openxmlformats.org/officeDocument/2006/relationships/image" Target="/ppt/media/image.png" Id="Rc3dc5495bd5a4cd7" /><Relationship Type="http://schemas.openxmlformats.org/officeDocument/2006/relationships/notesSlide" Target="/ppt/notesSlides/notesSlide1.xml" Id="Re99b174f5be9434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64cb14f8284866" /><Relationship Type="http://schemas.openxmlformats.org/officeDocument/2006/relationships/image" Target="/ppt/media/image2.png" Id="Reecc4e6e34204175" /><Relationship Type="http://schemas.openxmlformats.org/officeDocument/2006/relationships/image" Target="/ppt/media/image.svg" Id="Rdfdbe652e2b54fcf" /><Relationship Type="http://schemas.openxmlformats.org/officeDocument/2006/relationships/notesSlide" Target="/ppt/notesSlides/notesSlide2.xml" Id="R3b6ad1a6272c4c8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161f405ebb424c" /><Relationship Type="http://schemas.openxmlformats.org/officeDocument/2006/relationships/image" Target="/ppt/media/image3.png" Id="R83edf82aaa37418a" /><Relationship Type="http://schemas.openxmlformats.org/officeDocument/2006/relationships/notesSlide" Target="/ppt/notesSlides/notesSlide3.xml" Id="Rabc603eab01e42e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158da3a43445d1" /><Relationship Type="http://schemas.openxmlformats.org/officeDocument/2006/relationships/notesSlide" Target="/ppt/notesSlides/notesSlide4.xml" Id="R5f4e81d5ebb0414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182e66173f451f" /><Relationship Type="http://schemas.openxmlformats.org/officeDocument/2006/relationships/image" Target="/ppt/media/image4.png" Id="R04df15cbf6f54c09" /><Relationship Type="http://schemas.openxmlformats.org/officeDocument/2006/relationships/notesSlide" Target="/ppt/notesSlides/notesSlide5.xml" Id="Rca5d6ad985dc41b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42be1598b04165" /><Relationship Type="http://schemas.openxmlformats.org/officeDocument/2006/relationships/notesSlide" Target="/ppt/notesSlides/notesSlide6.xml" Id="Re7b1c58c1843499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1a0382dd2a46e1" /><Relationship Type="http://schemas.openxmlformats.org/officeDocument/2006/relationships/notesSlide" Target="/ppt/notesSlides/notesSlide7.xml" Id="Rde6013bf47674a1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e3e8933fa4488c" /><Relationship Type="http://schemas.openxmlformats.org/officeDocument/2006/relationships/notesSlide" Target="/ppt/notesSlides/notesSlide8.xml" Id="Rf7c8a0b072bf4f9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0E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dc5495bd5a4cd7"/>
          <a:srcRect xmlns:a="http://schemas.openxmlformats.org/drawingml/2006/main" l="19792" t="0" r="1979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0"/>
            <a:ext cx="55245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2F8799-AA6B-41B0-A730-06B43F848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453"/>
          </a:solidFill>
          <a:ln xmlns:a="http://schemas.openxmlformats.org/drawingml/2006/main" w="0">
            <a:solidFill>
              <a:srgbClr val="D3A453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4CBD74-8E0A-447C-BCDF-CBB31AD31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B65F49"/>
                </a:solidFill>
              </a:defRPr>
            </a:pPr>
            <a:r>
              <a:rPr sz="1275" b="1" i="0">
                <a:solidFill>
                  <a:srgbClr val="B65F49"/>
                </a:solidFill>
              </a:rPr>
              <a:t>MODULE 06</a:t>
            </a:r>
          </a:p>
        </p:txBody>
      </p:sp>
      <p:sp>
        <p:nvSpPr>
          <p:cNvPr id="4" name="deck-title">
            <a:extLst xmlns:a="http://schemas.openxmlformats.org/drawingml/2006/main">
              <a:ext uri="{FF2B5EF4-FFF2-40B4-BE49-F238E27FC236}">
                <a16:creationId xmlns:a16="http://schemas.microsoft.com/office/drawing/2014/main" id="{59C78E2D-EBEA-4398-A9FE-113B4E6F9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52197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 i="0">
                <a:solidFill>
                  <a:srgbClr val="173A32"/>
                </a:solidFill>
              </a:defRPr>
            </a:pPr>
            <a:r>
              <a:rPr sz="3900" b="1" i="0">
                <a:solidFill>
                  <a:srgbClr val="173A32"/>
                </a:solidFill>
              </a:rPr>
              <a:t>Creativity and collaborative design</a:t>
            </a:r>
          </a:p>
        </p:txBody>
      </p:sp>
      <p:sp>
        <p:nvSpPr>
          <p:cNvPr id="5" name="deck-purpose">
            <a:extLst xmlns:a="http://schemas.openxmlformats.org/drawingml/2006/main">
              <a:ext uri="{FF2B5EF4-FFF2-40B4-BE49-F238E27FC236}">
                <a16:creationId xmlns:a16="http://schemas.microsoft.com/office/drawing/2014/main" id="{F6B56E10-0C18-45D3-8C65-382237409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51244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8231F"/>
                </a:solidFill>
              </a:defRPr>
            </a:pPr>
            <a:r>
              <a:rPr sz="1575" b="0" i="0">
                <a:solidFill>
                  <a:srgbClr val="18231F"/>
                </a:solidFill>
              </a:rPr>
              <a:t>Generate alternatives, use cognitive organisers deliberately and collaborate through clear roles and evidence.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82447C-40F6-4F92-8C29-288B6B84C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05400"/>
            <a:ext cx="514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315A4D"/>
                </a:solidFill>
              </a:defRPr>
            </a:pPr>
            <a:r>
              <a:rPr sz="1125" b="1" i="0">
                <a:solidFill>
                  <a:srgbClr val="315A4D"/>
                </a:solidFill>
              </a:rPr>
              <a:t>Kitchen Companion  ·  P3.1 · P5.2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04827F-E7B8-41F2-A9B2-396C020D2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7695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C6963"/>
                </a:solidFill>
              </a:defRPr>
            </a:pPr>
            <a:r>
              <a:rPr sz="825" b="1" i="0">
                <a:solidFill>
                  <a:srgbClr val="5C6963"/>
                </a:solidFill>
              </a:rPr>
              <a:t>FORMATIVE LEARNING DECK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C84B92-5DC7-4994-8E42-E3720D110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60769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5C6963"/>
                </a:solidFill>
              </a:defRPr>
            </a:pPr>
            <a:r>
              <a:rPr sz="825" b="1" i="0">
                <a:solidFill>
                  <a:srgbClr val="5C6963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17142325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header-2">
            <a:extLst xmlns:a="http://schemas.openxmlformats.org/drawingml/2006/main">
              <a:ext uri="{FF2B5EF4-FFF2-40B4-BE49-F238E27FC236}">
                <a16:creationId xmlns:a16="http://schemas.microsoft.com/office/drawing/2014/main" id="{CD0E57DA-BCE6-4733-A195-DFF636BDC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B65F49"/>
                </a:solidFill>
              </a:defRPr>
            </a:pPr>
            <a:r>
              <a:rPr sz="900" b="1" i="0">
                <a:solidFill>
                  <a:srgbClr val="B65F49"/>
                </a:solidFill>
              </a:rPr>
              <a:t>YEAR 11 DESIGN &amp; TECHNOLOGY  ·  MODULE 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B911C4-516A-4C11-B5C1-0E1931DCF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2C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37221C-25A6-4FCF-872C-6BDB9D2BE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C6963"/>
                </a:solidFill>
              </a:defRPr>
            </a:pPr>
            <a:r>
              <a:rPr sz="750" b="0" i="0">
                <a:solidFill>
                  <a:srgbClr val="5C6963"/>
                </a:solidFill>
              </a:rPr>
              <a:t>Year 11 Preliminary · Term 2 · Weeks 11–12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A569B8-4244-4A8A-AD78-15EC2FBD1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5C6963"/>
                </a:solidFill>
              </a:defRPr>
            </a:pPr>
            <a:r>
              <a:rPr sz="750" b="1" i="0">
                <a:solidFill>
                  <a:srgbClr val="5C6963"/>
                </a:solidFill>
              </a:rPr>
              <a:t>02</a:t>
            </a:r>
          </a:p>
        </p:txBody>
      </p:sp>
      <p:sp>
        <p:nvSpPr>
          <p:cNvPr id="5" name="map-title">
            <a:extLst xmlns:a="http://schemas.openxmlformats.org/drawingml/2006/main">
              <a:ext uri="{FF2B5EF4-FFF2-40B4-BE49-F238E27FC236}">
                <a16:creationId xmlns:a16="http://schemas.microsoft.com/office/drawing/2014/main" id="{AFBBC9A6-4687-46D9-BE99-086A26E32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73A32"/>
                </a:solidFill>
              </a:defRPr>
            </a:pPr>
            <a:r>
              <a:rPr sz="3150" b="1" i="0">
                <a:solidFill>
                  <a:srgbClr val="173A32"/>
                </a:solidFill>
              </a:rPr>
              <a:t>Three ideas build one evidence pathway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cc4e6e34204175">
            <a:extLst>
              <a:ext uri="{96DAC541-7B7A-43D3-8B79-37D633B846F1}">
                <asvg:svgBlip xmlns:asvg="http://schemas.microsoft.com/office/drawing/2016/SVG/main" r:embed="Rdfdbe652e2b54fc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1524000"/>
            <a:ext cx="10820400" cy="2428875"/>
          </a:xfrm>
          <a:prstGeom xmlns:a="http://schemas.openxmlformats.org/drawingml/2006/main" prst="rect">
            <a:avLst/>
          </a:prstGeom>
        </p:spPr>
      </p:pic>
      <p:sp>
        <p:nvSpPr>
          <p:cNvPr id="7" name="applied-path">
            <a:extLst xmlns:a="http://schemas.openxmlformats.org/drawingml/2006/main">
              <a:ext uri="{FF2B5EF4-FFF2-40B4-BE49-F238E27FC236}">
                <a16:creationId xmlns:a16="http://schemas.microsoft.com/office/drawing/2014/main" id="{ADC166DA-86DD-4362-9EAD-D2AA7E8FA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14850"/>
            <a:ext cx="9334500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173A32"/>
          </a:solidFill>
          <a:ln xmlns:a="http://schemas.openxmlformats.org/drawingml/2006/main" w="9525">
            <a:solidFill>
              <a:srgbClr val="173A3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1F7EE0-45EF-47C1-BB2C-6CA3B81F2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7244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0CF8E"/>
                </a:solidFill>
              </a:defRPr>
            </a:pPr>
            <a:r>
              <a:rPr sz="1200" b="1" i="0">
                <a:solidFill>
                  <a:srgbClr val="F0CF8E"/>
                </a:solidFill>
              </a:rPr>
              <a:t>APPLY + KEEP EVIDENCE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68C9A0-72C8-4C38-96D1-12AB2F600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5095875"/>
            <a:ext cx="847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FFFFFF"/>
                </a:solidFill>
              </a:defRPr>
            </a:pPr>
            <a:r>
              <a:rPr sz="1500" b="0" i="0">
                <a:solidFill>
                  <a:srgbClr val="FFFFFF"/>
                </a:solidFill>
              </a:rPr>
              <a:t>Run and document a Six Thinking Hats session that produces several feasible Kitchen Companion directions.</a:t>
            </a:r>
          </a:p>
        </p:txBody>
      </p:sp>
    </p:spTree>
    <p:extLst>
      <p:ext uri="{BB962C8B-B14F-4D97-AF65-F5344CB8AC3E}">
        <p14:creationId xmlns:p14="http://schemas.microsoft.com/office/powerpoint/2010/main" val="59091862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header-3">
            <a:extLst xmlns:a="http://schemas.openxmlformats.org/drawingml/2006/main">
              <a:ext uri="{FF2B5EF4-FFF2-40B4-BE49-F238E27FC236}">
                <a16:creationId xmlns:a16="http://schemas.microsoft.com/office/drawing/2014/main" id="{DE88C577-ED78-49AD-B1A6-A2BDCF98A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B65F49"/>
                </a:solidFill>
              </a:defRPr>
            </a:pPr>
            <a:r>
              <a:rPr sz="900" b="1" i="0">
                <a:solidFill>
                  <a:srgbClr val="B65F49"/>
                </a:solidFill>
              </a:rPr>
              <a:t>YEAR 11 DESIGN &amp; TECHNOLOGY  ·  MODULE 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559A2E-B467-4A1B-ACAC-319B32588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2C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4CD8FA-7569-456F-874B-F8E084F3F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C6963"/>
                </a:solidFill>
              </a:defRPr>
            </a:pPr>
            <a:r>
              <a:rPr sz="750" b="0" i="0">
                <a:solidFill>
                  <a:srgbClr val="5C6963"/>
                </a:solidFill>
              </a:rPr>
              <a:t>Year 11 Preliminary · Term 2 · Weeks 11–12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195EB2-81A5-4028-AAF7-19FA6C9BA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5C6963"/>
                </a:solidFill>
              </a:defRPr>
            </a:pPr>
            <a:r>
              <a:rPr sz="750" b="1" i="0">
                <a:solidFill>
                  <a:srgbClr val="5C6963"/>
                </a:solidFill>
              </a:rPr>
              <a:t>03</a:t>
            </a:r>
          </a:p>
        </p:txBody>
      </p:sp>
      <p:sp>
        <p:nvSpPr>
          <p:cNvPr id="5" name="section-1-title">
            <a:extLst xmlns:a="http://schemas.openxmlformats.org/drawingml/2006/main">
              <a:ext uri="{FF2B5EF4-FFF2-40B4-BE49-F238E27FC236}">
                <a16:creationId xmlns:a16="http://schemas.microsoft.com/office/drawing/2014/main" id="{94681CE1-5A04-4B97-B072-0DB969354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173A32"/>
                </a:solidFill>
              </a:defRPr>
            </a:pPr>
            <a:r>
              <a:rPr sz="2925" b="1" i="0">
                <a:solidFill>
                  <a:srgbClr val="173A32"/>
                </a:solidFill>
              </a:rPr>
              <a:t>Idea-generation techniques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edf82aaa37418a"/>
          <a:srcRect xmlns:a="http://schemas.openxmlformats.org/drawingml/2006/main" l="15683" t="0" r="1568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571625"/>
            <a:ext cx="4762500" cy="3905250"/>
          </a:xfrm>
          <a:prstGeom xmlns:a="http://schemas.openxmlformats.org/drawingml/2006/main" prst="roundRect">
            <a:avLst>
              <a:gd name="adj" fmla="val 3902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5A74A4-90A1-4222-9F79-26D8C8072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57750"/>
            <a:ext cx="43053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7F0E3"/>
          </a:solidFill>
          <a:ln xmlns:a="http://schemas.openxmlformats.org/drawingml/2006/main" w="9525">
            <a:solidFill>
              <a:srgbClr val="F7F0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4A6155-3FD8-4DE8-99B0-F9EB4194B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991100"/>
            <a:ext cx="3952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73A32"/>
                </a:solidFill>
              </a:defRPr>
            </a:pPr>
            <a:r>
              <a:rPr sz="900" b="1" i="0">
                <a:solidFill>
                  <a:srgbClr val="173A32"/>
                </a:solidFill>
              </a:rPr>
              <a:t>LOOK FOR  ·  KEY RELATIONSHIPS AND EVIDENCE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8EC685-26BB-4128-A98D-983A147C7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6859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5F49"/>
          </a:solidFill>
          <a:ln xmlns:a="http://schemas.openxmlformats.org/drawingml/2006/main" w="0">
            <a:solidFill>
              <a:srgbClr val="B65F4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62B5B8-4F61-4FBC-99FD-A4C122BFE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619250"/>
            <a:ext cx="4210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231F"/>
                </a:solidFill>
              </a:defRPr>
            </a:pPr>
            <a:r>
              <a:rPr sz="1350" b="0" i="0">
                <a:solidFill>
                  <a:srgbClr val="18231F"/>
                </a:solidFill>
              </a:rPr>
              <a:t>Early ideation should generate range before ideas are judged against criteria.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0E22FD-0529-4C32-B0A7-90193B3DF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7527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A453"/>
          </a:solidFill>
          <a:ln xmlns:a="http://schemas.openxmlformats.org/drawingml/2006/main" w="0">
            <a:solidFill>
              <a:srgbClr val="D3A45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F70F7E-9755-4D35-96EC-F6ACDC495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686050"/>
            <a:ext cx="4210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231F"/>
                </a:solidFill>
              </a:defRPr>
            </a:pPr>
            <a:r>
              <a:rPr sz="1350" b="0" i="0">
                <a:solidFill>
                  <a:srgbClr val="18231F"/>
                </a:solidFill>
              </a:rPr>
              <a:t>SCAMPER prompts a designer to substitute, combine, adapt, modify, put to another use, eliminate or rearrange features.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13FA63-276B-4308-8EB1-6A7B38A0D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8195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7D69"/>
          </a:solidFill>
          <a:ln xmlns:a="http://schemas.openxmlformats.org/drawingml/2006/main" w="0">
            <a:solidFill>
              <a:srgbClr val="547D6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39B5D7-A070-4625-8570-BD6540508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752850"/>
            <a:ext cx="4210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231F"/>
                </a:solidFill>
              </a:defRPr>
            </a:pPr>
            <a:r>
              <a:rPr sz="1350" b="0" i="0">
                <a:solidFill>
                  <a:srgbClr val="18231F"/>
                </a:solidFill>
              </a:rPr>
              <a:t>A morphological chart separates a problem into functions or features and recombines alternatives.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2E3D68-D2D7-4F83-9BAB-F03134C23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933950"/>
            <a:ext cx="44767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DF3EF"/>
          </a:solidFill>
          <a:ln xmlns:a="http://schemas.openxmlformats.org/drawingml/2006/main" w="9525">
            <a:solidFill>
              <a:srgbClr val="EDF3E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F9B743-7943-4471-94A3-5D573156C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04825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73A32"/>
                </a:solidFill>
              </a:defRPr>
            </a:pPr>
            <a:r>
              <a:rPr sz="1050" b="1" i="0">
                <a:solidFill>
                  <a:srgbClr val="173A32"/>
                </a:solidFill>
              </a:rPr>
              <a:t>EVIDENCE PROMPT  ·  A group keeps generating variations of the same utensil holder. What is the best next action?</a:t>
            </a:r>
          </a:p>
        </p:txBody>
      </p:sp>
    </p:spTree>
    <p:extLst>
      <p:ext uri="{BB962C8B-B14F-4D97-AF65-F5344CB8AC3E}">
        <p14:creationId xmlns:p14="http://schemas.microsoft.com/office/powerpoint/2010/main" val="170656512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header-4">
            <a:extLst xmlns:a="http://schemas.openxmlformats.org/drawingml/2006/main">
              <a:ext uri="{FF2B5EF4-FFF2-40B4-BE49-F238E27FC236}">
                <a16:creationId xmlns:a16="http://schemas.microsoft.com/office/drawing/2014/main" id="{FF79726D-D6C0-46FF-A0C4-CF2455FAB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B65F49"/>
                </a:solidFill>
              </a:defRPr>
            </a:pPr>
            <a:r>
              <a:rPr sz="900" b="1" i="0">
                <a:solidFill>
                  <a:srgbClr val="B65F49"/>
                </a:solidFill>
              </a:rPr>
              <a:t>YEAR 11 DESIGN &amp; TECHNOLOGY  ·  MODULE 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8E7EBF-E529-447C-B2CF-9AC24AF0E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2C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CF3311-2AE9-4452-9682-A5D761E3B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C6963"/>
                </a:solidFill>
              </a:defRPr>
            </a:pPr>
            <a:r>
              <a:rPr sz="750" b="0" i="0">
                <a:solidFill>
                  <a:srgbClr val="5C6963"/>
                </a:solidFill>
              </a:rPr>
              <a:t>Year 11 Preliminary · Term 2 · Weeks 11–12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9D4A88-20BD-41FC-B268-038F96D84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5C6963"/>
                </a:solidFill>
              </a:defRPr>
            </a:pPr>
            <a:r>
              <a:rPr sz="750" b="1" i="0">
                <a:solidFill>
                  <a:srgbClr val="5C6963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4B942E-0B5F-4DBF-A9D8-376EE6DA4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173A32"/>
                </a:solidFill>
              </a:defRPr>
            </a:pPr>
            <a:r>
              <a:rPr sz="2925" b="1" i="0">
                <a:solidFill>
                  <a:srgbClr val="173A32"/>
                </a:solidFill>
              </a:rPr>
              <a:t>Six Thinking Hats and collaboration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382B2D-A5FE-40EE-99A6-55A89788E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C6963"/>
                </a:solidFill>
              </a:defRPr>
            </a:pPr>
            <a:r>
              <a:rPr sz="1350" b="0" i="0">
                <a:solidFill>
                  <a:srgbClr val="5C6963"/>
                </a:solidFill>
              </a:rPr>
              <a:t>Use parallel-thinking roles and clear team responsibilities to improve collaborative decisions.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5A7617-8EE8-43CC-877F-68B454D2C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76225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D9D2C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B2F573-96DC-48D7-B070-925B99F8D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76225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D9D2C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3C8D2F-C251-4E06-9D7F-E4E485846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95500"/>
            <a:ext cx="1714500" cy="1333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5F49"/>
          </a:solidFill>
          <a:ln xmlns:a="http://schemas.openxmlformats.org/drawingml/2006/main" w="0">
            <a:solidFill>
              <a:srgbClr val="B65F4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624C65-BC08-4EFD-AEBC-E8E0973A1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571750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EVIDENCE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7BAAFC-7227-4207-B904-B4CCE8ABE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38550"/>
            <a:ext cx="27432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8231F"/>
                </a:solidFill>
              </a:defRPr>
            </a:pPr>
            <a:r>
              <a:rPr sz="1200" b="0" i="0">
                <a:solidFill>
                  <a:srgbClr val="18231F"/>
                </a:solidFill>
              </a:rPr>
              <a:t>The White Hat focuses on known information, evidence gaps and facts that need verification.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7D47B3-0335-4314-83D3-EF0426327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95500"/>
            <a:ext cx="1714500" cy="1333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A453"/>
          </a:solidFill>
          <a:ln xmlns:a="http://schemas.openxmlformats.org/drawingml/2006/main" w="0">
            <a:solidFill>
              <a:srgbClr val="D3A45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1A75CE-3D00-4A11-9007-CB4EC4136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571750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POSSIBILITIES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F1AEB1-CCED-43F7-90FA-F5969153A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638550"/>
            <a:ext cx="27432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8231F"/>
                </a:solidFill>
              </a:defRPr>
            </a:pPr>
            <a:r>
              <a:rPr sz="1200" b="0" i="0">
                <a:solidFill>
                  <a:srgbClr val="18231F"/>
                </a:solidFill>
              </a:rPr>
              <a:t>The Red, Black, Yellow and Green Hats deliberately examine feelings, cautions, benefits and possibilities.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839088-BD9A-4865-B3DB-E0B549290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95500"/>
            <a:ext cx="1714500" cy="1333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7D69"/>
          </a:solidFill>
          <a:ln xmlns:a="http://schemas.openxmlformats.org/drawingml/2006/main" w="0">
            <a:solidFill>
              <a:srgbClr val="547D6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64A542-668D-438C-8DDB-2C497E91F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571750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PROCESS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1C23EE-6586-475A-954B-9974345EB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638550"/>
            <a:ext cx="27432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8231F"/>
                </a:solidFill>
              </a:defRPr>
            </a:pPr>
            <a:r>
              <a:rPr sz="1200" b="0" i="0">
                <a:solidFill>
                  <a:srgbClr val="18231F"/>
                </a:solidFill>
              </a:rPr>
              <a:t>The Blue Hat manages the process, roles, sequence and decision record.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4EA378-3AD3-4406-A164-95FFB00EE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95875"/>
            <a:ext cx="9334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DF3EF"/>
          </a:solidFill>
          <a:ln xmlns:a="http://schemas.openxmlformats.org/drawingml/2006/main" w="9525">
            <a:solidFill>
              <a:srgbClr val="EDF3E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F1B122-117C-4A3F-8929-749701A8B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257800"/>
            <a:ext cx="876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73A32"/>
                </a:solidFill>
              </a:defRPr>
            </a:pPr>
            <a:r>
              <a:rPr sz="1125" b="1" i="0">
                <a:solidFill>
                  <a:srgbClr val="173A32"/>
                </a:solidFill>
              </a:rPr>
              <a:t>EVIDENCE PROMPT  ·  During a Six Hats session, the group jumps between facts, objections and ideas and no decision is recorded. What should the Blue Hat do?</a:t>
            </a:r>
          </a:p>
        </p:txBody>
      </p:sp>
    </p:spTree>
    <p:extLst>
      <p:ext uri="{BB962C8B-B14F-4D97-AF65-F5344CB8AC3E}">
        <p14:creationId xmlns:p14="http://schemas.microsoft.com/office/powerpoint/2010/main" val="87953430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header-5">
            <a:extLst xmlns:a="http://schemas.openxmlformats.org/drawingml/2006/main">
              <a:ext uri="{FF2B5EF4-FFF2-40B4-BE49-F238E27FC236}">
                <a16:creationId xmlns:a16="http://schemas.microsoft.com/office/drawing/2014/main" id="{213368D5-27F6-49B2-B4B8-6E3E1A658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B65F49"/>
                </a:solidFill>
              </a:defRPr>
            </a:pPr>
            <a:r>
              <a:rPr sz="900" b="1" i="0">
                <a:solidFill>
                  <a:srgbClr val="B65F49"/>
                </a:solidFill>
              </a:rPr>
              <a:t>YEAR 11 DESIGN &amp; TECHNOLOGY  ·  MODULE 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792BCC-4370-4B60-B0FA-1ECA49DC7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2C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10FAB8-C98F-4CCC-859A-E68B98EBB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C6963"/>
                </a:solidFill>
              </a:defRPr>
            </a:pPr>
            <a:r>
              <a:rPr sz="750" b="0" i="0">
                <a:solidFill>
                  <a:srgbClr val="5C6963"/>
                </a:solidFill>
              </a:rPr>
              <a:t>Year 11 Preliminary · Term 2 · Weeks 11–12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0AFBC8-11C7-4569-AA7E-B5E549B75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5C6963"/>
                </a:solidFill>
              </a:defRPr>
            </a:pPr>
            <a:r>
              <a:rPr sz="750" b="1" i="0">
                <a:solidFill>
                  <a:srgbClr val="5C6963"/>
                </a:solidFill>
              </a:rPr>
              <a:t>05</a:t>
            </a:r>
          </a:p>
        </p:txBody>
      </p:sp>
      <p:sp>
        <p:nvSpPr>
          <p:cNvPr id="5" name="section-3-title">
            <a:extLst xmlns:a="http://schemas.openxmlformats.org/drawingml/2006/main">
              <a:ext uri="{FF2B5EF4-FFF2-40B4-BE49-F238E27FC236}">
                <a16:creationId xmlns:a16="http://schemas.microsoft.com/office/drawing/2014/main" id="{F645FBEF-11A5-42AD-A27B-EDFAC087A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173A32"/>
                </a:solidFill>
              </a:defRPr>
            </a:pPr>
            <a:r>
              <a:rPr sz="2925" b="1" i="0">
                <a:solidFill>
                  <a:srgbClr val="173A32"/>
                </a:solidFill>
              </a:rPr>
              <a:t>Selecting and justifying concepts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df15cbf6f54c09"/>
          <a:srcRect xmlns:a="http://schemas.openxmlformats.org/drawingml/2006/main" l="15683" t="0" r="1568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571625"/>
            <a:ext cx="4762500" cy="3905250"/>
          </a:xfrm>
          <a:prstGeom xmlns:a="http://schemas.openxmlformats.org/drawingml/2006/main" prst="roundRect">
            <a:avLst>
              <a:gd name="adj" fmla="val 3902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A3A423-FA6C-44FF-B133-0D550ED54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57750"/>
            <a:ext cx="43053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7F0E3"/>
          </a:solidFill>
          <a:ln xmlns:a="http://schemas.openxmlformats.org/drawingml/2006/main" w="9525">
            <a:solidFill>
              <a:srgbClr val="F7F0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CD8353-5A03-42EF-A3C0-065652859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991100"/>
            <a:ext cx="3952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73A32"/>
                </a:solidFill>
              </a:defRPr>
            </a:pPr>
            <a:r>
              <a:rPr sz="900" b="1" i="0">
                <a:solidFill>
                  <a:srgbClr val="173A32"/>
                </a:solidFill>
              </a:rPr>
              <a:t>LOOK FOR  ·  KEY RELATIONSHIPS AND EVIDENCE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BE6AB2-5A75-4F49-A2ED-44F065AF8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6859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5F49"/>
          </a:solidFill>
          <a:ln xmlns:a="http://schemas.openxmlformats.org/drawingml/2006/main" w="0">
            <a:solidFill>
              <a:srgbClr val="B65F4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B09EA0-589C-4831-B8B8-BFA1D2790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619250"/>
            <a:ext cx="4210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231F"/>
                </a:solidFill>
              </a:defRPr>
            </a:pPr>
            <a:r>
              <a:rPr sz="1350" b="0" i="0">
                <a:solidFill>
                  <a:srgbClr val="18231F"/>
                </a:solidFill>
              </a:rPr>
              <a:t>Criteria should come from the brief, research, users, safety, resources and intended performance.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AE9408-1D9B-48C4-A92F-8FEEBD434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7527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A453"/>
          </a:solidFill>
          <a:ln xmlns:a="http://schemas.openxmlformats.org/drawingml/2006/main" w="0">
            <a:solidFill>
              <a:srgbClr val="D3A45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12A52A-23D3-4ECA-BCA6-7D60ECE52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686050"/>
            <a:ext cx="4210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231F"/>
                </a:solidFill>
              </a:defRPr>
            </a:pPr>
            <a:r>
              <a:rPr sz="1350" b="0" i="0">
                <a:solidFill>
                  <a:srgbClr val="18231F"/>
                </a:solidFill>
              </a:rPr>
              <a:t>A weighted decision matrix can organise comparison but the weighting and scores still require justification.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2316D2-EAD1-4219-B3A1-066C9D187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8195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7D69"/>
          </a:solidFill>
          <a:ln xmlns:a="http://schemas.openxmlformats.org/drawingml/2006/main" w="0">
            <a:solidFill>
              <a:srgbClr val="547D6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5D50B6-7764-43BC-9683-1CAF100F5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752850"/>
            <a:ext cx="4210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231F"/>
                </a:solidFill>
              </a:defRPr>
            </a:pPr>
            <a:r>
              <a:rPr sz="1350" b="0" i="0">
                <a:solidFill>
                  <a:srgbClr val="18231F"/>
                </a:solidFill>
              </a:rPr>
              <a:t>A concept may be modified or combined before final selection when comparison reveals strengths worth retaining.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CBF8EF-098B-4F48-8628-06242C356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933950"/>
            <a:ext cx="44767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DF3EF"/>
          </a:solidFill>
          <a:ln xmlns:a="http://schemas.openxmlformats.org/drawingml/2006/main" w="9525">
            <a:solidFill>
              <a:srgbClr val="EDF3E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AC6590-A71B-4F9F-A731-7914E466C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04825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73A32"/>
                </a:solidFill>
              </a:defRPr>
            </a:pPr>
            <a:r>
              <a:rPr sz="1050" b="1" i="0">
                <a:solidFill>
                  <a:srgbClr val="173A32"/>
                </a:solidFill>
              </a:rPr>
              <a:t>EVIDENCE PROMPT  ·  A concept scores highly for appearance but poorly for stability and print time. What should the team do?</a:t>
            </a:r>
          </a:p>
        </p:txBody>
      </p:sp>
    </p:spTree>
    <p:extLst>
      <p:ext uri="{BB962C8B-B14F-4D97-AF65-F5344CB8AC3E}">
        <p14:creationId xmlns:p14="http://schemas.microsoft.com/office/powerpoint/2010/main" val="84659091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0E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header-6">
            <a:extLst xmlns:a="http://schemas.openxmlformats.org/drawingml/2006/main">
              <a:ext uri="{FF2B5EF4-FFF2-40B4-BE49-F238E27FC236}">
                <a16:creationId xmlns:a16="http://schemas.microsoft.com/office/drawing/2014/main" id="{78BDEA20-B1C2-447A-B362-72D84765F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B65F49"/>
                </a:solidFill>
              </a:defRPr>
            </a:pPr>
            <a:r>
              <a:rPr sz="900" b="1" i="0">
                <a:solidFill>
                  <a:srgbClr val="B65F49"/>
                </a:solidFill>
              </a:rPr>
              <a:t>YEAR 11 DESIGN &amp; TECHNOLOGY  ·  MODULE 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9BA670-1EFC-41B5-96FC-BE0132D2A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2C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78E6F0-9E25-447A-A37C-EE8C48BD4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C6963"/>
                </a:solidFill>
              </a:defRPr>
            </a:pPr>
            <a:r>
              <a:rPr sz="750" b="0" i="0">
                <a:solidFill>
                  <a:srgbClr val="5C6963"/>
                </a:solidFill>
              </a:rPr>
              <a:t>Year 11 Preliminary · Term 2 · Weeks 11–12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20DEDC-4614-454C-8F29-C10CE168C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5C6963"/>
                </a:solidFill>
              </a:defRPr>
            </a:pPr>
            <a:r>
              <a:rPr sz="750" b="1" i="0">
                <a:solidFill>
                  <a:srgbClr val="5C6963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4260FB-AA6E-4AD6-8749-D4E30BFC5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857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73A32"/>
                </a:solidFill>
              </a:defRPr>
            </a:pPr>
            <a:r>
              <a:rPr sz="3000" b="1" i="0">
                <a:solidFill>
                  <a:srgbClr val="173A32"/>
                </a:solidFill>
              </a:rPr>
              <a:t>Retrieve first; then check and improve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CC28C0-9E0F-4D8B-8D1F-27A4412DB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742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315A4D"/>
                </a:solidFill>
              </a:defRPr>
            </a:pPr>
            <a:r>
              <a:rPr sz="1275" b="0" i="0">
                <a:solidFill>
                  <a:srgbClr val="315A4D"/>
                </a:solidFill>
              </a:rPr>
              <a:t>Answer without notes. Use one precise sentence for each check.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6AE663-E8EA-4A4C-9D91-AB4F6A1FE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533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B65F49"/>
                </a:solidFill>
              </a:defRPr>
            </a:pPr>
            <a:r>
              <a:rPr sz="1800" b="1" i="0">
                <a:solidFill>
                  <a:srgbClr val="B65F49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341576-78B9-40B7-AA98-C939F790F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752600"/>
            <a:ext cx="666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73A32"/>
                </a:solidFill>
              </a:defRPr>
            </a:pPr>
            <a:r>
              <a:rPr sz="1350" b="1" i="0">
                <a:solidFill>
                  <a:srgbClr val="173A32"/>
                </a:solidFill>
              </a:rPr>
              <a:t>A group keeps generating variations of the same utensil holder. What is the best next action?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9B52EF-329A-40DF-BCE8-01420D4A8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86050"/>
            <a:ext cx="6667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2C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23A72D-4037-416F-B344-BB9F7E751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533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D3A453"/>
                </a:solidFill>
              </a:defRPr>
            </a:pPr>
            <a:r>
              <a:rPr sz="1800" b="1" i="0">
                <a:solidFill>
                  <a:srgbClr val="D3A453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3488C1-12F1-4ACE-ABF8-E0FE59C07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05150"/>
            <a:ext cx="666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73A32"/>
                </a:solidFill>
              </a:defRPr>
            </a:pPr>
            <a:r>
              <a:rPr sz="1350" b="1" i="0">
                <a:solidFill>
                  <a:srgbClr val="173A32"/>
                </a:solidFill>
              </a:rPr>
              <a:t>During a Six Hats session, the group jumps between facts, objections and ideas and no decision is recorded. What should the Blue Hat do?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880AFC-8F9E-431A-8B18-C1D62A1BC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38600"/>
            <a:ext cx="6667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2C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6D4A51-8F01-4DC2-9562-63F63EC99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533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547D69"/>
                </a:solidFill>
              </a:defRPr>
            </a:pPr>
            <a:r>
              <a:rPr sz="1800" b="1" i="0">
                <a:solidFill>
                  <a:srgbClr val="547D69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859926-D5B0-467A-92B2-80917166E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57700"/>
            <a:ext cx="666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73A32"/>
                </a:solidFill>
              </a:defRPr>
            </a:pPr>
            <a:r>
              <a:rPr sz="1350" b="1" i="0">
                <a:solidFill>
                  <a:srgbClr val="173A32"/>
                </a:solidFill>
              </a:rPr>
              <a:t>A concept scores highly for appearance but poorly for stability and print time. What should the team do?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1D6604-841F-4A8D-AD27-38DFF25BD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391150"/>
            <a:ext cx="6667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2C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9D1DD1-4792-45B3-9380-2C0783349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562100"/>
            <a:ext cx="2838450" cy="4095750"/>
          </a:xfrm>
          <a:prstGeom xmlns:a="http://schemas.openxmlformats.org/drawingml/2006/main" prst="roundRect">
            <a:avLst>
              <a:gd name="adj" fmla="val 5369"/>
            </a:avLst>
          </a:prstGeom>
          <a:solidFill xmlns:a="http://schemas.openxmlformats.org/drawingml/2006/main">
            <a:srgbClr val="173A32"/>
          </a:solidFill>
          <a:ln xmlns:a="http://schemas.openxmlformats.org/drawingml/2006/main" w="9525">
            <a:solidFill>
              <a:srgbClr val="173A3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D40B2C-61A6-4918-ADB6-1AEB514A7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885950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FFFFFF"/>
                </a:solidFill>
              </a:defRPr>
            </a:pPr>
            <a:r>
              <a:rPr sz="2100" b="1" i="0">
                <a:solidFill>
                  <a:srgbClr val="FFFFFF"/>
                </a:solidFill>
              </a:rPr>
              <a:t>A calm checking cycle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269070-E847-46A1-81A9-9850750F5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800350"/>
            <a:ext cx="2152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0CF8E"/>
                </a:solidFill>
              </a:defRPr>
            </a:pPr>
            <a:r>
              <a:rPr sz="1200" b="1" i="0">
                <a:solidFill>
                  <a:srgbClr val="F0CF8E"/>
                </a:solidFill>
              </a:rPr>
              <a:t>1  Recall from memory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625328-DCFB-4DE0-BA92-CCCBAB9EB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429000"/>
            <a:ext cx="2152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FFFFFF"/>
                </a:solidFill>
              </a:defRPr>
            </a:pPr>
            <a:r>
              <a:rPr sz="1200" b="0" i="0">
                <a:solidFill>
                  <a:srgbClr val="FFFFFF"/>
                </a:solidFill>
              </a:rPr>
              <a:t>2  Check the matching section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4694DF-09EE-4C25-992A-FA06B98F4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057650"/>
            <a:ext cx="2152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FFFFFF"/>
                </a:solidFill>
              </a:defRPr>
            </a:pPr>
            <a:r>
              <a:rPr sz="1200" b="0" i="0">
                <a:solidFill>
                  <a:srgbClr val="FFFFFF"/>
                </a:solidFill>
              </a:rPr>
              <a:t>3  Repair the reason, not just the word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7568AB-793D-41C3-AA52-BB2642245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686300"/>
            <a:ext cx="2152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FFFFFF"/>
                </a:solidFill>
              </a:defRPr>
            </a:pPr>
            <a:r>
              <a:rPr sz="1200" b="0" i="0">
                <a:solidFill>
                  <a:srgbClr val="FFFFFF"/>
                </a:solidFill>
              </a:rPr>
              <a:t>4  Try the question again</a:t>
            </a:r>
          </a:p>
        </p:txBody>
      </p:sp>
    </p:spTree>
    <p:extLst>
      <p:ext uri="{BB962C8B-B14F-4D97-AF65-F5344CB8AC3E}">
        <p14:creationId xmlns:p14="http://schemas.microsoft.com/office/powerpoint/2010/main" val="76768392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header-7">
            <a:extLst xmlns:a="http://schemas.openxmlformats.org/drawingml/2006/main">
              <a:ext uri="{FF2B5EF4-FFF2-40B4-BE49-F238E27FC236}">
                <a16:creationId xmlns:a16="http://schemas.microsoft.com/office/drawing/2014/main" id="{52A6A979-B246-4B55-A18C-EFAE58D9C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B65F49"/>
                </a:solidFill>
              </a:defRPr>
            </a:pPr>
            <a:r>
              <a:rPr sz="900" b="1" i="0">
                <a:solidFill>
                  <a:srgbClr val="B65F49"/>
                </a:solidFill>
              </a:rPr>
              <a:t>YEAR 11 DESIGN &amp; TECHNOLOGY  ·  MODULE 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06537C-7EB1-4D06-9A54-932D168D7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2C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276A14-F7E8-44A9-A553-E84882485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C6963"/>
                </a:solidFill>
              </a:defRPr>
            </a:pPr>
            <a:r>
              <a:rPr sz="750" b="0" i="0">
                <a:solidFill>
                  <a:srgbClr val="5C6963"/>
                </a:solidFill>
              </a:rPr>
              <a:t>Year 11 Preliminary · Term 2 · Weeks 11–12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FD75F1-4FD0-4B54-8F6E-C3FBBA3B4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5C6963"/>
                </a:solidFill>
              </a:defRPr>
            </a:pPr>
            <a:r>
              <a:rPr sz="750" b="1" i="0">
                <a:solidFill>
                  <a:srgbClr val="5C6963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3EF1EC-6F5A-4728-ACE9-11B3D6167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73A32"/>
                </a:solidFill>
              </a:defRPr>
            </a:pPr>
            <a:r>
              <a:rPr sz="3000" b="1" i="0">
                <a:solidFill>
                  <a:srgbClr val="173A32"/>
                </a:solidFill>
              </a:rPr>
              <a:t>Construct evidence that makes reasoning visible</a:t>
            </a:r>
          </a:p>
        </p:txBody>
      </p:sp>
      <p:sp>
        <p:nvSpPr>
          <p:cNvPr id="6" name="evidence-prompt">
            <a:extLst xmlns:a="http://schemas.openxmlformats.org/drawingml/2006/main">
              <a:ext uri="{FF2B5EF4-FFF2-40B4-BE49-F238E27FC236}">
                <a16:creationId xmlns:a16="http://schemas.microsoft.com/office/drawing/2014/main" id="{EA96AE7B-E0A8-461D-A783-5DF7E3BBF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6191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73A32"/>
                </a:solidFill>
              </a:defRPr>
            </a:pPr>
            <a:r>
              <a:rPr sz="1875" b="1" i="0">
                <a:solidFill>
                  <a:srgbClr val="173A32"/>
                </a:solidFill>
              </a:rPr>
              <a:t>Run and document a Six Thinking Hats session that produces several feasible Kitchen Companion directions.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4C5955-34D6-4212-9046-AD955C643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619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8231F"/>
                </a:solidFill>
              </a:defRPr>
            </a:pPr>
            <a:r>
              <a:rPr sz="1425" b="0" i="0">
                <a:solidFill>
                  <a:srgbClr val="18231F"/>
                </a:solidFill>
              </a:rPr>
              <a:t>• Name the user, context or design issue.</a:t>
            </a:r>
          </a:p>
          <a:p xmlns:a="http://schemas.openxmlformats.org/drawingml/2006/main">
            <a:pPr algn="l">
              <a:defRPr sz="1425" b="0" i="0">
                <a:solidFill>
                  <a:srgbClr val="18231F"/>
                </a:solidFill>
              </a:defRPr>
            </a:pPr>
            <a:r>
              <a:rPr sz="1425" b="0" i="0">
                <a:solidFill>
                  <a:srgbClr val="18231F"/>
                </a:solidFill>
              </a:rPr>
              <a:t>• Select one relevant principle from this module.</a:t>
            </a:r>
          </a:p>
          <a:p xmlns:a="http://schemas.openxmlformats.org/drawingml/2006/main">
            <a:pPr algn="l">
              <a:defRPr sz="1425" b="0" i="0">
                <a:solidFill>
                  <a:srgbClr val="18231F"/>
                </a:solidFill>
              </a:defRPr>
            </a:pPr>
            <a:r>
              <a:rPr sz="1425" b="0" i="0">
                <a:solidFill>
                  <a:srgbClr val="18231F"/>
                </a:solidFill>
              </a:rPr>
              <a:t>• Explain how the evidence changes a decision.</a:t>
            </a:r>
          </a:p>
          <a:p xmlns:a="http://schemas.openxmlformats.org/drawingml/2006/main">
            <a:pPr algn="l">
              <a:defRPr sz="1425" b="0" i="0">
                <a:solidFill>
                  <a:srgbClr val="18231F"/>
                </a:solidFill>
              </a:defRPr>
            </a:pPr>
            <a:r>
              <a:rPr sz="1425" b="0" i="0">
                <a:solidFill>
                  <a:srgbClr val="18231F"/>
                </a:solidFill>
              </a:rPr>
              <a:t>• Check the decision against the need, criteria or source.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0F5034-7866-48E4-8289-CEC0C6FF1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29200"/>
            <a:ext cx="61912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3D7"/>
          </a:solidFill>
          <a:ln xmlns:a="http://schemas.openxmlformats.org/drawingml/2006/main" w="9525">
            <a:solidFill>
              <a:srgbClr val="FFF3D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B6DE7F-B3A3-4B55-A7ED-3D75B99AB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57800"/>
            <a:ext cx="5772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73A32"/>
                </a:solidFill>
              </a:defRPr>
            </a:pPr>
            <a:r>
              <a:rPr sz="1200" b="1" i="0">
                <a:solidFill>
                  <a:srgbClr val="173A32"/>
                </a:solidFill>
              </a:rPr>
              <a:t>SENTENCE SUPPORT  ·  The evidence shows … This matters because … Therefore I would 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9F0CF0-B0AC-4426-9737-B8FECC3C9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905000"/>
            <a:ext cx="0" cy="3143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D9D2C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EDD291-D4B7-422E-A546-291E1280F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5621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A453"/>
          </a:solidFill>
          <a:ln xmlns:a="http://schemas.openxmlformats.org/drawingml/2006/main" w="0">
            <a:solidFill>
              <a:srgbClr val="D3A45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050B40-15EE-409C-B433-3CAA27EEE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5430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73A32"/>
                </a:solidFill>
              </a:defRPr>
            </a:pPr>
            <a:r>
              <a:rPr sz="1275" b="1" i="0">
                <a:solidFill>
                  <a:srgbClr val="173A32"/>
                </a:solidFill>
              </a:rPr>
              <a:t>READ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E502CD-7C14-41B9-8028-9ECA1568B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82880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C6963"/>
                </a:solidFill>
              </a:defRPr>
            </a:pPr>
            <a:r>
              <a:rPr sz="1125" b="0" i="0">
                <a:solidFill>
                  <a:srgbClr val="5C6963"/>
                </a:solidFill>
              </a:rPr>
              <a:t>Identify the design question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78B732-E9D6-4238-9CBD-27E5BBA8D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5908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5F49"/>
          </a:solidFill>
          <a:ln xmlns:a="http://schemas.openxmlformats.org/drawingml/2006/main" w="0">
            <a:solidFill>
              <a:srgbClr val="B65F4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2C2A75-F2EA-4081-9662-F3869F5F6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5717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73A32"/>
                </a:solidFill>
              </a:defRPr>
            </a:pPr>
            <a:r>
              <a:rPr sz="1275" b="1" i="0">
                <a:solidFill>
                  <a:srgbClr val="173A32"/>
                </a:solidFill>
              </a:rPr>
              <a:t>SELECT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646762-7CF9-47E7-8EFD-694DAC232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85750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C6963"/>
                </a:solidFill>
              </a:defRPr>
            </a:pPr>
            <a:r>
              <a:rPr sz="1125" b="0" i="0">
                <a:solidFill>
                  <a:srgbClr val="5C6963"/>
                </a:solidFill>
              </a:rPr>
              <a:t>Choose relevant evidence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A0B632-F531-4252-9FA2-46F2158CB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6195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A453"/>
          </a:solidFill>
          <a:ln xmlns:a="http://schemas.openxmlformats.org/drawingml/2006/main" w="0">
            <a:solidFill>
              <a:srgbClr val="D3A45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6968C2-E314-425C-801E-5EFF99350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6004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73A32"/>
                </a:solidFill>
              </a:defRPr>
            </a:pPr>
            <a:r>
              <a:rPr sz="1275" b="1" i="0">
                <a:solidFill>
                  <a:srgbClr val="173A32"/>
                </a:solidFill>
              </a:rPr>
              <a:t>EXPLAIN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59161C-4A0C-42A7-A757-881AD7C6F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88620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C6963"/>
                </a:solidFill>
              </a:defRPr>
            </a:pPr>
            <a:r>
              <a:rPr sz="1125" b="0" i="0">
                <a:solidFill>
                  <a:srgbClr val="5C6963"/>
                </a:solidFill>
              </a:rPr>
              <a:t>Connect evidence to the decision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E6FBC0-5BCF-407E-8E86-15C859722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648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7D69"/>
          </a:solidFill>
          <a:ln xmlns:a="http://schemas.openxmlformats.org/drawingml/2006/main" w="0">
            <a:solidFill>
              <a:srgbClr val="547D6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389EF5-671A-4532-A32F-0C3BE5B90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6291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73A32"/>
                </a:solidFill>
              </a:defRPr>
            </a:pPr>
            <a:r>
              <a:rPr sz="1275" b="1" i="0">
                <a:solidFill>
                  <a:srgbClr val="173A32"/>
                </a:solidFill>
              </a:rPr>
              <a:t>CHECK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714903-B78E-4127-A0FC-25B4417AA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91490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C6963"/>
                </a:solidFill>
              </a:defRPr>
            </a:pPr>
            <a:r>
              <a:rPr sz="1125" b="0" i="0">
                <a:solidFill>
                  <a:srgbClr val="5C6963"/>
                </a:solidFill>
              </a:rPr>
              <a:t>Test against the requirement</a:t>
            </a:r>
          </a:p>
        </p:txBody>
      </p:sp>
    </p:spTree>
    <p:extLst>
      <p:ext uri="{BB962C8B-B14F-4D97-AF65-F5344CB8AC3E}">
        <p14:creationId xmlns:p14="http://schemas.microsoft.com/office/powerpoint/2010/main" val="628435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73A3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header-8">
            <a:extLst xmlns:a="http://schemas.openxmlformats.org/drawingml/2006/main">
              <a:ext uri="{FF2B5EF4-FFF2-40B4-BE49-F238E27FC236}">
                <a16:creationId xmlns:a16="http://schemas.microsoft.com/office/drawing/2014/main" id="{8353A98E-0D03-4101-9D32-5624ADD99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0CF8E"/>
                </a:solidFill>
              </a:defRPr>
            </a:pPr>
            <a:r>
              <a:rPr sz="900" b="1" i="0">
                <a:solidFill>
                  <a:srgbClr val="F0CF8E"/>
                </a:solidFill>
              </a:rPr>
              <a:t>YEAR 11 DESIGN &amp; TECHNOLOGY  ·  MODULE 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F741B7-7025-4CBE-8EE4-C7876CD98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1665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506AC5-C3C2-454B-AB13-0FF865429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C8D8D2"/>
                </a:solidFill>
              </a:defRPr>
            </a:pPr>
            <a:r>
              <a:rPr sz="750" b="0" i="0">
                <a:solidFill>
                  <a:srgbClr val="C8D8D2"/>
                </a:solidFill>
              </a:rPr>
              <a:t>Year 11 Preliminary · Term 2 · Weeks 11–12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058DD4-FB5F-42F8-A1BA-4C77B69AA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C8D8D2"/>
                </a:solidFill>
              </a:defRPr>
            </a:pPr>
            <a:r>
              <a:rPr sz="750" b="1" i="0">
                <a:solidFill>
                  <a:srgbClr val="C8D8D2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DF5B56-F61C-4084-897C-BA866E01B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04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FFFFFF"/>
                </a:solidFill>
              </a:defRPr>
            </a:pPr>
            <a:r>
              <a:rPr sz="3450" b="1" i="0">
                <a:solidFill>
                  <a:srgbClr val="FFFFFF"/>
                </a:solidFill>
              </a:rPr>
              <a:t>Leave with evidence, not just notes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591995-0BC4-4E55-BAC6-6F101504F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952625"/>
            <a:ext cx="76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D3A453"/>
                </a:solidFill>
              </a:defRPr>
            </a:pPr>
            <a:r>
              <a:rPr sz="2400" b="1" i="0">
                <a:solidFill>
                  <a:srgbClr val="D3A453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E2A0CB-DB94-4B8A-A1B6-527EE4451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5717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RECALL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380079-E0BC-41F5-B324-FC1075688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048000"/>
            <a:ext cx="2762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FFFFF"/>
                </a:solidFill>
              </a:defRPr>
            </a:pPr>
            <a:r>
              <a:rPr sz="1425" b="1" i="0">
                <a:solidFill>
                  <a:srgbClr val="FFFFFF"/>
                </a:solidFill>
              </a:rPr>
              <a:t>One idea I can now explain accurately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24BB83-5396-4ED2-902B-41280E84B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952625"/>
            <a:ext cx="76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D3A453"/>
                </a:solidFill>
              </a:defRPr>
            </a:pPr>
            <a:r>
              <a:rPr sz="2400" b="1" i="0">
                <a:solidFill>
                  <a:srgbClr val="D3A453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F57764-089E-4400-903D-E6A32E1B4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5717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APPLY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82FD5A-B313-4E09-A135-19692BA0E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048000"/>
            <a:ext cx="2762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FFFFF"/>
                </a:solidFill>
              </a:defRPr>
            </a:pPr>
            <a:r>
              <a:rPr sz="1425" b="1" i="0">
                <a:solidFill>
                  <a:srgbClr val="FFFFFF"/>
                </a:solidFill>
              </a:rPr>
              <a:t>One design decision or evidence judgement I can justify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B296AA-FD7B-4E7B-84F4-82ADA07DD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952625"/>
            <a:ext cx="76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D3A453"/>
                </a:solidFill>
              </a:defRPr>
            </a:pPr>
            <a:r>
              <a:rPr sz="2400" b="1" i="0">
                <a:solidFill>
                  <a:srgbClr val="D3A453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3466F3-A4D6-4B64-9A57-A3D08526E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5717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ACT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9CC641-AC9B-4511-AE79-2F888A3EF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048000"/>
            <a:ext cx="2762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FFFFF"/>
                </a:solidFill>
              </a:defRPr>
            </a:pPr>
            <a:r>
              <a:rPr sz="1425" b="1" i="0">
                <a:solidFill>
                  <a:srgbClr val="FFFFFF"/>
                </a:solidFill>
              </a:rPr>
              <a:t>One next action for Kitchen Companion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D7B7EF-18AB-4E56-A123-316AA87A5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19650"/>
            <a:ext cx="99060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3FFB82-8495-48AB-BE15-71C3359D1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105400"/>
            <a:ext cx="914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73A32"/>
                </a:solidFill>
              </a:defRPr>
            </a:pPr>
            <a:r>
              <a:rPr sz="1275" b="1" i="0">
                <a:solidFill>
                  <a:srgbClr val="173A32"/>
                </a:solidFill>
              </a:rPr>
              <a:t>Save a dated response in your module learning record or design folio. Follow teacher directions for any formal submission.</a:t>
            </a:r>
          </a:p>
        </p:txBody>
      </p:sp>
    </p:spTree>
    <p:extLst>
      <p:ext uri="{BB962C8B-B14F-4D97-AF65-F5344CB8AC3E}">
        <p14:creationId xmlns:p14="http://schemas.microsoft.com/office/powerpoint/2010/main" val="147078424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2026-08-31T18:33:44.4310000Z</dcterms:created>
  <dcterms:modified xsi:type="dcterms:W3CDTF">2026-08-31T18:33:44.4310000Z</dcterms:modified>
</coreProperties>
</file>