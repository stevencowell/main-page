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9789aa62214423" /><Relationship Type="http://schemas.openxmlformats.org/officeDocument/2006/relationships/extended-properties" Target="/docProps/app.xml" Id="Rb563588df259436c" /><Relationship Type="http://schemas.openxmlformats.org/officeDocument/2006/relationships/officeDocument" Target="/ppt/presentation.xml" Id="Rafb97af4d14a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20ea4d688a41d1"/>
  </p:sldMasterIdLst>
  <p:notesMasterIdLst>
    <p:notesMasterId xmlns:r="http://schemas.openxmlformats.org/officeDocument/2006/relationships" r:id="R3bb9e9f0b4b441d8"/>
  </p:notesMasterIdLst>
  <p:sldIdLst>
    <p:sldId xmlns:r="http://schemas.openxmlformats.org/officeDocument/2006/relationships" id="256" r:id="R4256624f1d464e9a"/>
    <p:sldId xmlns:r="http://schemas.openxmlformats.org/officeDocument/2006/relationships" id="257" r:id="Rbadaecf0c4e44d03"/>
    <p:sldId xmlns:r="http://schemas.openxmlformats.org/officeDocument/2006/relationships" id="258" r:id="R153e56b99c6842ed"/>
    <p:sldId xmlns:r="http://schemas.openxmlformats.org/officeDocument/2006/relationships" id="259" r:id="Ra9445529e0a34400"/>
    <p:sldId xmlns:r="http://schemas.openxmlformats.org/officeDocument/2006/relationships" id="260" r:id="R6047286c1a984c3b"/>
    <p:sldId xmlns:r="http://schemas.openxmlformats.org/officeDocument/2006/relationships" id="261" r:id="R7bc3a7e01b264700"/>
    <p:sldId xmlns:r="http://schemas.openxmlformats.org/officeDocument/2006/relationships" id="262" r:id="Rf788681b105e4bb7"/>
    <p:sldId xmlns:r="http://schemas.openxmlformats.org/officeDocument/2006/relationships" id="263" r:id="R4bddf316986748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08bfba298a4db1" /><Relationship Type="http://schemas.openxmlformats.org/officeDocument/2006/relationships/slideMaster" Target="/ppt/slideMasters/slideMaster1.xml" Id="R8c20ea4d688a41d1" /><Relationship Type="http://schemas.openxmlformats.org/officeDocument/2006/relationships/notesMaster" Target="/ppt/notesMasters/notesMaster1.xml" Id="R3bb9e9f0b4b441d8" /><Relationship Type="http://schemas.openxmlformats.org/officeDocument/2006/relationships/presProps" Target="/ppt/presProps.xml" Id="Rc9c268efa59b4a58" /><Relationship Type="http://schemas.openxmlformats.org/officeDocument/2006/relationships/tableStyles" Target="/ppt/tableStyles.xml" Id="Rd36e172b12db4c61" /><Relationship Type="http://schemas.openxmlformats.org/officeDocument/2006/relationships/slide" Target="/ppt/slides/slide1.xml" Id="R4256624f1d464e9a" /><Relationship Type="http://schemas.openxmlformats.org/officeDocument/2006/relationships/slide" Target="/ppt/slides/slide2.xml" Id="Rbadaecf0c4e44d03" /><Relationship Type="http://schemas.openxmlformats.org/officeDocument/2006/relationships/slide" Target="/ppt/slides/slide3.xml" Id="R153e56b99c6842ed" /><Relationship Type="http://schemas.openxmlformats.org/officeDocument/2006/relationships/slide" Target="/ppt/slides/slide4.xml" Id="Ra9445529e0a34400" /><Relationship Type="http://schemas.openxmlformats.org/officeDocument/2006/relationships/slide" Target="/ppt/slides/slide5.xml" Id="R6047286c1a984c3b" /><Relationship Type="http://schemas.openxmlformats.org/officeDocument/2006/relationships/slide" Target="/ppt/slides/slide6.xml" Id="R7bc3a7e01b264700" /><Relationship Type="http://schemas.openxmlformats.org/officeDocument/2006/relationships/slide" Target="/ppt/slides/slide7.xml" Id="Rf788681b105e4bb7" /><Relationship Type="http://schemas.openxmlformats.org/officeDocument/2006/relationships/slide" Target="/ppt/slides/slide8.xml" Id="R4bddf316986748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618f76092348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a60613c5343c8" /><Relationship Type="http://schemas.openxmlformats.org/officeDocument/2006/relationships/notesMaster" Target="/ppt/notesMasters/notesMaster1.xml" Id="R80ee237f927b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c937f588274cb1" /><Relationship Type="http://schemas.openxmlformats.org/officeDocument/2006/relationships/notesMaster" Target="/ppt/notesMasters/notesMaster1.xml" Id="Rec667e44f1dc43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f09521eeb945e5" /><Relationship Type="http://schemas.openxmlformats.org/officeDocument/2006/relationships/notesMaster" Target="/ppt/notesMasters/notesMaster1.xml" Id="R6ab0e5b34f5647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5ac0d43713429a" /><Relationship Type="http://schemas.openxmlformats.org/officeDocument/2006/relationships/notesMaster" Target="/ppt/notesMasters/notesMaster1.xml" Id="R253a503c8dd14b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febae5f584f31" /><Relationship Type="http://schemas.openxmlformats.org/officeDocument/2006/relationships/notesMaster" Target="/ppt/notesMasters/notesMaster1.xml" Id="R1c3a0d02d9894f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0208a680a84928" /><Relationship Type="http://schemas.openxmlformats.org/officeDocument/2006/relationships/notesMaster" Target="/ppt/notesMasters/notesMaster1.xml" Id="Rd72378f974964d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7044dc47ad4d50" /><Relationship Type="http://schemas.openxmlformats.org/officeDocument/2006/relationships/notesMaster" Target="/ppt/notesMasters/notesMaster1.xml" Id="R4dcbdcb264494bc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3ab9100794482" /><Relationship Type="http://schemas.openxmlformats.org/officeDocument/2006/relationships/notesMaster" Target="/ppt/notesMasters/notesMaster1.xml" Id="Rced0d04834a04c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Manufacturing, quality and production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Plan and document a controlled production sequence that links workshop decisions to industrial and commercial practice.</a:t>
            </a:r>
          </a:p>
          <a:p xmlns:a="http://schemas.openxmlformats.org/drawingml/2006/main">
            <a:r>
              <a:t>- Name the three learning areas without teaching them yet: Production sequence and quality assurance; Industrial and commercial production links; Recording practical skills and production decisions.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Production sequence and quality assurance: Create a production sequence that controls accuracy, fit, finish and rework before errors compound.</a:t>
            </a:r>
          </a:p>
          <a:p xmlns:a="http://schemas.openxmlformats.org/drawingml/2006/main">
            <a:r>
              <a:t>- 2. Industrial and commercial production links: Relate school project methods to comparable industrial or commercial processes without pretending they are identical.</a:t>
            </a:r>
          </a:p>
          <a:p xmlns:a="http://schemas.openxmlformats.org/drawingml/2006/main">
            <a:r>
              <a:t>- 3. Recording practical skills and production decisions: Create concise folio evidence that demonstrates process, judgement and safe practical skill.</a:t>
            </a:r>
          </a:p>
          <a:p xmlns:a="http://schemas.openxmlformats.org/drawingml/2006/main">
            <a:r>
              <a:t>- Retrieval prompt: Which idea is most likely to change a real design decision in Camping Environment - production and quality,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Production sequence and quality assurance.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assets/module-13-map.svg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Create a production sequence that controls accuracy, fit, finish and rework before errors compound.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Critical dimensions and reference surfaces should be identified before components are processed.</a:t>
            </a:r>
          </a:p>
          <a:p xmlns:a="http://schemas.openxmlformats.org/drawingml/2006/main">
            <a:r>
              <a:t>- Quality checkpoints should occur before errors become hidden or expensive to correct.</a:t>
            </a:r>
          </a:p>
          <a:p xmlns:a="http://schemas.openxmlformats.org/drawingml/2006/main">
            <a:r>
              <a:t>- Jigs, templates, gauges and documented settings can improve repeatability.</a:t>
            </a:r>
          </a:p>
          <a:p xmlns:a="http://schemas.openxmlformats.org/drawingml/2006/main">
            <a:r>
              <a:t>- A production plan should include safe setup, process, inspection, correction and evidence capture.</a:t>
            </a:r>
          </a:p>
          <a:p xmlns:a="http://schemas.openxmlformats.org/drawingml/2006/main">
            <a:r>
              <a:t>- Visual notice: Ask students what the scene makes visible about production sequence and quality assurance, then connect observations to the stated principles.</a:t>
            </a:r>
          </a:p>
          <a:p xmlns:a="http://schemas.openxmlformats.org/drawingml/2006/main">
            <a:r>
              <a:t>- Evidence prompt: A joint becomes inaccessible after assembly. When should its fit and strength be checked?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Quality assurance and quality control mean the same thing.</a:t>
            </a:r>
          </a:p>
          <a:p xmlns:a="http://schemas.openxmlformats.org/drawingml/2006/main">
            <a:r>
              <a:t>- A final inspection can compensate for missing earlier checkpoints.</a:t>
            </a:r>
          </a:p>
          <a:p xmlns:a="http://schemas.openxmlformats.org/drawingml/2006/main">
            <a:r>
              <a:t>- A highly skilled worker does not need jigs or gauges.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Industrial and commercial production links.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manufacturing and production content; teacher answer booklet on quality and process selection.</a:t>
            </a:r>
          </a:p>
          <a:p xmlns:a="http://schemas.openxmlformats.org/drawingml/2006/main">
            <a:r>
              <a:t>- Visual: approved family-generated teaching asset, Year 12 D&amp;T assets/images/m06s02.png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Relate school project methods to comparable industrial or commercial processes without pretending they are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School prototyping and commercial production may use similar design logic but different equipment, volume and accountability.</a:t>
            </a:r>
          </a:p>
          <a:p xmlns:a="http://schemas.openxmlformats.org/drawingml/2006/main">
            <a:r>
              <a:t>- Industrial settings often divide work among specialist roles and formalise specifications, traceability and quality checks.</a:t>
            </a:r>
          </a:p>
          <a:p xmlns:a="http://schemas.openxmlformats.org/drawingml/2006/main">
            <a:r>
              <a:t>- Commercial decisions include demand, lead time, unit cost, reliability, compliance, distribution and after-sales responsibility.</a:t>
            </a:r>
          </a:p>
          <a:p xmlns:a="http://schemas.openxmlformats.org/drawingml/2006/main">
            <a:r>
              <a:t>- A useful comparison explains what could transfer to the school project and what cannot be assumed.</a:t>
            </a:r>
          </a:p>
          <a:p xmlns:a="http://schemas.openxmlformats.org/drawingml/2006/main">
            <a:r>
              <a:t>- Visual notice: Ask students what the scene makes visible about industrial and commercial production links, then connect observations to the stated principles.</a:t>
            </a:r>
          </a:p>
          <a:p xmlns:a="http://schemas.openxmlformats.org/drawingml/2006/main">
            <a:r>
              <a:t>- Evidence prompt: A student laser-cuts one component, while a manufacturer cuts thousands. What is the strongest comparison?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Using a digital machine makes a school process industrial.</a:t>
            </a:r>
          </a:p>
          <a:p xmlns:a="http://schemas.openxmlformats.org/drawingml/2006/main">
            <a:r>
              <a:t>- Commercial production focuses on profit instead of quality or user needs.</a:t>
            </a:r>
          </a:p>
          <a:p xmlns:a="http://schemas.openxmlformats.org/drawingml/2006/main">
            <a:r>
              <a:t>- Industrial processes always create less waste than one-off production.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Recording practical skills and production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course requirement to relate school projects to industrial and commercial settings; teacher answer booklet.</a:t>
            </a:r>
          </a:p>
          <a:p xmlns:a="http://schemas.openxmlformats.org/drawingml/2006/main">
            <a:r>
              <a:t>- Visual: approved family-generated teaching asset, Year 12 D&amp;T assets/images/m03s02.png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Create concise folio evidence that demonstrates process, judgement and safe practical skill.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strong caption identifies the operation, relevant requirement, observation and next decision.</a:t>
            </a:r>
          </a:p>
          <a:p xmlns:a="http://schemas.openxmlformats.org/drawingml/2006/main">
            <a:r>
              <a:t>- Evidence should be captured at critical stages rather than recreated after completion.</a:t>
            </a:r>
          </a:p>
          <a:p xmlns:a="http://schemas.openxmlformats.org/drawingml/2006/main">
            <a:r>
              <a:t>- Practical skill is shown through control, accuracy, safe setup, appropriate technique and response to problems.</a:t>
            </a:r>
          </a:p>
          <a:p xmlns:a="http://schemas.openxmlformats.org/drawingml/2006/main">
            <a:r>
              <a:t>- The folio should select representative evidence rather than include every photograph taken.</a:t>
            </a:r>
          </a:p>
          <a:p xmlns:a="http://schemas.openxmlformats.org/drawingml/2006/main">
            <a:r>
              <a:t>- Visual notice: Ask students what the scene makes visible about recording practical skills and production decisions, then connect observations to the stated principles.</a:t>
            </a:r>
          </a:p>
          <a:p xmlns:a="http://schemas.openxmlformats.org/drawingml/2006/main">
            <a:r>
              <a:t>- Evidence prompt: A photograph shows a component clamped during drilling. Which caption is strongest?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More photographs always provide stronger evidence.</a:t>
            </a:r>
          </a:p>
          <a:p xmlns:a="http://schemas.openxmlformats.org/drawingml/2006/main">
            <a:r>
              <a:t>- A caption should describe only what can already be seen.</a:t>
            </a:r>
          </a:p>
          <a:p xmlns:a="http://schemas.openxmlformats.org/drawingml/2006/main">
            <a:r>
              <a:t>- Practical skill is demonstrated by naming the tool correctly.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Current Camping Environment work-in-progress requirement; teacher answer booklet on communication and evaluation evidence.</a:t>
            </a:r>
          </a:p>
          <a:p xmlns:a="http://schemas.openxmlformats.org/drawingml/2006/main">
            <a:r>
              <a:t>- Visual: approved family-generated teaching asset, Year 12 D&amp;T assets/images/m01s02.png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joint becomes inaccessible after assembly. When should its fit and strength be checked?</a:t>
            </a:r>
          </a:p>
          <a:p xmlns:a="http://schemas.openxmlformats.org/drawingml/2006/main">
            <a:r>
              <a:t>- Indicative answer: Before final assembly, using defined acceptance criteria and recording any correction before the joint is concealed.</a:t>
            </a:r>
          </a:p>
          <a:p xmlns:a="http://schemas.openxmlformats.org/drawingml/2006/main">
            <a:r>
              <a:t>- Check 2: A student laser-cuts one component, while a manufacturer cuts thousands. What is the strongest comparison?</a:t>
            </a:r>
          </a:p>
          <a:p xmlns:a="http://schemas.openxmlformats.org/drawingml/2006/main">
            <a:r>
              <a:t>- Indicative answer: Compare file preparation and cutting purpose, then explain differences in nesting, automation, quality assurance, maintenance, throughput and unit cost.</a:t>
            </a:r>
          </a:p>
          <a:p xmlns:a="http://schemas.openxmlformats.org/drawingml/2006/main">
            <a:r>
              <a:t>- Check 3: A photograph shows a component clamped during drilling. Which caption is strongest?</a:t>
            </a:r>
          </a:p>
          <a:p xmlns:a="http://schemas.openxmlformats.org/drawingml/2006/main">
            <a:r>
              <a:t>- Indicative answer: The component was secured against a drilling jig to control hole position and prevent movement; the first hole measured within tolerance, so the setup was retained for the batch.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manufacturing and production content; teacher answer booklet on quality and process selection.</a:t>
            </a:r>
          </a:p>
          <a:p xmlns:a="http://schemas.openxmlformats.org/drawingml/2006/main">
            <a:r>
              <a:t>- Y11 source note: NESA course requirement to relate school projects to industrial and commercial settings; teacher answer booklet.</a:t>
            </a:r>
          </a:p>
          <a:p xmlns:a="http://schemas.openxmlformats.org/drawingml/2006/main">
            <a:r>
              <a:t>- Y11 source note: Current Camping Environment work-in-progress requirement; teacher answer booklet on communication and evaluation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Develop a production plan with process trials, quality checkpoints, evidence captions and an industrial/commercial comparison.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manufacturing and production content; teacher answer booklet on quality and process selection.</a:t>
            </a:r>
          </a:p>
          <a:p xmlns:a="http://schemas.openxmlformats.org/drawingml/2006/main">
            <a:r>
              <a:t>- Y11 source note: NESA course requirement to relate school projects to industrial and commercial settings; teacher answer booklet.</a:t>
            </a:r>
          </a:p>
          <a:p xmlns:a="http://schemas.openxmlformats.org/drawingml/2006/main">
            <a:r>
              <a:t>- Y11 source note: Current Camping Environment work-in-progress requirement; teacher answer booklet on communication and evaluation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Camping Environment - production and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manufacturing and production content; teacher answer booklet on quality and process selection.</a:t>
            </a:r>
          </a:p>
          <a:p xmlns:a="http://schemas.openxmlformats.org/drawingml/2006/main">
            <a:r>
              <a:t>- Y11 source note: NESA course requirement to relate school projects to industrial and commercial settings; teacher answer booklet.</a:t>
            </a:r>
          </a:p>
          <a:p xmlns:a="http://schemas.openxmlformats.org/drawingml/2006/main">
            <a:r>
              <a:t>- Y11 source note: Current Camping Environment work-in-progress requirement; teacher answer booklet on communication and evaluation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d579e9001744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4e9f841e03a4428" /><Relationship Type="http://schemas.openxmlformats.org/officeDocument/2006/relationships/slideLayout" Target="/ppt/slideLayouts/slideLayout1.xml" Id="Rf0de349c808347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de349c808347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12870bd764da8" /><Relationship Type="http://schemas.openxmlformats.org/officeDocument/2006/relationships/image" Target="/ppt/media/image.png" Id="Re9342f44e7cc4137" /><Relationship Type="http://schemas.openxmlformats.org/officeDocument/2006/relationships/notesSlide" Target="/ppt/notesSlides/notesSlide1.xml" Id="R80f6648f2535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d334b71a54954" /><Relationship Type="http://schemas.openxmlformats.org/officeDocument/2006/relationships/image" Target="/ppt/media/image2.png" Id="R5d28ab46c9104a39" /><Relationship Type="http://schemas.openxmlformats.org/officeDocument/2006/relationships/image" Target="/ppt/media/image.svg" Id="R33914551a1794fdc" /><Relationship Type="http://schemas.openxmlformats.org/officeDocument/2006/relationships/notesSlide" Target="/ppt/notesSlides/notesSlide2.xml" Id="R758418c63f5348c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2d42522fc4c19" /><Relationship Type="http://schemas.openxmlformats.org/officeDocument/2006/relationships/image" Target="/ppt/media/image3.png" Id="Rb50f715971694a24" /><Relationship Type="http://schemas.openxmlformats.org/officeDocument/2006/relationships/notesSlide" Target="/ppt/notesSlides/notesSlide3.xml" Id="R054112310abd4c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0fec82b144dcc" /><Relationship Type="http://schemas.openxmlformats.org/officeDocument/2006/relationships/image" Target="/ppt/media/image4.png" Id="Rcc3797a565cb4c9e" /><Relationship Type="http://schemas.openxmlformats.org/officeDocument/2006/relationships/notesSlide" Target="/ppt/notesSlides/notesSlide4.xml" Id="Rb83d49a6c95c4a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cd1ecdf01403b" /><Relationship Type="http://schemas.openxmlformats.org/officeDocument/2006/relationships/image" Target="/ppt/media/image5.png" Id="R67d2f6abaaf84e66" /><Relationship Type="http://schemas.openxmlformats.org/officeDocument/2006/relationships/notesSlide" Target="/ppt/notesSlides/notesSlide5.xml" Id="R33395c4b551743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ca2392c3d41d4" /><Relationship Type="http://schemas.openxmlformats.org/officeDocument/2006/relationships/notesSlide" Target="/ppt/notesSlides/notesSlide6.xml" Id="Rfc186ddf203b49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8ee9b9b3f46b1" /><Relationship Type="http://schemas.openxmlformats.org/officeDocument/2006/relationships/notesSlide" Target="/ppt/notesSlides/notesSlide7.xml" Id="Rc0e12a336c294d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30ab918a34a10" /><Relationship Type="http://schemas.openxmlformats.org/officeDocument/2006/relationships/notesSlide" Target="/ppt/notesSlides/notesSlide8.xml" Id="Rf7006c72d051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342f44e7cc4137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28793-8D58-4A75-A5EB-651D5EB6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3252A-0E7F-4A92-BF18-76A9D8EC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13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E991FAE8-B82C-4026-93BC-6F7BD42F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Manufacturing, quality and production evidence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67A83236-3EC8-4325-BD35-188A2CA9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Plan and document a controlled production sequence that links workshop decisions to industrial and commercial practice.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7297B-0273-4E9A-80FB-AD13A749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Camping Environment - production and quality  ·  P4.2 · P6.1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FB0AEB-FCD2-42DC-93F1-2AA547CC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F1CE5-E233-4EA3-825C-DF0A98FD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59489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1FE95674-B55D-4331-8D2D-36B92FD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24CDE-0AB0-42EB-B32D-4D36B8A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7BF21-7C2A-4F71-9BA7-05F26F1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93B30-7C7D-4057-99F5-7F79BF7E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A802B82A-AB50-4262-936A-7E684EDF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8ab46c9104a39">
            <a:extLst>
              <a:ext uri="{96DAC541-7B7A-43D3-8B79-37D633B846F1}">
                <asvg:svgBlip xmlns:asvg="http://schemas.microsoft.com/office/drawing/2016/SVG/main" r:embed="R33914551a1794f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94B6F62C-0BC8-4FE2-BF99-DCC7C459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78137-EC41-41DD-9F12-4FB3E575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6D209-49E4-4C86-A371-7B82F4AA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Develop a production plan with process trials, quality checkpoints, evidence captions and an industrial/commercial comparison.</a:t>
            </a:r>
          </a:p>
        </p:txBody>
      </p:sp>
    </p:spTree>
    <p:extLst>
      <p:ext uri="{BB962C8B-B14F-4D97-AF65-F5344CB8AC3E}">
        <p14:creationId xmlns:p14="http://schemas.microsoft.com/office/powerpoint/2010/main" val="6132015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4934A07B-E80A-4882-848C-D7C14D8F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BCF8B-4808-4C17-8161-B16D568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A5F4F3-C908-4679-8E92-26006704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ECCFA-5767-4006-A400-4AA66D3A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99C8B7E8-06F7-4A75-989D-8DD406C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Production sequence and quality assurance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f715971694a24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78004-C78C-444E-B8E3-34E6A2FD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1DDC7-B2B7-4253-98F2-B70AA0AC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C52BA-37AA-4FD1-AB4D-39836AB3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2AB91-56B0-4BA0-ABF3-375DEA8B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Critical dimensions and reference surfaces should be identified before components are processed.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A5B7A-FEC8-4F0A-B6B1-E6FD281A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7E99C-7F4A-4F6B-97AE-F51ECF7A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Quality checkpoints should occur before errors become hidden or expensive to correct.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0C835E-21B2-48BB-8A08-FE723276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74C79B-8762-4A01-B843-30F006E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Jigs, templates, gauges and documented settings can improve repeatability.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B23AD-247F-4D8D-820B-649A947D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64647-4842-4AA6-942E-60432F0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joint becomes inaccessible after assembly. When should its fit and strength be checked?</a:t>
            </a:r>
          </a:p>
        </p:txBody>
      </p:sp>
    </p:spTree>
    <p:extLst>
      <p:ext uri="{BB962C8B-B14F-4D97-AF65-F5344CB8AC3E}">
        <p14:creationId xmlns:p14="http://schemas.microsoft.com/office/powerpoint/2010/main" val="1158087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3AA1E766-3ECD-4AFC-9750-303DB7BC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84606-92DD-49B9-B4FC-585B8DB8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64ED0-92E5-4A0D-828F-D1B1B07F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AE28E-A130-486C-8A4E-0BFC63BD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1D703DA8-B77C-49D2-865D-55652A40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Industrial and commercial production links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797a565cb4c9e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4F18E3-FD5F-4FF3-8DD0-1E2A6F8F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313CE-F8B4-4818-B5E4-9D734F10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83E2A-1BCD-4901-A523-B88D9EE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5A672-B750-4637-B89C-1084BBB0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School prototyping and commercial production may use similar design logic but different equipment, volume and accountability.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3829B-D652-4C73-8649-78FB41CB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53A71-B888-4DA6-B3A1-BBED09E6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Industrial settings often divide work among specialist roles and formalise specifications, traceability and quality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C678C-0195-457E-A377-4C316B6C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9FB46-3E25-4390-9940-D30EF08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Commercial decisions include demand, lead time, unit cost, reliability, compliance, distribution and after-sales responsibility.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C77CC-861D-4B36-9BAD-F106EEFB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FCADB-9673-47DC-90DA-5F3AAD2B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student laser-cuts one component, while a manufacturer cuts thousands. What is the strongest comparison?</a:t>
            </a:r>
          </a:p>
        </p:txBody>
      </p:sp>
    </p:spTree>
    <p:extLst>
      <p:ext uri="{BB962C8B-B14F-4D97-AF65-F5344CB8AC3E}">
        <p14:creationId xmlns:p14="http://schemas.microsoft.com/office/powerpoint/2010/main" val="16577730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FAB52B88-A277-4A3A-9580-C3EFF095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A18BA-1592-4CD4-9D5C-4EE99588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CEEF4-11F3-41B4-BF2B-32823041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2B507-9251-418F-B413-330E0442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79A47D66-F99B-425F-A77B-A0643F96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Recording practical skills and production decisions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d2f6abaaf84e66"/>
          <a:srcRect xmlns:a="http://schemas.openxmlformats.org/drawingml/2006/main" l="4268" t="0" r="426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B658B-CCBE-433A-9581-AD454D0B1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13784A-ED52-448F-A185-4998C16A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FC844-08FF-47E9-B714-73EDB543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60F54-E98D-4B6D-AF62-9F6402B5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strong caption identifies the operation, relevant requirement, observation and next decision.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1C2F7-C4E9-4C0E-AD32-2AF2FD63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9F6AE5-6466-4994-8543-7EDFABB0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Evidence should be captured at critical stages rather than recreated after completion.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6F083-61C6-4387-89A1-1BF8A53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F386E-E764-4D21-863C-E417858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Practical skill is shown through control, accuracy, safe setup, appropriate technique and response to problems.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D41598-DE14-4812-B4A9-3D31F52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561FB-4F09-432D-83CC-89C5A5C6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photograph shows a component clamped during drilling. Which caption is strongest?</a:t>
            </a:r>
          </a:p>
        </p:txBody>
      </p:sp>
    </p:spTree>
    <p:extLst>
      <p:ext uri="{BB962C8B-B14F-4D97-AF65-F5344CB8AC3E}">
        <p14:creationId xmlns:p14="http://schemas.microsoft.com/office/powerpoint/2010/main" val="488134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7F3E6EC5-881C-4328-AFE6-45D8DE0B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98DD38-68B7-422F-B538-74488EA8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366A4-E920-423B-A6C6-614BF3B6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C9E25-9025-4FEF-AED8-EF4A35AD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CBBFA-2518-44BE-98B5-500C3B92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BA4B2-AFCA-4506-A9CD-0C0E09CF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D7DAF6-263F-431F-A90E-D6636081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87BDF-01A5-4454-9960-75FCC667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joint becomes inaccessible after assembly. When should its fit and strength be checked?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1EFD26-AA34-4669-940A-F39A394F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820D47-B7AA-4BDD-817E-8976C408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47A6E9-AFE7-4ACD-A7EB-C439E7CA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student laser-cuts one component, while a manufacturer cuts thousands. What is the strongest comparison?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9CB9F-0729-4688-AE78-27B5F07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A19E8C-11FE-4E42-B598-06ED2CFA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C8026-3FE1-4456-BBAF-0A549AC9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photograph shows a component clamped during drilling. Which caption is strongest?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513C51-C893-4B59-8800-EE4F8659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25A4D1-4B10-4D1F-B5BC-F2D9A5AD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E59A87-7EAA-4E92-A299-5BFD5C0D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B3032-B85D-4B07-A869-350675C1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63835-CFB1-4A4E-A8F4-66110DDA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20456-BD7D-4E00-8152-C4B7025B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016A1-C51E-45AD-A5D1-02F60667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620002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344FB657-D7BE-4C66-87D4-15985E92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441411-D8EB-4206-81F7-409E56AA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2E8BD-3B4A-48CB-84E7-7D2ED87F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AA9D9-D75A-4A7D-B0F6-40C1916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7720A-8D2B-41E8-A627-2E0CCBE2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337B1E49-5218-44FD-92CF-A860984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Develop a production plan with process trials, quality checkpoints, evidence captions and an industrial/commercial comparison.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3FC08-70DF-4302-B769-029ACD15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E7A26-BA68-4E21-B01C-A596D39EF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8BAA2-7470-40A8-ADB6-4C75B70A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ECFEC-2853-474D-8AA8-727077DF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E6D75-5500-4762-A9FC-10AA9F1D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8C8661-8D5A-4585-AD8F-98650586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04B783-8108-4232-A9FC-A26256C0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CE2AD0-1948-431F-9CEF-DA467C2B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FDD175-82E4-4F74-ACB1-99A8B260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1F972-C3C8-412B-8017-D655A2A4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074651-CB6B-4D17-890D-FDD920A0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DE82E7-595A-4DD4-82A1-15F0CD99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77227-FF21-4A39-8D89-B704E948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3F8FD-4BAE-4BE9-B567-BB1490C3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F0F73D-9731-4393-85EE-7039CB4F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87409-4F07-4766-97FD-9A686D7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3239621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3357C57F-38B4-4F9D-B7FE-5E8E6A5F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D91DC8-4E75-4031-8AC8-769C4FBF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F6660-7504-4640-9ED9-8D182686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3 · Weeks 5–6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95044-2899-450D-AC29-4F87EE27C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8325F-10F3-4F01-93A3-C7EB8021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21B6E-E153-4B18-8483-2CC503AD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0B8DA-9358-446B-BC93-DB675B2A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BB104-B90E-4B8C-9E24-F74C6B23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72DAF7-979D-4B49-8263-A73CA150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B3982-AD6D-4868-90CD-7CD1A056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85271-2BC3-4C74-976B-ED149288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C13F2-10B8-4BD5-9D20-A9CACAD6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A42FAE-ED9C-4784-AD15-903689250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993B5-B5E5-4FF4-B908-6CA11BE3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Camping Environment - production and quality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AA2F6-4D4C-4E88-9DA2-B5D5A4CE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57D6A-317E-47D5-B522-6AF9051A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4018568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2026-08-31T18:33:57.5770000Z</dcterms:created>
  <dcterms:modified xsi:type="dcterms:W3CDTF">2026-08-31T18:33:57.5770000Z</dcterms:modified>
</coreProperties>
</file>