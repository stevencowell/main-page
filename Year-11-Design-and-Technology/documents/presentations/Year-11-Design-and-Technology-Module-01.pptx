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56d1f7b0594119" /><Relationship Type="http://schemas.openxmlformats.org/officeDocument/2006/relationships/extended-properties" Target="/docProps/app.xml" Id="R320519a40437465f" /><Relationship Type="http://schemas.openxmlformats.org/officeDocument/2006/relationships/officeDocument" Target="/ppt/presentation.xml" Id="R177c4d8129cf42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a6b8e5207e46e9"/>
  </p:sldMasterIdLst>
  <p:notesMasterIdLst>
    <p:notesMasterId xmlns:r="http://schemas.openxmlformats.org/officeDocument/2006/relationships" r:id="Rd6dce2af3e554c19"/>
  </p:notesMasterIdLst>
  <p:sldIdLst>
    <p:sldId xmlns:r="http://schemas.openxmlformats.org/officeDocument/2006/relationships" id="256" r:id="R29bb9346869443eb"/>
    <p:sldId xmlns:r="http://schemas.openxmlformats.org/officeDocument/2006/relationships" id="257" r:id="Rffb6672d133a4b47"/>
    <p:sldId xmlns:r="http://schemas.openxmlformats.org/officeDocument/2006/relationships" id="258" r:id="R4f146ed65e4b40c8"/>
    <p:sldId xmlns:r="http://schemas.openxmlformats.org/officeDocument/2006/relationships" id="259" r:id="Rdb28ace7ae8242fb"/>
    <p:sldId xmlns:r="http://schemas.openxmlformats.org/officeDocument/2006/relationships" id="260" r:id="R262ddc89bd6543cf"/>
    <p:sldId xmlns:r="http://schemas.openxmlformats.org/officeDocument/2006/relationships" id="261" r:id="Rf13e4f288db54e22"/>
    <p:sldId xmlns:r="http://schemas.openxmlformats.org/officeDocument/2006/relationships" id="262" r:id="R5672f93bb9bd48f1"/>
    <p:sldId xmlns:r="http://schemas.openxmlformats.org/officeDocument/2006/relationships" id="263" r:id="R3ba0ebec13fd4a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81e1a774ed4780" /><Relationship Type="http://schemas.openxmlformats.org/officeDocument/2006/relationships/slideMaster" Target="/ppt/slideMasters/slideMaster1.xml" Id="R48a6b8e5207e46e9" /><Relationship Type="http://schemas.openxmlformats.org/officeDocument/2006/relationships/notesMaster" Target="/ppt/notesMasters/notesMaster1.xml" Id="Rd6dce2af3e554c19" /><Relationship Type="http://schemas.openxmlformats.org/officeDocument/2006/relationships/presProps" Target="/ppt/presProps.xml" Id="R971455618a23483d" /><Relationship Type="http://schemas.openxmlformats.org/officeDocument/2006/relationships/tableStyles" Target="/ppt/tableStyles.xml" Id="R2ffd92f56a5b44b0" /><Relationship Type="http://schemas.openxmlformats.org/officeDocument/2006/relationships/slide" Target="/ppt/slides/slide1.xml" Id="R29bb9346869443eb" /><Relationship Type="http://schemas.openxmlformats.org/officeDocument/2006/relationships/slide" Target="/ppt/slides/slide2.xml" Id="Rffb6672d133a4b47" /><Relationship Type="http://schemas.openxmlformats.org/officeDocument/2006/relationships/slide" Target="/ppt/slides/slide3.xml" Id="R4f146ed65e4b40c8" /><Relationship Type="http://schemas.openxmlformats.org/officeDocument/2006/relationships/slide" Target="/ppt/slides/slide4.xml" Id="Rdb28ace7ae8242fb" /><Relationship Type="http://schemas.openxmlformats.org/officeDocument/2006/relationships/slide" Target="/ppt/slides/slide5.xml" Id="R262ddc89bd6543cf" /><Relationship Type="http://schemas.openxmlformats.org/officeDocument/2006/relationships/slide" Target="/ppt/slides/slide6.xml" Id="Rf13e4f288db54e22" /><Relationship Type="http://schemas.openxmlformats.org/officeDocument/2006/relationships/slide" Target="/ppt/slides/slide7.xml" Id="R5672f93bb9bd48f1" /><Relationship Type="http://schemas.openxmlformats.org/officeDocument/2006/relationships/slide" Target="/ppt/slides/slide8.xml" Id="R3ba0ebec13fd4a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083c8ea502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d3ca554a8d439d" /><Relationship Type="http://schemas.openxmlformats.org/officeDocument/2006/relationships/notesMaster" Target="/ppt/notesMasters/notesMaster1.xml" Id="R0388e7791cad4c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f147eaae4846a5" /><Relationship Type="http://schemas.openxmlformats.org/officeDocument/2006/relationships/notesMaster" Target="/ppt/notesMasters/notesMaster1.xml" Id="R8d3e064f90fe45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27a53cdcb142a2" /><Relationship Type="http://schemas.openxmlformats.org/officeDocument/2006/relationships/notesMaster" Target="/ppt/notesMasters/notesMaster1.xml" Id="R54692cd1a14948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f148348294ccf" /><Relationship Type="http://schemas.openxmlformats.org/officeDocument/2006/relationships/notesMaster" Target="/ppt/notesMasters/notesMaster1.xml" Id="Rce7d30e64b1940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edeae6b2994d27" /><Relationship Type="http://schemas.openxmlformats.org/officeDocument/2006/relationships/notesMaster" Target="/ppt/notesMasters/notesMaster1.xml" Id="R2ab24e81c9be48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68fec2a2664724" /><Relationship Type="http://schemas.openxmlformats.org/officeDocument/2006/relationships/notesMaster" Target="/ppt/notesMasters/notesMaster1.xml" Id="R2cac5950fe9e45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4aee058f3f41f0" /><Relationship Type="http://schemas.openxmlformats.org/officeDocument/2006/relationships/notesMaster" Target="/ppt/notesMasters/notesMaster1.xml" Id="Rf1badb273a1141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877d1e505c46b1" /><Relationship Type="http://schemas.openxmlformats.org/officeDocument/2006/relationships/notesMaster" Target="/ppt/notesMasters/notesMaster1.xml" Id="R61aead3f442043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Design and Technology foundations.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Understand the course, the work of designers and the adaptable processes used to move from a need to an evaluated solution.</a:t>
            </a:r>
          </a:p>
          <a:p xmlns:a="http://schemas.openxmlformats.org/drawingml/2006/main">
            <a:r>
              <a:t>- Name the three learning areas without teaching them yet: What Design and Technology studies; Design professions and design practice; Design processes across contexts.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What Design and Technology studies: Explain how designing, producing and evaluating work together in the Preliminary course.</a:t>
            </a:r>
          </a:p>
          <a:p xmlns:a="http://schemas.openxmlformats.org/drawingml/2006/main">
            <a:r>
              <a:t>- 2. Design professions and design practice: Investigate the varied work of designers and recognise overlap between professional roles.</a:t>
            </a:r>
          </a:p>
          <a:p xmlns:a="http://schemas.openxmlformats.org/drawingml/2006/main">
            <a:r>
              <a:t>- 3. Design processes across contexts: Compare design processes used in domestic, community, industrial and commercial settings.</a:t>
            </a:r>
          </a:p>
          <a:p xmlns:a="http://schemas.openxmlformats.org/drawingml/2006/main">
            <a:r>
              <a:t>- Retrieval prompt: Which idea is most likely to change a real design decision in Research Assignment launch,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What Design and Technology studies.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assets/module-01-map.svg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Explain how designing, producing and evaluating work together in the Preliminary course.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Designing identifies and develops a response to a need or opportunity.</a:t>
            </a:r>
          </a:p>
          <a:p xmlns:a="http://schemas.openxmlformats.org/drawingml/2006/main">
            <a:r>
              <a:t>- Producing turns a developed idea into a product, system or environment using suitable resources and processes.</a:t>
            </a:r>
          </a:p>
          <a:p xmlns:a="http://schemas.openxmlformats.org/drawingml/2006/main">
            <a:r>
              <a:t>- Evaluation occurs throughout the project and again when the solution is completed.</a:t>
            </a:r>
          </a:p>
          <a:p xmlns:a="http://schemas.openxmlformats.org/drawingml/2006/main">
            <a:r>
              <a:t>- A design folio records evidence of decisions, testing, changes and evaluation rather than merely decorating the final result.</a:t>
            </a:r>
          </a:p>
          <a:p xmlns:a="http://schemas.openxmlformats.org/drawingml/2006/main">
            <a:r>
              <a:t>- Visual notice: Ask students what the scene makes visible about what design and technology studies, then connect observations to the stated principles.</a:t>
            </a:r>
          </a:p>
          <a:p xmlns:a="http://schemas.openxmlformats.org/drawingml/2006/main">
            <a:r>
              <a:t>- Evidence prompt: A student has built a neat object but cannot explain who needs it or how it was tested. What is the best next action?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Designing finishes as soon as the first sketch is drawn.</a:t>
            </a:r>
          </a:p>
          <a:p xmlns:a="http://schemas.openxmlformats.org/drawingml/2006/main">
            <a:r>
              <a:t>- Producing is successful whenever the object is completed, even if it misses the need.</a:t>
            </a:r>
          </a:p>
          <a:p xmlns:a="http://schemas.openxmlformats.org/drawingml/2006/main">
            <a:r>
              <a:t>- Evaluation should be left until the final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Design professions and design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course description and course requirements; teacher answer booklet course foundations.</a:t>
            </a:r>
          </a:p>
          <a:p xmlns:a="http://schemas.openxmlformats.org/drawingml/2006/main">
            <a:r>
              <a:t>- Visual: approved family-generated teaching asset, Year 12 D&amp;T assets/images/m01s01.png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Investigate the varied work of designers and recognise overlap between professional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Professional design work is shaped by a client, user, context and purpose.</a:t>
            </a:r>
          </a:p>
          <a:p xmlns:a="http://schemas.openxmlformats.org/drawingml/2006/main">
            <a:r>
              <a:t>- Design professions overlap because complex projects require different knowledge and skills.</a:t>
            </a:r>
          </a:p>
          <a:p xmlns:a="http://schemas.openxmlformats.org/drawingml/2006/main">
            <a:r>
              <a:t>- Designers communicate with technical and non-technical audiences using methods suited to each audience.</a:t>
            </a:r>
          </a:p>
          <a:p xmlns:a="http://schemas.openxmlformats.org/drawingml/2006/main">
            <a:r>
              <a:t>- Studying an Australian designer should connect the designer’s practices, tools and decisions to the impact of the resulting product or service.</a:t>
            </a:r>
          </a:p>
          <a:p xmlns:a="http://schemas.openxmlformats.org/drawingml/2006/main">
            <a:r>
              <a:t>- Visual notice: Ask students what the scene makes visible about design professions and design practice, then connect observations to the stated principles.</a:t>
            </a:r>
          </a:p>
          <a:p xmlns:a="http://schemas.openxmlformats.org/drawingml/2006/main">
            <a:r>
              <a:t>- Evidence prompt: A team is developing an accessible public drinking fountain. Which approach best reflects professional design practice?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Each design profession works independently and rarely shares information.</a:t>
            </a:r>
          </a:p>
          <a:p xmlns:a="http://schemas.openxmlformats.org/drawingml/2006/main">
            <a:r>
              <a:t>- A designer’s job is mainly to make products look attractive.</a:t>
            </a:r>
          </a:p>
          <a:p xmlns:a="http://schemas.openxmlformats.org/drawingml/2006/main">
            <a:r>
              <a:t>- The same presentation method is equally suitable for every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Design processes across contexts.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2026 Research Assignment task; NESA Preliminary content on designers and design professions.</a:t>
            </a:r>
          </a:p>
          <a:p xmlns:a="http://schemas.openxmlformats.org/drawingml/2006/main">
            <a:r>
              <a:t>- Visual: approved family-generated teaching asset, Year 12 D&amp;T assets/images/m03s01.png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Compare design processes used in domestic, community, industrial and commercial 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 design process can be iterative, with research, testing and evaluation causing earlier decisions to change.</a:t>
            </a:r>
          </a:p>
          <a:p xmlns:a="http://schemas.openxmlformats.org/drawingml/2006/main">
            <a:r>
              <a:t>- Domestic projects are often small and flexible, while industrial and commercial projects usually involve specialised roles and formal systems.</a:t>
            </a:r>
          </a:p>
          <a:p xmlns:a="http://schemas.openxmlformats.org/drawingml/2006/main">
            <a:r>
              <a:t>- Community design requires meaningful consultation with the people affected by the outcome.</a:t>
            </a:r>
          </a:p>
          <a:p xmlns:a="http://schemas.openxmlformats.org/drawingml/2006/main">
            <a:r>
              <a:t>- The process should be adapted to the project rather than followed as a fixed one-way checklist.</a:t>
            </a:r>
          </a:p>
          <a:p xmlns:a="http://schemas.openxmlformats.org/drawingml/2006/main">
            <a:r>
              <a:t>- Diagram notice: Trace ITERATE → CONTEXT → CONSULT and ask where evidence changes the next decision.</a:t>
            </a:r>
          </a:p>
          <a:p xmlns:a="http://schemas.openxmlformats.org/drawingml/2006/main">
            <a:r>
              <a:t>- Evidence prompt: A community group rejects an early playground concept because it excludes some users. What should the design team 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Every design project must follow exactly the same linear sequence.</a:t>
            </a:r>
          </a:p>
          <a:p xmlns:a="http://schemas.openxmlformats.org/drawingml/2006/main">
            <a:r>
              <a:t>- Domestic design does not require research or evaluation.</a:t>
            </a:r>
          </a:p>
          <a:p xmlns:a="http://schemas.openxmlformats.org/drawingml/2006/main">
            <a:r>
              <a:t>- Community consultation is unnecessary when the designer has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Preliminary course content; teacher answer booklet comparison of settings.</a:t>
            </a:r>
          </a:p>
          <a:p xmlns:a="http://schemas.openxmlformats.org/drawingml/2006/main">
            <a:r>
              <a:t>- Visual: editable native PowerPoint relationship diagram derived only from the three source-bound section principles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student has built a neat object but cannot explain who needs it or how it was tested. What is the best next action?</a:t>
            </a:r>
          </a:p>
          <a:p xmlns:a="http://schemas.openxmlformats.org/drawingml/2006/main">
            <a:r>
              <a:t>- Indicative answer: Return to the identified need, establish criteria and collect evidence through testing before claiming the design is successful.</a:t>
            </a:r>
          </a:p>
          <a:p xmlns:a="http://schemas.openxmlformats.org/drawingml/2006/main">
            <a:r>
              <a:t>- Check 2: A team is developing an accessible public drinking fountain. Which approach best reflects professional design practice?</a:t>
            </a:r>
          </a:p>
          <a:p xmlns:a="http://schemas.openxmlformats.org/drawingml/2006/main">
            <a:r>
              <a:t>- Indicative answer: Combine user research, industrial design, engineering, manufacturing advice and testing with intended users.</a:t>
            </a:r>
          </a:p>
          <a:p xmlns:a="http://schemas.openxmlformats.org/drawingml/2006/main">
            <a:r>
              <a:t>- Check 3: A community group rejects an early playground concept because it excludes some users. What should the design team do?</a:t>
            </a:r>
          </a:p>
          <a:p xmlns:a="http://schemas.openxmlformats.org/drawingml/2006/main">
            <a:r>
              <a:t>- Indicative answer: Use the feedback to revisit needs and criteria, develop alternatives and test a revised concept with stakeholders.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course description and course requirements; teacher answer booklet course foundations.</a:t>
            </a:r>
          </a:p>
          <a:p xmlns:a="http://schemas.openxmlformats.org/drawingml/2006/main">
            <a:r>
              <a:t>- Y11 source note: Current 2026 Research Assignment task; NESA Preliminary content on designers and design professions.</a:t>
            </a:r>
          </a:p>
          <a:p xmlns:a="http://schemas.openxmlformats.org/drawingml/2006/main">
            <a:r>
              <a:t>- Y11 source note: NESA Preliminary course content; teacher answer booklet comparison of settings.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Create a design-profession map and compare how two designers move from client need to final presentation.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course description and course requirements; teacher answer booklet course foundations.</a:t>
            </a:r>
          </a:p>
          <a:p xmlns:a="http://schemas.openxmlformats.org/drawingml/2006/main">
            <a:r>
              <a:t>- Y11 source note: Current 2026 Research Assignment task; NESA Preliminary content on designers and design professions.</a:t>
            </a:r>
          </a:p>
          <a:p xmlns:a="http://schemas.openxmlformats.org/drawingml/2006/main">
            <a:r>
              <a:t>- Y11 source note: NESA Preliminary course content; teacher answer booklet comparison of settings.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Research Assignment launch.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course description and course requirements; teacher answer booklet course foundations.</a:t>
            </a:r>
          </a:p>
          <a:p xmlns:a="http://schemas.openxmlformats.org/drawingml/2006/main">
            <a:r>
              <a:t>- Y11 source note: Current 2026 Research Assignment task; NESA Preliminary content on designers and design professions.</a:t>
            </a:r>
          </a:p>
          <a:p xmlns:a="http://schemas.openxmlformats.org/drawingml/2006/main">
            <a:r>
              <a:t>- Y11 source note: NESA Preliminary course content; teacher answer booklet comparison of settings.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b9b513e374c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73833598944bc8" /><Relationship Type="http://schemas.openxmlformats.org/officeDocument/2006/relationships/slideLayout" Target="/ppt/slideLayouts/slideLayout1.xml" Id="Rb7b1330e37cf4c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b1330e37cf4c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dac259f5a4c1d" /><Relationship Type="http://schemas.openxmlformats.org/officeDocument/2006/relationships/image" Target="/ppt/media/image.png" Id="Rc8efe0df6c324cb0" /><Relationship Type="http://schemas.openxmlformats.org/officeDocument/2006/relationships/notesSlide" Target="/ppt/notesSlides/notesSlide1.xml" Id="R2aa9525ff08648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32d97dc7048ec" /><Relationship Type="http://schemas.openxmlformats.org/officeDocument/2006/relationships/image" Target="/ppt/media/image2.png" Id="R3503f221da534d5a" /><Relationship Type="http://schemas.openxmlformats.org/officeDocument/2006/relationships/image" Target="/ppt/media/image.svg" Id="R67a3f6b59bc9414f" /><Relationship Type="http://schemas.openxmlformats.org/officeDocument/2006/relationships/notesSlide" Target="/ppt/notesSlides/notesSlide2.xml" Id="R8ed60cbf424343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abef5a6144387" /><Relationship Type="http://schemas.openxmlformats.org/officeDocument/2006/relationships/image" Target="/ppt/media/image3.png" Id="R088b2e76c98547d4" /><Relationship Type="http://schemas.openxmlformats.org/officeDocument/2006/relationships/notesSlide" Target="/ppt/notesSlides/notesSlide3.xml" Id="R6357f5e766f743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405862f1b44f5" /><Relationship Type="http://schemas.openxmlformats.org/officeDocument/2006/relationships/image" Target="/ppt/media/image4.png" Id="R639066f5bb894a64" /><Relationship Type="http://schemas.openxmlformats.org/officeDocument/2006/relationships/notesSlide" Target="/ppt/notesSlides/notesSlide4.xml" Id="R4c003a19249942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c4c835a7a41a9" /><Relationship Type="http://schemas.openxmlformats.org/officeDocument/2006/relationships/notesSlide" Target="/ppt/notesSlides/notesSlide5.xml" Id="R36a4aee70fe447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4703ed7d748c7" /><Relationship Type="http://schemas.openxmlformats.org/officeDocument/2006/relationships/notesSlide" Target="/ppt/notesSlides/notesSlide6.xml" Id="Rfce6a3583cb94c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353d10dd6438e" /><Relationship Type="http://schemas.openxmlformats.org/officeDocument/2006/relationships/notesSlide" Target="/ppt/notesSlides/notesSlide7.xml" Id="R9f36d8ef28c440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9e0a0e8b44ac3" /><Relationship Type="http://schemas.openxmlformats.org/officeDocument/2006/relationships/notesSlide" Target="/ppt/notesSlides/notesSlide8.xml" Id="R8caefb8bbea847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fe0df6c324cb0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BAA66-7330-4E5F-9ABB-7D97B97E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9CD35-ADC0-47B8-9846-7E36C6FF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01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46181191-90E2-4FEA-8BE5-BE6FDBC5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Design and Technology foundations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C921E5E4-45F8-4F33-8986-5D85711D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Understand the course, the work of designers and the adaptable processes used to move from a need to an evaluated solution.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11697-46A6-4297-B585-EB082724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Research Assignment launch  ·  P1.1 · P2.1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CD5F7-A7DF-47A2-ABFC-367D2D62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83698-2C5A-4ACA-87B1-3E9E657F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7484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E882AA89-8636-4938-BDF1-6CECFE15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CC3DB-A623-49F4-8313-01825F0F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C5E02-DBE5-4D13-9413-D7A7C072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01788-23FB-421D-891A-A3B70EFC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A2387889-01EF-4A28-B590-CAA791EE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3f221da534d5a">
            <a:extLst>
              <a:ext uri="{96DAC541-7B7A-43D3-8B79-37D633B846F1}">
                <asvg:svgBlip xmlns:asvg="http://schemas.microsoft.com/office/drawing/2016/SVG/main" r:embed="R67a3f6b59bc941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678B0866-81D2-4199-9BF2-64074CBE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B4152-6ADA-4022-B46E-9210E05D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92A5E-9D41-4EAC-B9A4-29C1CA8C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Create a design-profession map and compare how two designers move from client need to final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858583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2D3133CD-9896-4DE1-94D8-0043FCE7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A814A-B534-44EA-B447-8C204C27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06BB2-68BD-4724-A2CA-DD85802E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59556-8DFB-492C-9A81-62F655CF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043BE28B-B9EE-4F19-AF14-5626BA76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What Design and Technology studies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b2e76c98547d4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B1570-FE99-40D6-8A88-A301C9D0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51E95-9AA4-46C7-A112-845F25B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76468-9F34-4960-8EC7-E82B3998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FF6B6-B671-4F06-9A03-74D43AC5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Designing identifies and develops a response to a need or opportunity.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1B9F2-94CF-40C8-8781-5D36FC6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21A24-3883-4BD6-BEBA-BCC35000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Producing turns a developed idea into a product, system or environment using suitable resources and processes.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883F4-12DC-4CF8-83DB-E0E3D2BC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67128-D6BE-492A-9E54-A6E9AD16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Evaluation occurs throughout the project and again when the solution is completed.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133A3-5812-4895-B722-7BF1809E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EFC60-00F4-4F5C-94F4-F5B22251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student has built a neat object but cannot explain who needs it or how it was tested. What is the best next action?</a:t>
            </a:r>
          </a:p>
        </p:txBody>
      </p:sp>
    </p:spTree>
    <p:extLst>
      <p:ext uri="{BB962C8B-B14F-4D97-AF65-F5344CB8AC3E}">
        <p14:creationId xmlns:p14="http://schemas.microsoft.com/office/powerpoint/2010/main" val="16352670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45916216-75E8-43A2-AD8F-DBAD1145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66A4E-AB17-494C-A5B3-0FF86DB7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6B0F5-AAA4-4A21-ADBF-FCC542B3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1DCBF-0D16-414A-8249-F3DC8F2B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EAADD8A5-2F83-49DC-BD1B-8F1DCECB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Design professions and design practice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066f5bb894a64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F229D-B476-4FE1-8A48-AF44BE0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CE97E-A4C1-42F0-9F6A-386F3442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D4559-8FB8-4A3A-87DF-1EC61943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B93F9-59D4-489F-9A8F-26525103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Professional design work is shaped by a client, user, context and purpose.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EEC28-233E-418B-B191-A21A05DE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FAC72-DBD7-46C0-B37E-AD5F6CF0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Design professions overlap because complex projects require different knowledge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5F1A6-941C-41EA-89D3-248ABC37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3DE93-7AC4-49C6-82D3-AB7A4B3D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Designers communicate with technical and non-technical audiences using methods suited to each audience.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79C14-F379-496D-88D9-EC7EDA40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8B2D4-E04A-42D8-9101-A0A06C32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team is developing an accessible public drinking fountain. Which approach best reflects professional design practice?</a:t>
            </a:r>
          </a:p>
        </p:txBody>
      </p:sp>
    </p:spTree>
    <p:extLst>
      <p:ext uri="{BB962C8B-B14F-4D97-AF65-F5344CB8AC3E}">
        <p14:creationId xmlns:p14="http://schemas.microsoft.com/office/powerpoint/2010/main" val="1167697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-5">
            <a:extLst xmlns:a="http://schemas.openxmlformats.org/drawingml/2006/main">
              <a:ext uri="{FF2B5EF4-FFF2-40B4-BE49-F238E27FC236}">
                <a16:creationId xmlns:a16="http://schemas.microsoft.com/office/drawing/2014/main" id="{6B91B580-ACA6-46A9-89A1-AA84D297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D2AFF-6366-492F-9CAD-99FC1EEC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78791-A475-4A71-B174-78278CDE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40F8C-2AC7-475D-82DD-F041B637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A1CD4-CC68-4728-839F-1ADCDAEE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Design processes across contexts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9D738-FA39-4897-B862-2CF32B1C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963"/>
                </a:solidFill>
              </a:defRPr>
            </a:pPr>
            <a:r>
              <a:rPr sz="1350" b="0" i="0">
                <a:solidFill>
                  <a:srgbClr val="5C6963"/>
                </a:solidFill>
              </a:rPr>
              <a:t>Compare design processes used in domestic, community, industrial and commercial settings.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21BC5-6460-464B-86E4-8A92D1E7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4F743-3C20-4778-A87D-1D2B6AF1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FCC08-6A99-4BF1-9EBA-B41AAA24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9AEAD-3139-4807-97E4-6F16776C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ITERATE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3F1B4-CC51-410F-89A0-879134A6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A design process can be iterative, with research, testing and evaluation causing earlier decisions to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6EF36-D3C2-4C03-859D-1BA96140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A4D3D-3746-4FF0-8CBF-BAC6AADA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79933-0400-4D96-918E-CE00EE92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Domestic projects are often small and flexible, while industrial and commercial projects usually involve specialised roles and formal systems.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7F260-2819-4227-B227-06D5C3A5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98501-C52B-42B5-B3E9-6B1BBB9A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CONSULT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E7F2D-5BE9-43BB-83A1-3EA422F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Community design requires meaningful consultation with the people affected by the outcome.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46C98-23A0-49F0-9AE0-22DCD4B9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9A9DD-9DFF-4619-90C9-2E8A9E7F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A32"/>
                </a:solidFill>
              </a:defRPr>
            </a:pPr>
            <a:r>
              <a:rPr sz="1125" b="1" i="0">
                <a:solidFill>
                  <a:srgbClr val="173A32"/>
                </a:solidFill>
              </a:rPr>
              <a:t>EVIDENCE PROMPT  ·  A community group rejects an early playground concept because it excludes some users. What should the design team do?</a:t>
            </a:r>
          </a:p>
        </p:txBody>
      </p:sp>
    </p:spTree>
    <p:extLst>
      <p:ext uri="{BB962C8B-B14F-4D97-AF65-F5344CB8AC3E}">
        <p14:creationId xmlns:p14="http://schemas.microsoft.com/office/powerpoint/2010/main" val="1606697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8125F765-0C98-46FC-8FAC-39AB4AA2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5A346-D120-466C-B958-91A3BAC9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39FA9-D7F7-4CB2-9F87-0D7D081A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267A9-177F-4DDD-B8BA-6B6F44CC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5F883-6224-4359-888A-27FDAE76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A4E04-16A4-43B5-A9C8-16BF51AE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EC18A-05CB-488F-9518-28FDC5F6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DD945-091F-42AA-8914-C90C00F5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student has built a neat object but cannot explain who needs it or how it was tested. What is the best next action?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F29C6-002C-4CBE-B92B-B8EC11BA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CBE85-BEB2-450D-A80F-7273B831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D4FB0-5A17-4C55-998F-063BBF8D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team is developing an accessible public drinking fountain. Which approach best reflects professional design practice?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1D34D-3334-414F-8838-07E2C339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A5EFB-40F2-44E5-B806-F12D94CC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2A222-95C2-4AB0-A398-EF9C5F59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community group rejects an early playground concept because it excludes some users. What should the design team do?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C0EC3-ADA0-4CC2-AE16-6D2131AA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3B0AB-2EBA-4691-84BB-28071044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218DE-E97D-4343-BDA7-2A8D22C7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7ACF7-96D4-4B7B-B3D8-60744B0C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F6A36-99D3-4F07-87C0-D3E08A7E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AD90D-ED3E-4D77-86D4-F758B97E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31804-CA57-473C-84C4-2F93DD61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760150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5BFA2465-988F-458C-B7E8-1D7D7F36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82AC3-8AEA-4101-A82A-80725008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C7F74-07AD-42EE-8083-305F68CF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EAAB9-CCFA-4407-BCBA-5C7F47F2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EB316-B660-45CC-B0BF-5F497EA5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2CD7ED62-C422-42F4-B078-E5BD55D1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Create a design-profession map and compare how two designers move from client need to final presentation.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A9A1-0545-49D2-965E-92408CA0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A85A4-348A-45AF-8B47-7A109EB5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E441D-3D71-4765-958D-8815934B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DED29-8AFA-4481-9308-65BB37C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1B237-984F-4805-B02E-19A04964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379AE-E608-4230-A8CB-13481BDB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5BC6F-3840-4783-B435-E8A3A0BF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78914-92B5-453D-A88D-270EC1F0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1F35E-CBE3-45C8-9CF0-15EA057E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CD4F9-848C-4587-919E-7A7A108F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95BD7-DD2E-4E78-8697-87B593EC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B65A4-BC3D-4CCE-9A4B-81151029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13F9A-2DB8-43FE-8E5C-CA0E239F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AEF3A-4677-473C-BCFC-D00F8C4F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53B4E-9B33-41DB-ADED-566868F9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5D40B-F27D-40C7-828F-BA24D470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135314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5092195A-50DE-4CC9-8B1A-91A332AB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FD6A9-1E99-496B-885F-5534B659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B4EA4-B5A5-467D-B5A3-964BA299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1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267FF-4791-40D5-BAF5-CE75FF74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EEE59-64E0-4F29-9481-5D9B6C5D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893E9-61AB-4A9C-BE1D-9550166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52E2F-0988-4CEB-8765-847ABA10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ACA62-3CE1-46E0-9623-D68262AD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93ECC-713B-4014-A124-A97E944B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17461-BEEE-4958-87AD-523C166B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41E21-5180-4093-B8F1-A1E25CB1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0858D-FB19-48FE-AFCF-2C09D749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B548F-F510-4A65-A64B-E6095897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7FAE4-78F7-4001-872A-45DF2CBF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Research Assignment launch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DE9A2-C3BD-4DD1-9973-522D4D1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3A5CA-2A90-44F8-8336-19DE6F7E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034502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2026-08-31T18:33:34.3770000Z</dcterms:created>
  <dcterms:modified xsi:type="dcterms:W3CDTF">2026-08-31T18:33:34.3770000Z</dcterms:modified>
</coreProperties>
</file>