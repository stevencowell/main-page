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84f139fa8a437d" /><Relationship Type="http://schemas.openxmlformats.org/officeDocument/2006/relationships/extended-properties" Target="/docProps/app.xml" Id="R6e1a71efe94346bd" /><Relationship Type="http://schemas.openxmlformats.org/officeDocument/2006/relationships/officeDocument" Target="/ppt/presentation.xml" Id="R532288332a1343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9642225bbb4c3d"/>
  </p:sldMasterIdLst>
  <p:notesMasterIdLst>
    <p:notesMasterId xmlns:r="http://schemas.openxmlformats.org/officeDocument/2006/relationships" r:id="R89ce7f20f4164193"/>
  </p:notesMasterIdLst>
  <p:sldIdLst>
    <p:sldId xmlns:r="http://schemas.openxmlformats.org/officeDocument/2006/relationships" id="256" r:id="Rabfb37f29da249f4"/>
    <p:sldId xmlns:r="http://schemas.openxmlformats.org/officeDocument/2006/relationships" id="257" r:id="R24d5e38fc79e47f7"/>
    <p:sldId xmlns:r="http://schemas.openxmlformats.org/officeDocument/2006/relationships" id="258" r:id="R1b8d2f310fb44332"/>
    <p:sldId xmlns:r="http://schemas.openxmlformats.org/officeDocument/2006/relationships" id="259" r:id="Rbc660f00c77b4656"/>
    <p:sldId xmlns:r="http://schemas.openxmlformats.org/officeDocument/2006/relationships" id="260" r:id="Rf8b5a03dbbe6434f"/>
    <p:sldId xmlns:r="http://schemas.openxmlformats.org/officeDocument/2006/relationships" id="261" r:id="Rd73b5114ceb040f6"/>
    <p:sldId xmlns:r="http://schemas.openxmlformats.org/officeDocument/2006/relationships" id="262" r:id="R5f9d36055607498c"/>
    <p:sldId xmlns:r="http://schemas.openxmlformats.org/officeDocument/2006/relationships" id="263" r:id="Re98ade5dbedd44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84ba3712304a9c" /><Relationship Type="http://schemas.openxmlformats.org/officeDocument/2006/relationships/slideMaster" Target="/ppt/slideMasters/slideMaster1.xml" Id="R359642225bbb4c3d" /><Relationship Type="http://schemas.openxmlformats.org/officeDocument/2006/relationships/notesMaster" Target="/ppt/notesMasters/notesMaster1.xml" Id="R89ce7f20f4164193" /><Relationship Type="http://schemas.openxmlformats.org/officeDocument/2006/relationships/presProps" Target="/ppt/presProps.xml" Id="R314b5d46c6b74e8c" /><Relationship Type="http://schemas.openxmlformats.org/officeDocument/2006/relationships/tableStyles" Target="/ppt/tableStyles.xml" Id="R05379656e1834b52" /><Relationship Type="http://schemas.openxmlformats.org/officeDocument/2006/relationships/slide" Target="/ppt/slides/slide1.xml" Id="Rabfb37f29da249f4" /><Relationship Type="http://schemas.openxmlformats.org/officeDocument/2006/relationships/slide" Target="/ppt/slides/slide2.xml" Id="R24d5e38fc79e47f7" /><Relationship Type="http://schemas.openxmlformats.org/officeDocument/2006/relationships/slide" Target="/ppt/slides/slide3.xml" Id="R1b8d2f310fb44332" /><Relationship Type="http://schemas.openxmlformats.org/officeDocument/2006/relationships/slide" Target="/ppt/slides/slide4.xml" Id="Rbc660f00c77b4656" /><Relationship Type="http://schemas.openxmlformats.org/officeDocument/2006/relationships/slide" Target="/ppt/slides/slide5.xml" Id="Rf8b5a03dbbe6434f" /><Relationship Type="http://schemas.openxmlformats.org/officeDocument/2006/relationships/slide" Target="/ppt/slides/slide6.xml" Id="Rd73b5114ceb040f6" /><Relationship Type="http://schemas.openxmlformats.org/officeDocument/2006/relationships/slide" Target="/ppt/slides/slide7.xml" Id="R5f9d36055607498c" /><Relationship Type="http://schemas.openxmlformats.org/officeDocument/2006/relationships/slide" Target="/ppt/slides/slide8.xml" Id="Re98ade5dbedd44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1028af214649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24c12385844257" /><Relationship Type="http://schemas.openxmlformats.org/officeDocument/2006/relationships/notesMaster" Target="/ppt/notesMasters/notesMaster1.xml" Id="Re9fbf1ff309b48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15070f4b254ba0" /><Relationship Type="http://schemas.openxmlformats.org/officeDocument/2006/relationships/notesMaster" Target="/ppt/notesMasters/notesMaster1.xml" Id="R70f49e595e734e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ce141f89fb47cf" /><Relationship Type="http://schemas.openxmlformats.org/officeDocument/2006/relationships/notesMaster" Target="/ppt/notesMasters/notesMaster1.xml" Id="Rd726e6de91764d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b41521aed947bc" /><Relationship Type="http://schemas.openxmlformats.org/officeDocument/2006/relationships/notesMaster" Target="/ppt/notesMasters/notesMaster1.xml" Id="Rc9c26b7467f944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2a36c843144611" /><Relationship Type="http://schemas.openxmlformats.org/officeDocument/2006/relationships/notesMaster" Target="/ppt/notesMasters/notesMaster1.xml" Id="R38f6f9ae8ac44f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8453b22aea41b5" /><Relationship Type="http://schemas.openxmlformats.org/officeDocument/2006/relationships/notesMaster" Target="/ppt/notesMasters/notesMaster1.xml" Id="R1e0e4993e3ec40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47d09545e347aa" /><Relationship Type="http://schemas.openxmlformats.org/officeDocument/2006/relationships/notesMaster" Target="/ppt/notesMasters/notesMaster1.xml" Id="R13afdb7618af40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5182ceecc246ba" /><Relationship Type="http://schemas.openxmlformats.org/officeDocument/2006/relationships/notesMaster" Target="/ppt/notesMasters/notesMaster1.xml" Id="Rb52434d282bd45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Establish the purpose of Briefs, users and criteria.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Translate evidence about users and contexts into a clear brief, practical boundaries and criteria that guide testing.</a:t>
            </a:r>
          </a:p>
          <a:p xmlns:a="http://schemas.openxmlformats.org/drawingml/2006/main">
            <a:r>
              <a:t>- Name the three learning areas without teaching them yet: Design situation, brief and constraints; Target market, equity and accessibility; Criteria to evaluate success.</a:t>
            </a:r>
          </a:p>
          <a:p xmlns:a="http://schemas.openxmlformats.org/drawingml/2006/main">
            <a:r>
              <a:t>- Explain that this deck supports classroom learning and formative evidence. Current teacher directions and formal notices remain authoritative.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the module purpose to the three-part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approved family-generated teaching asset, Year 12 D&amp;T assets/images/course-hero.png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Preview the three named ideas as a connected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- 1. Design situation, brief and constraints: Write a design brief that gives direction without prescribing the final solution.</a:t>
            </a:r>
          </a:p>
          <a:p xmlns:a="http://schemas.openxmlformats.org/drawingml/2006/main">
            <a:r>
              <a:t>- 2. Target market, equity and accessibility: Define users through relevant needs and design inclusively without relying on stereotypes.</a:t>
            </a:r>
          </a:p>
          <a:p xmlns:a="http://schemas.openxmlformats.org/drawingml/2006/main">
            <a:r>
              <a:t>- 3. Criteria to evaluate success: Develop measurable criteria and use them throughout design development and final evaluation.</a:t>
            </a:r>
          </a:p>
          <a:p xmlns:a="http://schemas.openxmlformats.org/drawingml/2006/main">
            <a:r>
              <a:t>- Retrieval prompt: Which idea is most likely to change a real design decision in Kitchen Companion, and why?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Begin with Design situation, brief and constraints.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current Year 11 local teaching asset assets/module-07-map.svg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Write a design brief that gives direction without prescribing the final solution.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 useful design situation explains the context, affected users and reason a response is needed.</a:t>
            </a:r>
          </a:p>
          <a:p xmlns:a="http://schemas.openxmlformats.org/drawingml/2006/main">
            <a:r>
              <a:t>- A useful brief identifies the intended user, need, purpose and important boundaries while leaving room for design development.</a:t>
            </a:r>
          </a:p>
          <a:p xmlns:a="http://schemas.openxmlformats.org/drawingml/2006/main">
            <a:r>
              <a:t>- Constraints should be recorded early because they influence feasible research, ideas, materials and processes.</a:t>
            </a:r>
          </a:p>
          <a:p xmlns:a="http://schemas.openxmlformats.org/drawingml/2006/main">
            <a:r>
              <a:t>- A brief can be refined when research reveals that the original need or boundaries were inaccurate.</a:t>
            </a:r>
          </a:p>
          <a:p xmlns:a="http://schemas.openxmlformats.org/drawingml/2006/main">
            <a:r>
              <a:t>- Visual notice: Ask students what the scene makes visible about design situation, brief and constraints, then connect observations to the stated principles.</a:t>
            </a:r>
          </a:p>
          <a:p xmlns:a="http://schemas.openxmlformats.org/drawingml/2006/main">
            <a:r>
              <a:t>- Evidence prompt: Which revision most improves the brief “Design a kitchen gadget”?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A design brief should describe the final product in enough detail to prevent alternatives.</a:t>
            </a:r>
          </a:p>
          <a:p xmlns:a="http://schemas.openxmlformats.org/drawingml/2006/main">
            <a:r>
              <a:t>- Constraints are problems that good designers can ignore through creativity.</a:t>
            </a:r>
          </a:p>
          <a:p xmlns:a="http://schemas.openxmlformats.org/drawingml/2006/main">
            <a:r>
              <a:t>- A broad brief such as “design something useful” encourages better innovation.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Target market, equity and accessibility.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design-process content; Kitchen Companion and teacher answer booklet brief guidance.</a:t>
            </a:r>
          </a:p>
          <a:p xmlns:a="http://schemas.openxmlformats.org/drawingml/2006/main">
            <a:r>
              <a:t>- Visual: approved family-generated teaching asset, Year 12 D&amp;T assets/images/m04s01.png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Define users through relevant needs and design inclusively without relying on stereotypes.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User profiles should include relevant abilities, tasks, environment, preferences and access requirements rather than assumptions based on age or identity alone.</a:t>
            </a:r>
          </a:p>
          <a:p xmlns:a="http://schemas.openxmlformats.org/drawingml/2006/main">
            <a:r>
              <a:t>- Inclusive design considers variation in strength, reach, vision, dexterity, cognition, language and resources where relevant.</a:t>
            </a:r>
          </a:p>
          <a:p xmlns:a="http://schemas.openxmlformats.org/drawingml/2006/main">
            <a:r>
              <a:t>- Equity may require different support or features so users can achieve fair access rather than identical treatment.</a:t>
            </a:r>
          </a:p>
          <a:p xmlns:a="http://schemas.openxmlformats.org/drawingml/2006/main">
            <a:r>
              <a:t>- Direct participation by intended users can reveal barriers that designers and proxy users overlook.</a:t>
            </a:r>
          </a:p>
          <a:p xmlns:a="http://schemas.openxmlformats.org/drawingml/2006/main">
            <a:r>
              <a:t>- Diagram notice: Trace ABILITY → ACCESS → EQUITY and ask where evidence changes the next decision.</a:t>
            </a:r>
          </a:p>
          <a:p xmlns:a="http://schemas.openxmlformats.org/drawingml/2006/main">
            <a:r>
              <a:t>- Evidence prompt: A kitchen accessory is intended for users with reduced grip strength. Which decision is most defensible?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A target market is defined mainly by age and gender.</a:t>
            </a:r>
          </a:p>
          <a:p xmlns:a="http://schemas.openxmlformats.org/drawingml/2006/main">
            <a:r>
              <a:t>- Inclusive design requires one solution to work perfectly for every person.</a:t>
            </a:r>
          </a:p>
          <a:p xmlns:a="http://schemas.openxmlformats.org/drawingml/2006/main">
            <a:r>
              <a:t>- Equity means giving all users exactly the same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Criteria to evaluate success.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Teacher answer booklet on equity and ergonomics; NESA user and impact content.</a:t>
            </a:r>
          </a:p>
          <a:p xmlns:a="http://schemas.openxmlformats.org/drawingml/2006/main">
            <a:r>
              <a:t>- Visual: editable native PowerPoint relationship diagram derived only from the three source-bound section principles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Develop measurable criteria and use them throughout design development and final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Each criterion should state what successful performance looks like for the intended user and context.</a:t>
            </a:r>
          </a:p>
          <a:p xmlns:a="http://schemas.openxmlformats.org/drawingml/2006/main">
            <a:r>
              <a:t>- A testing method should be planned with the criterion so evidence can be collected later.</a:t>
            </a:r>
          </a:p>
          <a:p xmlns:a="http://schemas.openxmlformats.org/drawingml/2006/main">
            <a:r>
              <a:t>- Criteria may cover function, ergonomics, aesthetics, safety, durability, quality, size, cost and environmental performance.</a:t>
            </a:r>
          </a:p>
          <a:p xmlns:a="http://schemas.openxmlformats.org/drawingml/2006/main">
            <a:r>
              <a:t>- Criteria should be reviewed when research changes the understanding of the need, but not altered merely to make the final design appear successful.</a:t>
            </a:r>
          </a:p>
          <a:p xmlns:a="http://schemas.openxmlformats.org/drawingml/2006/main">
            <a:r>
              <a:t>- Visual notice: Ask students what the scene makes visible about criteria to evaluate success, then connect observations to the stated principles.</a:t>
            </a:r>
          </a:p>
          <a:p xmlns:a="http://schemas.openxmlformats.org/drawingml/2006/main">
            <a:r>
              <a:t>- Evidence prompt: Which criterion is strongest for a 3D-printed sliding component?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A criterion such as “looks good” is adequate because aesthetics is subjective.</a:t>
            </a:r>
          </a:p>
          <a:p xmlns:a="http://schemas.openxmlformats.org/drawingml/2006/main">
            <a:r>
              <a:t>- Testing methods should be chosen after the product is completed.</a:t>
            </a:r>
          </a:p>
          <a:p xmlns:a="http://schemas.openxmlformats.org/drawingml/2006/main">
            <a:r>
              <a:t>- More criteria always create a more rigorous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teaching into retrieval across all three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Teacher answer booklet on criteria versus constraints and continual evaluation; current project folio requirements.</a:t>
            </a:r>
          </a:p>
          <a:p xmlns:a="http://schemas.openxmlformats.org/drawingml/2006/main">
            <a:r>
              <a:t>- Visual: approved family-generated teaching asset, Year 12 D&amp;T assets/images/m04s03.png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retrieval to expose and repair reasoning gaps across all three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Give quiet recall time before inviting answers.</a:t>
            </a:r>
          </a:p>
          <a:p xmlns:a="http://schemas.openxmlformats.org/drawingml/2006/main">
            <a:r>
              <a:t>- Check 1: Which revision most improves the brief “Design a kitchen gadget”?</a:t>
            </a:r>
          </a:p>
          <a:p xmlns:a="http://schemas.openxmlformats.org/drawingml/2006/main">
            <a:r>
              <a:t>- Indicative answer: Design a compact, 3D-printed kitchen accessory for a clearly identified user that addresses a researched problem and can be assembled without glue or screws.</a:t>
            </a:r>
          </a:p>
          <a:p xmlns:a="http://schemas.openxmlformats.org/drawingml/2006/main">
            <a:r>
              <a:t>- Check 2: A kitchen accessory is intended for users with reduced grip strength. Which decision is most defensible?</a:t>
            </a:r>
          </a:p>
          <a:p xmlns:a="http://schemas.openxmlformats.org/drawingml/2006/main">
            <a:r>
              <a:t>- Indicative answer: Research grip, reach and operating-force needs with intended users and test alternative forms under realistic tasks.</a:t>
            </a:r>
          </a:p>
          <a:p xmlns:a="http://schemas.openxmlformats.org/drawingml/2006/main">
            <a:r>
              <a:t>- Check 3: Which criterion is strongest for a 3D-printed sliding component?</a:t>
            </a:r>
          </a:p>
          <a:p xmlns:a="http://schemas.openxmlformats.org/drawingml/2006/main">
            <a:r>
              <a:t>- Indicative answer: The slider must move through its full travel ten times without binding or separating when tested after the authorised print and finishing process.</a:t>
            </a:r>
          </a:p>
          <a:p xmlns:a="http://schemas.openxmlformats.org/drawingml/2006/main">
            <a:r>
              <a:t>- Ask students to explain why the answer is defensible before they return to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retrieved ideas to construct one sustained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design-process content; Kitchen Companion and teacher answer booklet brief guidance.</a:t>
            </a:r>
          </a:p>
          <a:p xmlns:a="http://schemas.openxmlformats.org/drawingml/2006/main">
            <a:r>
              <a:t>- Y11 source note: Teacher answer booklet on equity and ergonomics; NESA user and impact content.</a:t>
            </a:r>
          </a:p>
          <a:p xmlns:a="http://schemas.openxmlformats.org/drawingml/2006/main">
            <a:r>
              <a:t>- Y11 source note: Teacher answer booklet on criteria versus constraints and continual evaluation; current project folio requirements.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Guide one higher-order formative response using all three module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Prompt: Build a user-needs, constraints and criteria matrix for the Kitchen Companion design.</a:t>
            </a:r>
          </a:p>
          <a:p xmlns:a="http://schemas.openxmlformats.org/drawingml/2006/main">
            <a:r>
              <a:t>- Read: identify the user, context and design question.</a:t>
            </a:r>
          </a:p>
          <a:p xmlns:a="http://schemas.openxmlformats.org/drawingml/2006/main">
            <a:r>
              <a:t>- Select: choose source-bound evidence rather than a preference.</a:t>
            </a:r>
          </a:p>
          <a:p xmlns:a="http://schemas.openxmlformats.org/drawingml/2006/main">
            <a:r>
              <a:t>- Explain: connect the evidence to a design consequence or decision.</a:t>
            </a:r>
          </a:p>
          <a:p xmlns:a="http://schemas.openxmlformats.org/drawingml/2006/main">
            <a:r>
              <a:t>- Check: test the response against the relevant need, criterion or source.</a:t>
            </a:r>
          </a:p>
          <a:p xmlns:a="http://schemas.openxmlformats.org/drawingml/2006/main">
            <a:r>
              <a:t>- Remind students that this is formative learning evidence, not a formal submission instruction.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Close by asking each student to retain the response and name the next useful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design-process content; Kitchen Companion and teacher answer booklet brief guidance.</a:t>
            </a:r>
          </a:p>
          <a:p xmlns:a="http://schemas.openxmlformats.org/drawingml/2006/main">
            <a:r>
              <a:t>- Y11 source note: Teacher answer booklet on equity and ergonomics; NESA user and impact content.</a:t>
            </a:r>
          </a:p>
          <a:p xmlns:a="http://schemas.openxmlformats.org/drawingml/2006/main">
            <a:r>
              <a:t>- Y11 source note: Teacher answer booklet on criteria versus constraints and continual evaluation; current project folio requirements.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Make the exit ticket produce a concrete learning record and a manageable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Ask students to complete all three prompts individually before discussion.</a:t>
            </a:r>
          </a:p>
          <a:p xmlns:a="http://schemas.openxmlformats.org/drawingml/2006/main">
            <a:r>
              <a:t>- Keep the record labelled formative learning evidence; do not imply a cloud submission or formal assessment requirement.</a:t>
            </a:r>
          </a:p>
          <a:p xmlns:a="http://schemas.openxmlformats.org/drawingml/2006/main">
            <a:r>
              <a:t>- Next action: connect the module evidence to Kitchen Companion.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End with each student's own next action, not a generic summary.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design-process content; Kitchen Companion and teacher answer booklet brief guidance.</a:t>
            </a:r>
          </a:p>
          <a:p xmlns:a="http://schemas.openxmlformats.org/drawingml/2006/main">
            <a:r>
              <a:t>- Y11 source note: Teacher answer booklet on equity and ergonomics; NESA user and impact content.</a:t>
            </a:r>
          </a:p>
          <a:p xmlns:a="http://schemas.openxmlformats.org/drawingml/2006/main">
            <a:r>
              <a:t>- Y11 source note: Teacher answer booklet on criteria versus constraints and continual evaluation; current project folio requirements.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f08c5c60b048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47b47ddc814d16" /><Relationship Type="http://schemas.openxmlformats.org/officeDocument/2006/relationships/slideLayout" Target="/ppt/slideLayouts/slideLayout1.xml" Id="R71fd5735131342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fd5735131342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04f708d6344bc" /><Relationship Type="http://schemas.openxmlformats.org/officeDocument/2006/relationships/image" Target="/ppt/media/image.png" Id="Rda9008dede184c8a" /><Relationship Type="http://schemas.openxmlformats.org/officeDocument/2006/relationships/notesSlide" Target="/ppt/notesSlides/notesSlide1.xml" Id="Ra9d2b79923914f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4413b62d44917" /><Relationship Type="http://schemas.openxmlformats.org/officeDocument/2006/relationships/image" Target="/ppt/media/image2.png" Id="R1713d39e539246e1" /><Relationship Type="http://schemas.openxmlformats.org/officeDocument/2006/relationships/image" Target="/ppt/media/image.svg" Id="Rf93d5f6307284516" /><Relationship Type="http://schemas.openxmlformats.org/officeDocument/2006/relationships/notesSlide" Target="/ppt/notesSlides/notesSlide2.xml" Id="R00a684f7c0314f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c481af5e8443d" /><Relationship Type="http://schemas.openxmlformats.org/officeDocument/2006/relationships/image" Target="/ppt/media/image3.png" Id="Rf1e24d23267e4c01" /><Relationship Type="http://schemas.openxmlformats.org/officeDocument/2006/relationships/notesSlide" Target="/ppt/notesSlides/notesSlide3.xml" Id="Rd28dc84a442143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5be1debd04776" /><Relationship Type="http://schemas.openxmlformats.org/officeDocument/2006/relationships/notesSlide" Target="/ppt/notesSlides/notesSlide4.xml" Id="Ra702b35d1bc64a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5f6222a9f48f5" /><Relationship Type="http://schemas.openxmlformats.org/officeDocument/2006/relationships/image" Target="/ppt/media/image4.png" Id="R4b90721966174d04" /><Relationship Type="http://schemas.openxmlformats.org/officeDocument/2006/relationships/notesSlide" Target="/ppt/notesSlides/notesSlide5.xml" Id="Red60889a4c554d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eef9608d14ac8" /><Relationship Type="http://schemas.openxmlformats.org/officeDocument/2006/relationships/notesSlide" Target="/ppt/notesSlides/notesSlide6.xml" Id="Rc527e45eccc74b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7167b19c14e92" /><Relationship Type="http://schemas.openxmlformats.org/officeDocument/2006/relationships/notesSlide" Target="/ppt/notesSlides/notesSlide7.xml" Id="R01371fdc944140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9552e7b3c4bbe" /><Relationship Type="http://schemas.openxmlformats.org/officeDocument/2006/relationships/notesSlide" Target="/ppt/notesSlides/notesSlide8.xml" Id="R8cb7f00dd46141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008dede184c8a"/>
          <a:srcRect xmlns:a="http://schemas.openxmlformats.org/drawingml/2006/main" l="19792" t="0" r="197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820575-8505-4A85-91D6-8F048A37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0C61F-C67F-478A-AA8D-BD16C4CE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65F49"/>
                </a:solidFill>
              </a:defRPr>
            </a:pPr>
            <a:r>
              <a:rPr sz="1275" b="1" i="0">
                <a:solidFill>
                  <a:srgbClr val="B65F49"/>
                </a:solidFill>
              </a:rPr>
              <a:t>MODULE 07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74158B4E-B6F1-4486-BC27-8342C9CB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2197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73A32"/>
                </a:solidFill>
              </a:defRPr>
            </a:pPr>
            <a:r>
              <a:rPr sz="3900" b="1" i="0">
                <a:solidFill>
                  <a:srgbClr val="173A32"/>
                </a:solidFill>
              </a:rPr>
              <a:t>Briefs, users and criteria</a:t>
            </a:r>
          </a:p>
        </p:txBody>
      </p:sp>
      <p:sp>
        <p:nvSpPr>
          <p:cNvPr id="5" name="deck-purpose">
            <a:extLst xmlns:a="http://schemas.openxmlformats.org/drawingml/2006/main">
              <a:ext uri="{FF2B5EF4-FFF2-40B4-BE49-F238E27FC236}">
                <a16:creationId xmlns:a16="http://schemas.microsoft.com/office/drawing/2014/main" id="{2BCC4867-EF74-438C-AB76-98A8EB0D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12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8231F"/>
                </a:solidFill>
              </a:defRPr>
            </a:pPr>
            <a:r>
              <a:rPr sz="1575" b="0" i="0">
                <a:solidFill>
                  <a:srgbClr val="18231F"/>
                </a:solidFill>
              </a:rPr>
              <a:t>Translate evidence about users and contexts into a clear brief, practical boundaries and criteria that guide testing.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A0C0F8-FE4F-4A02-ABD7-2811D505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A4D"/>
                </a:solidFill>
              </a:defRPr>
            </a:pPr>
            <a:r>
              <a:rPr sz="1125" b="1" i="0">
                <a:solidFill>
                  <a:srgbClr val="315A4D"/>
                </a:solidFill>
              </a:rPr>
              <a:t>Kitchen Companion  ·  P4.1 · P4.3 · P5.3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41E7D-37A0-4F25-9C6D-50E76E62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FORMATIVE LEARNING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32C32-E682-40AC-BA84-1F7A6BE4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076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153800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2">
            <a:extLst xmlns:a="http://schemas.openxmlformats.org/drawingml/2006/main">
              <a:ext uri="{FF2B5EF4-FFF2-40B4-BE49-F238E27FC236}">
                <a16:creationId xmlns:a16="http://schemas.microsoft.com/office/drawing/2014/main" id="{4305B9CF-7207-4A75-A242-FAC6C320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7301A-35CB-425E-BC0B-D8377CCF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61616-1E14-4E93-BF95-AD2A78E1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13–14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EE90D-2F3B-4D18-954B-9AD91434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02</a:t>
            </a:r>
          </a:p>
        </p:txBody>
      </p:sp>
      <p:sp>
        <p:nvSpPr>
          <p:cNvPr id="5" name="map-title">
            <a:extLst xmlns:a="http://schemas.openxmlformats.org/drawingml/2006/main">
              <a:ext uri="{FF2B5EF4-FFF2-40B4-BE49-F238E27FC236}">
                <a16:creationId xmlns:a16="http://schemas.microsoft.com/office/drawing/2014/main" id="{9D21F63B-78EE-4F87-BC19-63327855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A32"/>
                </a:solidFill>
              </a:defRPr>
            </a:pPr>
            <a:r>
              <a:rPr sz="3150" b="1" i="0">
                <a:solidFill>
                  <a:srgbClr val="173A32"/>
                </a:solidFill>
              </a:rPr>
              <a:t>Three ideas build one evidence pathway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3d39e539246e1">
            <a:extLst>
              <a:ext uri="{96DAC541-7B7A-43D3-8B79-37D633B846F1}">
                <asvg:svgBlip xmlns:asvg="http://schemas.microsoft.com/office/drawing/2016/SVG/main" r:embed="Rf93d5f63072845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524000"/>
            <a:ext cx="10820400" cy="2428875"/>
          </a:xfrm>
          <a:prstGeom xmlns:a="http://schemas.openxmlformats.org/drawingml/2006/main" prst="rect">
            <a:avLst/>
          </a:prstGeom>
        </p:spPr>
      </p:pic>
      <p:sp>
        <p:nvSpPr>
          <p:cNvPr id="7" name="applied-path">
            <a:extLst xmlns:a="http://schemas.openxmlformats.org/drawingml/2006/main">
              <a:ext uri="{FF2B5EF4-FFF2-40B4-BE49-F238E27FC236}">
                <a16:creationId xmlns:a16="http://schemas.microsoft.com/office/drawing/2014/main" id="{B4E0CC13-42CF-4A76-9453-DF4F67D7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9334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A39F4-F7D7-4C48-AF96-D3E5EE65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24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APPLY + KEEP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B9461-F8CA-4F84-A114-EE7FFBA1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95875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Build a user-needs, constraints and criteria matrix for the Kitchen Companion design.</a:t>
            </a:r>
          </a:p>
        </p:txBody>
      </p:sp>
    </p:spTree>
    <p:extLst>
      <p:ext uri="{BB962C8B-B14F-4D97-AF65-F5344CB8AC3E}">
        <p14:creationId xmlns:p14="http://schemas.microsoft.com/office/powerpoint/2010/main" val="16800918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3">
            <a:extLst xmlns:a="http://schemas.openxmlformats.org/drawingml/2006/main">
              <a:ext uri="{FF2B5EF4-FFF2-40B4-BE49-F238E27FC236}">
                <a16:creationId xmlns:a16="http://schemas.microsoft.com/office/drawing/2014/main" id="{83D86500-8FC2-49AF-9DA5-95F3FA36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518F4-A003-4E9B-B743-08B49429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59CA0-DF70-4233-8074-1E6F8976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13–14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C4A3D-AE32-451A-8275-16EC696C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03</a:t>
            </a:r>
          </a:p>
        </p:txBody>
      </p:sp>
      <p:sp>
        <p:nvSpPr>
          <p:cNvPr id="5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FF291FFE-D26B-4BBD-904D-05BF8C29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Design situation, brief and constraints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24d23267e4c01"/>
          <a:srcRect xmlns:a="http://schemas.openxmlformats.org/drawingml/2006/main" l="4268" t="0" r="42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31624-6BE7-4D01-A9F3-AEE46422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EACA5-1CC3-448D-A678-91EAB02B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2D0207-4C04-4943-BF01-A00C6A7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3B199-EC7A-48AC-98A5-DD5D1CC2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 useful design situation explains the context, affected users and reason a response is needed.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39F6C-E190-423E-9F56-C11807E3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B5A03-1685-40DC-849F-B43A8B06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 useful brief identifies the intended user, need, purpose and important boundaries while leaving room for design development.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00888-A3B3-4C18-8D5F-55D23A50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AD4CBD-6991-4E1B-85F8-F87EAD71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Constraints should be recorded early because they influence feasible research, ideas, materials and processes.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578F6D-575D-48FE-B0A4-FE133A28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DE2182-DD87-4E5D-B929-F477A4D6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Which revision most improves the brief “Design a kitchen gadget”?</a:t>
            </a:r>
          </a:p>
        </p:txBody>
      </p:sp>
    </p:spTree>
    <p:extLst>
      <p:ext uri="{BB962C8B-B14F-4D97-AF65-F5344CB8AC3E}">
        <p14:creationId xmlns:p14="http://schemas.microsoft.com/office/powerpoint/2010/main" val="6705411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header-4">
            <a:extLst xmlns:a="http://schemas.openxmlformats.org/drawingml/2006/main">
              <a:ext uri="{FF2B5EF4-FFF2-40B4-BE49-F238E27FC236}">
                <a16:creationId xmlns:a16="http://schemas.microsoft.com/office/drawing/2014/main" id="{5664781B-D0CD-4B5A-A8E7-C2F24558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A2A5C-1EB4-4C4B-A8B1-D3312909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0382B-869C-4ADA-8266-F8D86188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13–14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A431D-E9E9-4F01-898B-C024475D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1D6F5-2BD1-412F-8D1C-9782BCD0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Target market, equity and accessibility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79592-F612-4325-B88D-68858A09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963"/>
                </a:solidFill>
              </a:defRPr>
            </a:pPr>
            <a:r>
              <a:rPr sz="1350" b="0" i="0">
                <a:solidFill>
                  <a:srgbClr val="5C6963"/>
                </a:solidFill>
              </a:rPr>
              <a:t>Define users through relevant needs and design inclusively without relying on stereotypes.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DEC8C-F9AD-4F08-97FF-11D2A214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62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A2383-777E-4631-9142-CAEA2AA2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2CD5D-1C74-40F1-B502-36090E68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2A1DA-A43E-4913-A514-2D79C2B4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01C83-8C63-4AC7-B0ED-F581C864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User profiles should include relevant abilities, tasks, environment, preferences and access requirements rather than assumptions based on age or identity alone.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4D00D-9C3E-40D1-985B-752C6BEB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76D66-7A08-4794-8994-94C62DC1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5665EF-1013-42E3-81D3-476B8CE6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Inclusive design considers variation in strength, reach, vision, dexterity, cognition, language and resources where relevant.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2C977-596D-4CD4-8687-345684B1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1714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FCA89-0CDA-49DE-BD04-5A03B87C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EQUITY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3086B-E6DB-482D-9B08-36EC7FC3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38550"/>
            <a:ext cx="27432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231F"/>
                </a:solidFill>
              </a:defRPr>
            </a:pPr>
            <a:r>
              <a:rPr sz="1200" b="0" i="0">
                <a:solidFill>
                  <a:srgbClr val="18231F"/>
                </a:solidFill>
              </a:rPr>
              <a:t>Equity may require different support or features so users can achieve fair access rather than identical treatment.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DE347-EBC2-4AD7-A5B2-70062D06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EC7694-CB60-454F-B52F-ABED2845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578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3A32"/>
                </a:solidFill>
              </a:defRPr>
            </a:pPr>
            <a:r>
              <a:rPr sz="1125" b="1" i="0">
                <a:solidFill>
                  <a:srgbClr val="173A32"/>
                </a:solidFill>
              </a:rPr>
              <a:t>EVIDENCE PROMPT  ·  A kitchen accessory is intended for users with reduced grip strength. Which decision is most defensible?</a:t>
            </a:r>
          </a:p>
        </p:txBody>
      </p:sp>
    </p:spTree>
    <p:extLst>
      <p:ext uri="{BB962C8B-B14F-4D97-AF65-F5344CB8AC3E}">
        <p14:creationId xmlns:p14="http://schemas.microsoft.com/office/powerpoint/2010/main" val="8561799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5">
            <a:extLst xmlns:a="http://schemas.openxmlformats.org/drawingml/2006/main">
              <a:ext uri="{FF2B5EF4-FFF2-40B4-BE49-F238E27FC236}">
                <a16:creationId xmlns:a16="http://schemas.microsoft.com/office/drawing/2014/main" id="{CF84FCAB-4263-4C8F-A9AA-D821C97A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75A74-477D-4CD2-A689-515815B4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4CEAB-0C00-428F-AC8F-C4B3A019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13–14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2C88D-4E0D-4344-9935-BDC3D9E3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05</a:t>
            </a:r>
          </a:p>
        </p:txBody>
      </p:sp>
      <p:sp>
        <p:nvSpPr>
          <p:cNvPr id="5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06BCA3C7-60C4-42E0-A6C0-74491227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Criteria to evaluate success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0721966174d04"/>
          <a:srcRect xmlns:a="http://schemas.openxmlformats.org/drawingml/2006/main" l="4268" t="0" r="42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0BEAC-6A39-45CB-85D4-43242924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B2D7A-03BB-4762-ABD7-0E4D5466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D40AD-4076-4FA7-AEBA-8F59699B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9DDEB-4ECF-4E45-94EB-434F1BD1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Each criterion should state what successful performance looks like for the intended user and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90EDA-B946-4449-834F-9B367517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2E4A4-3E43-457A-AECE-45B80B99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 testing method should be planned with the criterion so evidence can be collected later.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9D6BD-1221-4487-9EEA-A7E08338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6F1CB-7A44-4497-9560-5BB0D808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Criteria may cover function, ergonomics, aesthetics, safety, durability, quality, size, cost and environmental performance.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62A59E-639E-45BA-AA50-63453A29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DB1781-9251-4B01-BFF8-68C16982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Which criterion is strongest for a 3D-printed sliding component?</a:t>
            </a:r>
          </a:p>
        </p:txBody>
      </p:sp>
    </p:spTree>
    <p:extLst>
      <p:ext uri="{BB962C8B-B14F-4D97-AF65-F5344CB8AC3E}">
        <p14:creationId xmlns:p14="http://schemas.microsoft.com/office/powerpoint/2010/main" val="6400044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header-6">
            <a:extLst xmlns:a="http://schemas.openxmlformats.org/drawingml/2006/main">
              <a:ext uri="{FF2B5EF4-FFF2-40B4-BE49-F238E27FC236}">
                <a16:creationId xmlns:a16="http://schemas.microsoft.com/office/drawing/2014/main" id="{68BE6448-8BF9-4D7D-BB79-273BB854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8D23D-131B-455E-A8F1-80031BD9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2F8532-CFA6-4579-87AC-CA4A79F3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13–14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C90E2-AB9D-4379-ACBF-771CFC26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0A583-8606-45A8-8E68-1564E8E6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Retrieve first; then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338A8-A523-4792-A8F1-60FAD644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15A4D"/>
                </a:solidFill>
              </a:defRPr>
            </a:pPr>
            <a:r>
              <a:rPr sz="1275" b="0" i="0">
                <a:solidFill>
                  <a:srgbClr val="315A4D"/>
                </a:solidFill>
              </a:rPr>
              <a:t>Answer without notes. Use one precise sentence for each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BDB37-A310-4ECA-80B2-1168DCB3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65F49"/>
                </a:solidFill>
              </a:defRPr>
            </a:pPr>
            <a:r>
              <a:rPr sz="1800" b="1" i="0">
                <a:solidFill>
                  <a:srgbClr val="B65F4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2CDEA-2987-4A22-817F-30155CC5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Which revision most improves the brief “Design a kitchen gadget”?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A661D-D99F-4239-8F27-0DC59E20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1C4BE-C777-434D-81A5-8AE60625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3A453"/>
                </a:solidFill>
              </a:defRPr>
            </a:pPr>
            <a:r>
              <a:rPr sz="18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AB5DF-429E-4F6A-926F-61D2FBD1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kitchen accessory is intended for users with reduced grip strength. Which decision is most defensible?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99CAD-E6E1-4105-85D9-7DCAEB38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65FC8-4687-404C-B5C6-0B614F93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47D69"/>
                </a:solidFill>
              </a:defRPr>
            </a:pPr>
            <a:r>
              <a:rPr sz="1800" b="1" i="0">
                <a:solidFill>
                  <a:srgbClr val="547D6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9B05E8-DD34-4866-8AF1-D01B89E4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Which criterion is strongest for a 3D-printed sliding component?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DE60F-8202-4C92-94DC-447B5B56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8B20F-93B9-4F15-898D-89DE7880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62100"/>
            <a:ext cx="2838450" cy="40957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43757-F1BB-453D-808D-3C2AC202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A calm checking 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4564F-CCDC-4CC2-AEE8-3DAD3D55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1  Recall from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021C68-77D1-4181-8241-7A4FE87C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2  Check the matching 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263F21-1AB5-48B3-817D-F8B45CF7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57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3  Repair the reason, not just the word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67759-44EB-4594-9D43-C08F9332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863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4  Try the question again</a:t>
            </a:r>
          </a:p>
        </p:txBody>
      </p:sp>
    </p:spTree>
    <p:extLst>
      <p:ext uri="{BB962C8B-B14F-4D97-AF65-F5344CB8AC3E}">
        <p14:creationId xmlns:p14="http://schemas.microsoft.com/office/powerpoint/2010/main" val="11504434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7">
            <a:extLst xmlns:a="http://schemas.openxmlformats.org/drawingml/2006/main">
              <a:ext uri="{FF2B5EF4-FFF2-40B4-BE49-F238E27FC236}">
                <a16:creationId xmlns:a16="http://schemas.microsoft.com/office/drawing/2014/main" id="{8D0E27C7-89A7-4FE7-B5E7-E22C7CB3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9E0AB-0FF4-41EA-B6F3-EE6B4F21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5A4D2-E3EA-4969-AC15-A7CBAD8E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2 · Weeks 13–14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52EB1C-C09D-4FB5-A3E6-B3639A7A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A5104-DD3B-4CBD-A1BF-4D8704E2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Construct evidence that makes reasoning visible</a:t>
            </a:r>
          </a:p>
        </p:txBody>
      </p:sp>
      <p:sp>
        <p:nvSpPr>
          <p:cNvPr id="6" name="evidence-prompt">
            <a:extLst xmlns:a="http://schemas.openxmlformats.org/drawingml/2006/main">
              <a:ext uri="{FF2B5EF4-FFF2-40B4-BE49-F238E27FC236}">
                <a16:creationId xmlns:a16="http://schemas.microsoft.com/office/drawing/2014/main" id="{DA39F1FE-177F-4AD1-8F06-BCF766DB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A32"/>
                </a:solidFill>
              </a:defRPr>
            </a:pPr>
            <a:r>
              <a:rPr sz="1875" b="1" i="0">
                <a:solidFill>
                  <a:srgbClr val="173A32"/>
                </a:solidFill>
              </a:rPr>
              <a:t>Build a user-needs, constraints and criteria matrix for the Kitchen Companion design.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2E501-B43C-491D-BEB8-350D1EEC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Name the user, context or design issue.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Select one relevant principle from this module.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Explain how the evidence changes a decision.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Check the decision against the need, criteria or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66E23-3CF7-4395-B4F4-14E7A78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19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3A0E5-9A62-48D2-9454-89611666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A32"/>
                </a:solidFill>
              </a:defRPr>
            </a:pPr>
            <a:r>
              <a:rPr sz="1200" b="1" i="0">
                <a:solidFill>
                  <a:srgbClr val="173A32"/>
                </a:solidFill>
              </a:rPr>
              <a:t>SENTENCE SUPPORT  ·  The evidence shows … This matters because … Therefore I would 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C05DE8-763E-449D-B2D7-E22854C9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05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94723-D78D-41A2-82E1-35E87FA5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62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C2D4B-85B4-435C-B9BE-028D074B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43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75147C-4EBD-4050-8DDE-CAB03DA5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28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Identify the design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73D76-DC8B-47EC-96C9-CC1879E4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90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61435-974B-40DA-B0EF-9498A56F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SELECT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00941F-6EC7-4317-BFC2-D929DFD1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Choose relevant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D4D35E-986E-45B5-840C-D9B60EF5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FA12BC-56E3-4429-B1FC-84D5D595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A9610-C2A5-4999-8F2A-6C9CC545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86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Connect evidence to the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AA6B7D-AEE7-4AC1-9AB3-636F8E7C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A1BD8C-6333-40D5-B236-5C50D3F2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88CF50-F95A-4DD5-BD13-FF102330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14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Test against the requirement</a:t>
            </a:r>
          </a:p>
        </p:txBody>
      </p:sp>
    </p:spTree>
    <p:extLst>
      <p:ext uri="{BB962C8B-B14F-4D97-AF65-F5344CB8AC3E}">
        <p14:creationId xmlns:p14="http://schemas.microsoft.com/office/powerpoint/2010/main" val="14583678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8">
            <a:extLst xmlns:a="http://schemas.openxmlformats.org/drawingml/2006/main">
              <a:ext uri="{FF2B5EF4-FFF2-40B4-BE49-F238E27FC236}">
                <a16:creationId xmlns:a16="http://schemas.microsoft.com/office/drawing/2014/main" id="{05C6638E-96E5-4592-93A4-975225EE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CF8E"/>
                </a:solidFill>
              </a:defRPr>
            </a:pPr>
            <a:r>
              <a:rPr sz="900" b="1" i="0">
                <a:solidFill>
                  <a:srgbClr val="F0CF8E"/>
                </a:solidFill>
              </a:rPr>
              <a:t>YEAR 11 DESIGN &amp; TECHNOLOGY  ·  MODULE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21A2D-C465-4126-B26D-A63703A2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6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25A46-45C5-4615-AFB0-6121978C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C8D8D2"/>
                </a:solidFill>
              </a:defRPr>
            </a:pPr>
            <a:r>
              <a:rPr sz="750" b="0" i="0">
                <a:solidFill>
                  <a:srgbClr val="C8D8D2"/>
                </a:solidFill>
              </a:rPr>
              <a:t>Year 11 Preliminary · Term 2 · Weeks 13–14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E9261C-1AE2-4677-95BD-024F5247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C8D8D2"/>
                </a:solidFill>
              </a:defRPr>
            </a:pPr>
            <a:r>
              <a:rPr sz="750" b="1" i="0">
                <a:solidFill>
                  <a:srgbClr val="C8D8D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80E3A-763D-49D7-9335-3EA73623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Leave with evidence, not just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FE23D-EDD0-4674-B7DA-4E0EFDEB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3EB39-DAEC-4679-B618-8F0815A1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DD72E-E28A-442D-9282-C9CEC424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idea I can now explain accurately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2A1BF-6F17-480C-BF62-EE905BF6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2DC17-D250-4534-9C93-92DA3E1E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APPLY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2F3CC-4126-442F-B5A2-7E34C726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design decision or evidence judgement I can justify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4B2CE-A0DE-4E59-8138-7950154E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18CB0-E497-4686-9535-5FE9F013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826B16-785A-4AC6-8891-296EC0B7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next action for Kitchen Companion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B74C72-DB05-4EEA-B9C2-BEB5A50D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14A72-E0BB-45E3-9EC9-F116301B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Save a dated response in your module learning record or design folio. Follow teacher directions for any formal submission.</a:t>
            </a:r>
          </a:p>
        </p:txBody>
      </p:sp>
    </p:spTree>
    <p:extLst>
      <p:ext uri="{BB962C8B-B14F-4D97-AF65-F5344CB8AC3E}">
        <p14:creationId xmlns:p14="http://schemas.microsoft.com/office/powerpoint/2010/main" val="1069665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2026-08-31T18:33:46.1910000Z</dcterms:created>
  <dcterms:modified xsi:type="dcterms:W3CDTF">2026-08-31T18:33:46.1910000Z</dcterms:modified>
</coreProperties>
</file>