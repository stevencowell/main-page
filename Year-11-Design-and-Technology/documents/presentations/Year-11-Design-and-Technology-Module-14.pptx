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0a61820b7a4cb8" /><Relationship Type="http://schemas.openxmlformats.org/officeDocument/2006/relationships/extended-properties" Target="/docProps/app.xml" Id="R35bbd374dd674766" /><Relationship Type="http://schemas.openxmlformats.org/officeDocument/2006/relationships/officeDocument" Target="/ppt/presentation.xml" Id="R1820064559684f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88f87614b64113"/>
  </p:sldMasterIdLst>
  <p:notesMasterIdLst>
    <p:notesMasterId xmlns:r="http://schemas.openxmlformats.org/officeDocument/2006/relationships" r:id="R7f27743938bc4916"/>
  </p:notesMasterIdLst>
  <p:sldIdLst>
    <p:sldId xmlns:r="http://schemas.openxmlformats.org/officeDocument/2006/relationships" id="256" r:id="R5cb598cb8d2f4af7"/>
    <p:sldId xmlns:r="http://schemas.openxmlformats.org/officeDocument/2006/relationships" id="257" r:id="Rb717749b889c48a6"/>
    <p:sldId xmlns:r="http://schemas.openxmlformats.org/officeDocument/2006/relationships" id="258" r:id="R5e37b275482340f0"/>
    <p:sldId xmlns:r="http://schemas.openxmlformats.org/officeDocument/2006/relationships" id="259" r:id="R856257bdd7eb4d05"/>
    <p:sldId xmlns:r="http://schemas.openxmlformats.org/officeDocument/2006/relationships" id="260" r:id="R0a7c13ba43c64b65"/>
    <p:sldId xmlns:r="http://schemas.openxmlformats.org/officeDocument/2006/relationships" id="261" r:id="R1e5537eeb6a64bbf"/>
    <p:sldId xmlns:r="http://schemas.openxmlformats.org/officeDocument/2006/relationships" id="262" r:id="R2519f239d7ce459a"/>
    <p:sldId xmlns:r="http://schemas.openxmlformats.org/officeDocument/2006/relationships" id="263" r:id="R183be4e8efea42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fcbcb396714b6f" /><Relationship Type="http://schemas.openxmlformats.org/officeDocument/2006/relationships/slideMaster" Target="/ppt/slideMasters/slideMaster1.xml" Id="R3f88f87614b64113" /><Relationship Type="http://schemas.openxmlformats.org/officeDocument/2006/relationships/notesMaster" Target="/ppt/notesMasters/notesMaster1.xml" Id="R7f27743938bc4916" /><Relationship Type="http://schemas.openxmlformats.org/officeDocument/2006/relationships/presProps" Target="/ppt/presProps.xml" Id="Rc9ab6500060c499d" /><Relationship Type="http://schemas.openxmlformats.org/officeDocument/2006/relationships/tableStyles" Target="/ppt/tableStyles.xml" Id="Re41a1abc682b4ac8" /><Relationship Type="http://schemas.openxmlformats.org/officeDocument/2006/relationships/slide" Target="/ppt/slides/slide1.xml" Id="R5cb598cb8d2f4af7" /><Relationship Type="http://schemas.openxmlformats.org/officeDocument/2006/relationships/slide" Target="/ppt/slides/slide2.xml" Id="Rb717749b889c48a6" /><Relationship Type="http://schemas.openxmlformats.org/officeDocument/2006/relationships/slide" Target="/ppt/slides/slide3.xml" Id="R5e37b275482340f0" /><Relationship Type="http://schemas.openxmlformats.org/officeDocument/2006/relationships/slide" Target="/ppt/slides/slide4.xml" Id="R856257bdd7eb4d05" /><Relationship Type="http://schemas.openxmlformats.org/officeDocument/2006/relationships/slide" Target="/ppt/slides/slide5.xml" Id="R0a7c13ba43c64b65" /><Relationship Type="http://schemas.openxmlformats.org/officeDocument/2006/relationships/slide" Target="/ppt/slides/slide6.xml" Id="R1e5537eeb6a64bbf" /><Relationship Type="http://schemas.openxmlformats.org/officeDocument/2006/relationships/slide" Target="/ppt/slides/slide7.xml" Id="R2519f239d7ce459a" /><Relationship Type="http://schemas.openxmlformats.org/officeDocument/2006/relationships/slide" Target="/ppt/slides/slide8.xml" Id="R183be4e8efea42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8f5c1a665c45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597696f3b44188" /><Relationship Type="http://schemas.openxmlformats.org/officeDocument/2006/relationships/notesMaster" Target="/ppt/notesMasters/notesMaster1.xml" Id="Rccba969a487a42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0ca49dd50044a5" /><Relationship Type="http://schemas.openxmlformats.org/officeDocument/2006/relationships/notesMaster" Target="/ppt/notesMasters/notesMaster1.xml" Id="Ra4a03dcb0fd941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bcefff6a294836" /><Relationship Type="http://schemas.openxmlformats.org/officeDocument/2006/relationships/notesMaster" Target="/ppt/notesMasters/notesMaster1.xml" Id="Ra16b505ed10e47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e08fa5cbc942b3" /><Relationship Type="http://schemas.openxmlformats.org/officeDocument/2006/relationships/notesMaster" Target="/ppt/notesMasters/notesMaster1.xml" Id="Rc87b903f31844f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e3bb80aa484243" /><Relationship Type="http://schemas.openxmlformats.org/officeDocument/2006/relationships/notesMaster" Target="/ppt/notesMasters/notesMaster1.xml" Id="R6ab4038e3ecc42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212766247344e2" /><Relationship Type="http://schemas.openxmlformats.org/officeDocument/2006/relationships/notesMaster" Target="/ppt/notesMasters/notesMaster1.xml" Id="R19f5f775234745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efcd48726d4140" /><Relationship Type="http://schemas.openxmlformats.org/officeDocument/2006/relationships/notesMaster" Target="/ppt/notesMasters/notesMaster1.xml" Id="Rcd4f1a95849a45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e768604e3845d1" /><Relationship Type="http://schemas.openxmlformats.org/officeDocument/2006/relationships/notesMaster" Target="/ppt/notesMasters/notesMaster1.xml" Id="Rf76e00ca7c7949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Establish the purpose of Marketing, sustainability and final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Evaluate the completed solution and communicate a credible market position using evidence rather than unsupported claims.</a:t>
            </a:r>
          </a:p>
          <a:p xmlns:a="http://schemas.openxmlformats.org/drawingml/2006/main">
            <a:r>
              <a:t>- Name the three learning areas without teaching them yet: Ongoing and final evaluation; Marketing and commercial viability; Life-cycle thinking and responsible design claims.</a:t>
            </a:r>
          </a:p>
          <a:p xmlns:a="http://schemas.openxmlformats.org/drawingml/2006/main">
            <a:r>
              <a:t>- Explain that this deck supports classroom learning and formative evidence. Current teacher directions and formal notices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the module purpose to the three-part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approved family-generated teaching asset, Year 12 D&amp;T assets/images/course-hero.png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Preview the three named ideas as a connected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- 1. Ongoing and final evaluation: Use criteria-linked evidence to make balanced judgements about process and product success.</a:t>
            </a:r>
          </a:p>
          <a:p xmlns:a="http://schemas.openxmlformats.org/drawingml/2006/main">
            <a:r>
              <a:t>- 2. Marketing and commercial viability: Explain how product, price, place and promotion interact for a defined target market.</a:t>
            </a:r>
          </a:p>
          <a:p xmlns:a="http://schemas.openxmlformats.org/drawingml/2006/main">
            <a:r>
              <a:t>- 3. Life-cycle thinking and responsible design claims: Evaluate environmental and social impacts across a product life cycle and qualify sustainability claims.</a:t>
            </a:r>
          </a:p>
          <a:p xmlns:a="http://schemas.openxmlformats.org/drawingml/2006/main">
            <a:r>
              <a:t>- Retrieval prompt: Which idea is most likely to change a real design decision in Camping Environment - evaluation and communication,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Begin with Ongoing and final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current Year 11 local teaching asset assets/module-14-map.svg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criteria-linked evidence to make balanced judgements about process and product success.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Each conclusion should refer to the relevant criterion, test or user evidence.</a:t>
            </a:r>
          </a:p>
          <a:p xmlns:a="http://schemas.openxmlformats.org/drawingml/2006/main">
            <a:r>
              <a:t>- A balanced judgement distinguishes confirmed success, partial success, failure and unresolved uncertainty.</a:t>
            </a:r>
          </a:p>
          <a:p xmlns:a="http://schemas.openxmlformats.org/drawingml/2006/main">
            <a:r>
              <a:t>- Process evaluation considers research, planning, communication, resources, production and continual decision-making.</a:t>
            </a:r>
          </a:p>
          <a:p xmlns:a="http://schemas.openxmlformats.org/drawingml/2006/main">
            <a:r>
              <a:t>- Recommended improvements should address a demonstrated limitation and explain the likely benefit.</a:t>
            </a:r>
          </a:p>
          <a:p xmlns:a="http://schemas.openxmlformats.org/drawingml/2006/main">
            <a:r>
              <a:t>- Visual notice: Ask students what the scene makes visible about ongoing and final evaluation, then connect observations to the stated principles.</a:t>
            </a:r>
          </a:p>
          <a:p xmlns:a="http://schemas.openxmlformats.org/drawingml/2006/main">
            <a:r>
              <a:t>- Evidence prompt: A compactness criterion was met, but user testing found the product awkward to set up. What is the strongest evaluation?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Every criterion should be described as met if the product was completed.</a:t>
            </a:r>
          </a:p>
          <a:p xmlns:a="http://schemas.openxmlformats.org/drawingml/2006/main">
            <a:r>
              <a:t>- Final evaluation is stronger when it contains only numerical results.</a:t>
            </a:r>
          </a:p>
          <a:p xmlns:a="http://schemas.openxmlformats.org/drawingml/2006/main">
            <a:r>
              <a:t>- A product limitation proves the whole project was unsuccessful.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Marketing and commercial viability.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Camping Environment evaluation requirements; teacher answer booklet on continual and final evaluation.</a:t>
            </a:r>
          </a:p>
          <a:p xmlns:a="http://schemas.openxmlformats.org/drawingml/2006/main">
            <a:r>
              <a:t>- Visual: approved family-generated teaching asset, Year 12 D&amp;T assets/images/m11s01.png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Explain how product, price, place and promotion interact for a defined target market.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The product decision includes features, quality, appearance, packaging, service and the need being addressed.</a:t>
            </a:r>
          </a:p>
          <a:p xmlns:a="http://schemas.openxmlformats.org/drawingml/2006/main">
            <a:r>
              <a:t>- Price must consider cost, perceived value, target-market affordability and the margin required across the supply chain.</a:t>
            </a:r>
          </a:p>
          <a:p xmlns:a="http://schemas.openxmlformats.org/drawingml/2006/main">
            <a:r>
              <a:t>- Place describes how and where the product reaches the user, which can affect packaging, stock, delivery and price.</a:t>
            </a:r>
          </a:p>
          <a:p xmlns:a="http://schemas.openxmlformats.org/drawingml/2006/main">
            <a:r>
              <a:t>- Promotion should communicate supportable benefits to the target market through suitable channels and messages.</a:t>
            </a:r>
          </a:p>
          <a:p xmlns:a="http://schemas.openxmlformats.org/drawingml/2006/main">
            <a:r>
              <a:t>- Visual notice: Ask students what the scene makes visible about marketing and commercial viability, then connect observations to the stated principles.</a:t>
            </a:r>
          </a:p>
          <a:p xmlns:a="http://schemas.openxmlformats.org/drawingml/2006/main">
            <a:r>
              <a:t>- Evidence prompt: The product is intended for lightweight backpackers but requires bulky retail packaging. What should be reconsidered?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low price is the safest strategy for a new product.</a:t>
            </a:r>
          </a:p>
          <a:p xmlns:a="http://schemas.openxmlformats.org/drawingml/2006/main">
            <a:r>
              <a:t>- Place means the physical location shown in an advertisement.</a:t>
            </a:r>
          </a:p>
          <a:p xmlns:a="http://schemas.openxmlformats.org/drawingml/2006/main">
            <a:r>
              <a:t>- Promotion creates a target market even when no need has been demonstrated.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Life-cycle thinking and responsible design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Camping Environment marketing requirement; teacher answer booklet on RRP and commercial success; Drive marketing resources.</a:t>
            </a:r>
          </a:p>
          <a:p xmlns:a="http://schemas.openxmlformats.org/drawingml/2006/main">
            <a:r>
              <a:t>- Visual: approved family-generated teaching asset, Year 12 D&amp;T assets/images/m02s01.png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Evaluate environmental and social impacts across a product life cycle and qualify sustainability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Life-cycle thinking identifies where significant impacts and opportunities occur across the whole product system.</a:t>
            </a:r>
          </a:p>
          <a:p xmlns:a="http://schemas.openxmlformats.org/drawingml/2006/main">
            <a:r>
              <a:t>- Durability, repairability, replaceable parts and disassembly can extend useful life and improve end-of-life options.</a:t>
            </a:r>
          </a:p>
          <a:p xmlns:a="http://schemas.openxmlformats.org/drawingml/2006/main">
            <a:r>
              <a:t>- A lower-waste manufacturing process may still have high energy, transport or material impacts.</a:t>
            </a:r>
          </a:p>
          <a:p xmlns:a="http://schemas.openxmlformats.org/drawingml/2006/main">
            <a:r>
              <a:t>- Responsible evaluation considers effects on individuals, society and the environment, including who benefits and who bears costs.</a:t>
            </a:r>
          </a:p>
          <a:p xmlns:a="http://schemas.openxmlformats.org/drawingml/2006/main">
            <a:r>
              <a:t>- Visual notice: Ask students what the scene makes visible about life-cycle thinking and responsible design claims, then connect observations to the stated principles.</a:t>
            </a:r>
          </a:p>
          <a:p xmlns:a="http://schemas.openxmlformats.org/drawingml/2006/main">
            <a:r>
              <a:t>- Evidence prompt: A student claims the product is environmentally friendly because offcuts were reused. How should the claim be repaired?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recyclable material guarantees a recyclable product.</a:t>
            </a:r>
          </a:p>
          <a:p xmlns:a="http://schemas.openxmlformats.org/drawingml/2006/main">
            <a:r>
              <a:t>- The use stage is the only important impact for a reusable camping product.</a:t>
            </a:r>
          </a:p>
          <a:p xmlns:a="http://schemas.openxmlformats.org/drawingml/2006/main">
            <a:r>
              <a:t>- Local manufacture automatically creates the lowest environmental impact.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teaching into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environmental and social issues content; teacher answer booklet life-cycle and sustainability responses.</a:t>
            </a:r>
          </a:p>
          <a:p xmlns:a="http://schemas.openxmlformats.org/drawingml/2006/main">
            <a:r>
              <a:t>- Visual: approved family-generated teaching asset, Year 12 D&amp;T assets/images/m03s03.png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retrieval to expose and repair reasoning gaps across all three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quiet recall time before inviting answers.</a:t>
            </a:r>
          </a:p>
          <a:p xmlns:a="http://schemas.openxmlformats.org/drawingml/2006/main">
            <a:r>
              <a:t>- Check 1: A compactness criterion was met, but user testing found the product awkward to set up. What is the strongest evaluation?</a:t>
            </a:r>
          </a:p>
          <a:p xmlns:a="http://schemas.openxmlformats.org/drawingml/2006/main">
            <a:r>
              <a:t>- Indicative answer: Judge compactness as successful, usability as only partly successful, explain the test evidence and propose a targeted setup modification and retest.</a:t>
            </a:r>
          </a:p>
          <a:p xmlns:a="http://schemas.openxmlformats.org/drawingml/2006/main">
            <a:r>
              <a:t>- Check 2: The product is intended for lightweight backpackers but requires bulky retail packaging. What should be reconsidered?</a:t>
            </a:r>
          </a:p>
          <a:p xmlns:a="http://schemas.openxmlformats.org/drawingml/2006/main">
            <a:r>
              <a:t>- Indicative answer: Review product, packaging, distribution place, shipping cost and promotion together because the current package conflicts with the market’s portability values.</a:t>
            </a:r>
          </a:p>
          <a:p xmlns:a="http://schemas.openxmlformats.org/drawingml/2006/main">
            <a:r>
              <a:t>- Check 3: A student claims the product is environmentally friendly because offcuts were reused. How should the claim be repaired?</a:t>
            </a:r>
          </a:p>
          <a:p xmlns:a="http://schemas.openxmlformats.org/drawingml/2006/main">
            <a:r>
              <a:t>- Indicative answer: Limit the claim to the observed waste reduction, then discuss material source, production, durability, repair, use and end-of-life evidence that is still required.</a:t>
            </a:r>
          </a:p>
          <a:p xmlns:a="http://schemas.openxmlformats.org/drawingml/2006/main">
            <a:r>
              <a:t>- Ask students to explain why the answer is defensible before they return to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retrieved ideas to construct one sustained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Camping Environment evaluation requirements; teacher answer booklet on continual and final evaluation.</a:t>
            </a:r>
          </a:p>
          <a:p xmlns:a="http://schemas.openxmlformats.org/drawingml/2006/main">
            <a:r>
              <a:t>- Y11 source note: Current Camping Environment marketing requirement; teacher answer booklet on RRP and commercial success; Drive marketing resources.</a:t>
            </a:r>
          </a:p>
          <a:p xmlns:a="http://schemas.openxmlformats.org/drawingml/2006/main">
            <a:r>
              <a:t>- Y11 source note: NESA environmental and social issues content; teacher answer booklet life-cycle and sustainability responses.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Guide one higher-order formative response using all three module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Prompt: Complete a criteria-based evaluation, life-cycle review and qualified marketing proposal for the camping product.</a:t>
            </a:r>
          </a:p>
          <a:p xmlns:a="http://schemas.openxmlformats.org/drawingml/2006/main">
            <a:r>
              <a:t>- Read: identify the user, context and design question.</a:t>
            </a:r>
          </a:p>
          <a:p xmlns:a="http://schemas.openxmlformats.org/drawingml/2006/main">
            <a:r>
              <a:t>- Select: choose source-bound evidence rather than a preference.</a:t>
            </a:r>
          </a:p>
          <a:p xmlns:a="http://schemas.openxmlformats.org/drawingml/2006/main">
            <a:r>
              <a:t>- Explain: connect the evidence to a design consequence or decision.</a:t>
            </a:r>
          </a:p>
          <a:p xmlns:a="http://schemas.openxmlformats.org/drawingml/2006/main">
            <a:r>
              <a:t>- Check: test the response against the relevant need, criterion or source.</a:t>
            </a:r>
          </a:p>
          <a:p xmlns:a="http://schemas.openxmlformats.org/drawingml/2006/main">
            <a:r>
              <a:t>- Remind students that this is formative learning evidence, not a formal submission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asking each student to retain the response and name the next useful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Camping Environment evaluation requirements; teacher answer booklet on continual and final evaluation.</a:t>
            </a:r>
          </a:p>
          <a:p xmlns:a="http://schemas.openxmlformats.org/drawingml/2006/main">
            <a:r>
              <a:t>- Y11 source note: Current Camping Environment marketing requirement; teacher answer booklet on RRP and commercial success; Drive marketing resources.</a:t>
            </a:r>
          </a:p>
          <a:p xmlns:a="http://schemas.openxmlformats.org/drawingml/2006/main">
            <a:r>
              <a:t>- Y11 source note: NESA environmental and social issues content; teacher answer booklet life-cycle and sustainability responses.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the exit ticket produce a concrete learning record and a manageable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Ask students to complete all three prompts individually before discussion.</a:t>
            </a:r>
          </a:p>
          <a:p xmlns:a="http://schemas.openxmlformats.org/drawingml/2006/main">
            <a:r>
              <a:t>- Keep the record labelled formative learning evidence; do not imply a cloud submission or formal assessment requirement.</a:t>
            </a:r>
          </a:p>
          <a:p xmlns:a="http://schemas.openxmlformats.org/drawingml/2006/main">
            <a:r>
              <a:t>- Next action: connect the module evidence to Camping Environment - evaluation and communication.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End with each student's own next action, not a generic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Camping Environment evaluation requirements; teacher answer booklet on continual and final evaluation.</a:t>
            </a:r>
          </a:p>
          <a:p xmlns:a="http://schemas.openxmlformats.org/drawingml/2006/main">
            <a:r>
              <a:t>- Y11 source note: Current Camping Environment marketing requirement; teacher answer booklet on RRP and commercial success; Drive marketing resources.</a:t>
            </a:r>
          </a:p>
          <a:p xmlns:a="http://schemas.openxmlformats.org/drawingml/2006/main">
            <a:r>
              <a:t>- Y11 source note: NESA environmental and social issues content; teacher answer booklet life-cycle and sustainability responses.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a4577d2f84c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6032b1b170466c" /><Relationship Type="http://schemas.openxmlformats.org/officeDocument/2006/relationships/slideLayout" Target="/ppt/slideLayouts/slideLayout1.xml" Id="Re3bac42fd4da4b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bac42fd4da4b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02c8cbbbc4e69" /><Relationship Type="http://schemas.openxmlformats.org/officeDocument/2006/relationships/image" Target="/ppt/media/image.png" Id="Raeb2f3a143784144" /><Relationship Type="http://schemas.openxmlformats.org/officeDocument/2006/relationships/notesSlide" Target="/ppt/notesSlides/notesSlide1.xml" Id="R1febf3d9c12642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5e18692dd4c32" /><Relationship Type="http://schemas.openxmlformats.org/officeDocument/2006/relationships/image" Target="/ppt/media/image2.png" Id="R44fa252cfbd24e49" /><Relationship Type="http://schemas.openxmlformats.org/officeDocument/2006/relationships/image" Target="/ppt/media/image.svg" Id="Rf4244bb5ca3e4d45" /><Relationship Type="http://schemas.openxmlformats.org/officeDocument/2006/relationships/notesSlide" Target="/ppt/notesSlides/notesSlide2.xml" Id="R6edc51f4bc6146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2c6411d3d42d3" /><Relationship Type="http://schemas.openxmlformats.org/officeDocument/2006/relationships/image" Target="/ppt/media/image3.png" Id="Rd4a183d30abc4531" /><Relationship Type="http://schemas.openxmlformats.org/officeDocument/2006/relationships/notesSlide" Target="/ppt/notesSlides/notesSlide3.xml" Id="Rd38d1142cca644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671f58ca748d2" /><Relationship Type="http://schemas.openxmlformats.org/officeDocument/2006/relationships/image" Target="/ppt/media/image4.png" Id="R3104d147988c4b8d" /><Relationship Type="http://schemas.openxmlformats.org/officeDocument/2006/relationships/notesSlide" Target="/ppt/notesSlides/notesSlide4.xml" Id="Redab9e0a5d1e4e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0759b962a48e7" /><Relationship Type="http://schemas.openxmlformats.org/officeDocument/2006/relationships/image" Target="/ppt/media/image5.png" Id="R49fece5264b84073" /><Relationship Type="http://schemas.openxmlformats.org/officeDocument/2006/relationships/notesSlide" Target="/ppt/notesSlides/notesSlide5.xml" Id="Rdf1d0e4cc71f47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a2ef2397b413d" /><Relationship Type="http://schemas.openxmlformats.org/officeDocument/2006/relationships/notesSlide" Target="/ppt/notesSlides/notesSlide6.xml" Id="R10a80e4904594e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d794a40814c10" /><Relationship Type="http://schemas.openxmlformats.org/officeDocument/2006/relationships/notesSlide" Target="/ppt/notesSlides/notesSlide7.xml" Id="R5e1893e8962340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d0f83e5ce4fdc" /><Relationship Type="http://schemas.openxmlformats.org/officeDocument/2006/relationships/notesSlide" Target="/ppt/notesSlides/notesSlide8.xml" Id="R7c70e834ccb944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2f3a143784144"/>
          <a:srcRect xmlns:a="http://schemas.openxmlformats.org/drawingml/2006/main" l="19792" t="0" r="19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6C735-E038-485D-8C5A-78711F20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903CD-BDD8-4E5D-B644-D3D3F360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5F49"/>
                </a:solidFill>
              </a:defRPr>
            </a:pPr>
            <a:r>
              <a:rPr sz="1275" b="1" i="0">
                <a:solidFill>
                  <a:srgbClr val="B65F49"/>
                </a:solidFill>
              </a:rPr>
              <a:t>MODULE 14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D2F65273-B611-47C8-BBB4-63F164F9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1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32"/>
                </a:solidFill>
              </a:defRPr>
            </a:pPr>
            <a:r>
              <a:rPr sz="3900" b="1" i="0">
                <a:solidFill>
                  <a:srgbClr val="173A32"/>
                </a:solidFill>
              </a:rPr>
              <a:t>Marketing, sustainability and final evaluation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3C7C8068-C6EE-4F6F-854C-42246AEE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31F"/>
                </a:solidFill>
              </a:defRPr>
            </a:pPr>
            <a:r>
              <a:rPr sz="1575" b="0" i="0">
                <a:solidFill>
                  <a:srgbClr val="18231F"/>
                </a:solidFill>
              </a:rPr>
              <a:t>Evaluate the completed solution and communicate a credible market position using evidence rather than unsupported claims.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0CA59-6CC4-4D9C-A190-22C383BC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A4D"/>
                </a:solidFill>
              </a:defRPr>
            </a:pPr>
            <a:r>
              <a:rPr sz="1125" b="1" i="0">
                <a:solidFill>
                  <a:srgbClr val="315A4D"/>
                </a:solidFill>
              </a:rPr>
              <a:t>Camping Environment - evaluation and communication  ·  P2.2 · P4.3 · P5.2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37ADA-E8CC-4B3D-A95D-C1A91DE9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FORMATIVE LEARNING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A5ADE-6CD5-4C3E-9FF8-934892E0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24505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D0001FB8-3730-4D0D-8FA2-B95FCDEB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DB034-5FD9-4209-A8D4-6A1A83D4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42FD9-F26E-4FDE-9C4B-A9281A65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7–8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E0842-5457-42B7-92A4-ADBDB7D8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02</a:t>
            </a:r>
          </a:p>
        </p:txBody>
      </p:sp>
      <p:sp>
        <p:nvSpPr>
          <p:cNvPr id="5" name="map-title">
            <a:extLst xmlns:a="http://schemas.openxmlformats.org/drawingml/2006/main">
              <a:ext uri="{FF2B5EF4-FFF2-40B4-BE49-F238E27FC236}">
                <a16:creationId xmlns:a16="http://schemas.microsoft.com/office/drawing/2014/main" id="{1B24132C-5D8A-4702-BBFC-0B6B48D7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A32"/>
                </a:solidFill>
              </a:defRPr>
            </a:pPr>
            <a:r>
              <a:rPr sz="3150" b="1" i="0">
                <a:solidFill>
                  <a:srgbClr val="173A32"/>
                </a:solidFill>
              </a:rPr>
              <a:t>Three ideas build one evidence pathway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a252cfbd24e49">
            <a:extLst>
              <a:ext uri="{96DAC541-7B7A-43D3-8B79-37D633B846F1}">
                <asvg:svgBlip xmlns:asvg="http://schemas.microsoft.com/office/drawing/2016/SVG/main" r:embed="Rf4244bb5ca3e4d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24000"/>
            <a:ext cx="108204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applied-path">
            <a:extLst xmlns:a="http://schemas.openxmlformats.org/drawingml/2006/main">
              <a:ext uri="{FF2B5EF4-FFF2-40B4-BE49-F238E27FC236}">
                <a16:creationId xmlns:a16="http://schemas.microsoft.com/office/drawing/2014/main" id="{6E4F8C27-4D16-4FD1-B14C-B515CAE4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334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467CF-C0E1-4E7E-B583-2B976008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APPLY + KEEP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ACBBB-2CAD-43B2-9630-6E571FD2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Complete a criteria-based evaluation, life-cycle review and qualified marketing proposal for the camping product.</a:t>
            </a:r>
          </a:p>
        </p:txBody>
      </p:sp>
    </p:spTree>
    <p:extLst>
      <p:ext uri="{BB962C8B-B14F-4D97-AF65-F5344CB8AC3E}">
        <p14:creationId xmlns:p14="http://schemas.microsoft.com/office/powerpoint/2010/main" val="215776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3">
            <a:extLst xmlns:a="http://schemas.openxmlformats.org/drawingml/2006/main">
              <a:ext uri="{FF2B5EF4-FFF2-40B4-BE49-F238E27FC236}">
                <a16:creationId xmlns:a16="http://schemas.microsoft.com/office/drawing/2014/main" id="{CB62585A-BFE3-45F1-A0C7-437581C1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A304E-4CA5-448A-B63E-A27D9682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5747F-02DB-4CDE-9A13-3B1DF933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7–8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C51F8-07DC-4150-BEC3-E91008FE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03</a:t>
            </a:r>
          </a:p>
        </p:txBody>
      </p:sp>
      <p:sp>
        <p:nvSpPr>
          <p:cNvPr id="5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FD7D6ADC-907F-444F-9332-1A938678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Ongoing and final evaluation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183d30abc4531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1C9EF-04D4-4740-AD0C-F9C0CE38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13E0D-B88C-4014-8C06-746BEC17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3510E-233A-4D10-BF86-40077483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35941-F84B-4B9E-B811-0DDED0B6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Each conclusion should refer to the relevant criterion, test or user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71421-F7CD-44F5-AD72-9391808D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37CBE-DDF2-4E1B-B5D8-7B39A256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balanced judgement distinguishes confirmed success, partial success, failure and unresolved uncertainty.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64919-00F7-4314-B955-001DB20E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29860-270C-4FC6-9BF0-A1245BB7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Process evaluation considers research, planning, communication, resources, production and continual decision-making.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E2BEF-8D77-460E-ABE4-7587D515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F2B30-A6B3-4A5A-BC36-F973EAD8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compactness criterion was met, but user testing found the product awkward to set up. What is the strongest evaluation?</a:t>
            </a:r>
          </a:p>
        </p:txBody>
      </p:sp>
    </p:spTree>
    <p:extLst>
      <p:ext uri="{BB962C8B-B14F-4D97-AF65-F5344CB8AC3E}">
        <p14:creationId xmlns:p14="http://schemas.microsoft.com/office/powerpoint/2010/main" val="970922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4">
            <a:extLst xmlns:a="http://schemas.openxmlformats.org/drawingml/2006/main">
              <a:ext uri="{FF2B5EF4-FFF2-40B4-BE49-F238E27FC236}">
                <a16:creationId xmlns:a16="http://schemas.microsoft.com/office/drawing/2014/main" id="{F132FC69-08DA-49C8-AB8D-9FF44201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CE705-889F-4F72-9C50-50B7CBD3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8004C-D31B-41AB-89C8-816AD41A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7–8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DA90F-21A8-4A0B-9168-84714704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04</a:t>
            </a:r>
          </a:p>
        </p:txBody>
      </p:sp>
      <p:sp>
        <p:nvSpPr>
          <p:cNvPr id="5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ECE3C456-917A-40B6-B743-29685D9C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Marketing and commercial viability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4d147988c4b8d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19EA5-74E4-415A-B114-869F3A7B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04B2C-4344-4262-AAD9-2EC03359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24576-0187-42EC-8103-CE445EE9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3A6E7-4240-43A9-906A-0AAF5C4D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The product decision includes features, quality, appearance, packaging, service and the need being addressed.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63FF4-6429-4FBD-A8D0-705DD3E5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43F3D-7220-4BFA-9175-8F19C847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Price must consider cost, perceived value, target-market affordability and the margin required across the supply chain.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42FEA-7C09-4EA1-B98F-B328AF23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70B98-D15D-42CD-ADD9-38985D56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Place describes how and where the product reaches the user, which can affect packaging, stock, delivery and price.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4E06F-6F2C-48D2-88AF-1B79C848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F700D-F6BC-450E-964D-1EE2AAC3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The product is intended for lightweight backpackers but requires bulky retail packaging. What should be reconsidered?</a:t>
            </a:r>
          </a:p>
        </p:txBody>
      </p:sp>
    </p:spTree>
    <p:extLst>
      <p:ext uri="{BB962C8B-B14F-4D97-AF65-F5344CB8AC3E}">
        <p14:creationId xmlns:p14="http://schemas.microsoft.com/office/powerpoint/2010/main" val="3682322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5">
            <a:extLst xmlns:a="http://schemas.openxmlformats.org/drawingml/2006/main">
              <a:ext uri="{FF2B5EF4-FFF2-40B4-BE49-F238E27FC236}">
                <a16:creationId xmlns:a16="http://schemas.microsoft.com/office/drawing/2014/main" id="{90B4B349-60AE-4DB5-B14C-2463519D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ED3B1-6AB9-49C5-A06D-81D769BE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D22F7-DCF5-4584-89A3-1074A714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7–8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7175D-F602-4F3E-8DD1-8A22FA49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05</a:t>
            </a:r>
          </a:p>
        </p:txBody>
      </p:sp>
      <p:sp>
        <p:nvSpPr>
          <p:cNvPr id="5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AA29BBD3-AF48-49E8-95A7-BFB8DE22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Life-cycle thinking and responsible design claims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ece5264b84073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2D665-385E-4A28-8F10-C20CB2D3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3ECB3-02E6-43F3-A284-03A27204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6B81C-CF69-42EC-BA44-A9D87A8D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9369C-B015-4F77-97EF-98CA07BE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Life-cycle thinking identifies where significant impacts and opportunities occur across the whole product system.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D4C06-7E93-4BED-9ADE-AF356B52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46EF7-FC2E-469C-8ADA-DF79AB52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Durability, repairability, replaceable parts and disassembly can extend useful life and improve end-of-life options.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A9611-B144-4183-81E5-8C1E15C7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BA07C-560D-409F-A083-FC57F4F7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lower-waste manufacturing process may still have high energy, transport or material impacts.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A4F4F-8118-4E62-89B8-9E998C70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6F739-28D7-4746-B6C5-2055C80E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student claims the product is environmentally friendly because offcuts were reused. How should the claim be repaired?</a:t>
            </a:r>
          </a:p>
        </p:txBody>
      </p:sp>
    </p:spTree>
    <p:extLst>
      <p:ext uri="{BB962C8B-B14F-4D97-AF65-F5344CB8AC3E}">
        <p14:creationId xmlns:p14="http://schemas.microsoft.com/office/powerpoint/2010/main" val="5125231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eader-6">
            <a:extLst xmlns:a="http://schemas.openxmlformats.org/drawingml/2006/main">
              <a:ext uri="{FF2B5EF4-FFF2-40B4-BE49-F238E27FC236}">
                <a16:creationId xmlns:a16="http://schemas.microsoft.com/office/drawing/2014/main" id="{B38421C7-DF92-4919-997C-6B288FDC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84441-7E31-444D-8535-F22D84A8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DCAD0-4D11-41ED-8246-A197ADE9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7–8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347D7-2E92-4B02-8434-C099FC53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60BAE-D12F-4D99-B9BA-5DB4823D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Retrieve first; then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8EBEF-0BCE-44E7-A5D6-245C8F6B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A4D"/>
                </a:solidFill>
              </a:defRPr>
            </a:pPr>
            <a:r>
              <a:rPr sz="1275" b="0" i="0">
                <a:solidFill>
                  <a:srgbClr val="315A4D"/>
                </a:solidFill>
              </a:rPr>
              <a:t>Answer without notes. Use one precise sentence for each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5D96B-E76F-41DC-8724-7017A419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65F49"/>
                </a:solidFill>
              </a:defRPr>
            </a:pPr>
            <a:r>
              <a:rPr sz="1800" b="1" i="0">
                <a:solidFill>
                  <a:srgbClr val="B65F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8BE09-7272-4B20-8DDE-360711D8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compactness criterion was met, but user testing found the product awkward to set up. What is the strongest evaluation?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D1E9B-4E6A-4CFC-A7AD-9D4F42AF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18DE5-70B8-44E6-AB79-83B7C737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3A453"/>
                </a:solidFill>
              </a:defRPr>
            </a:pPr>
            <a:r>
              <a:rPr sz="18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EDA86-B1A9-4DFE-8182-B5B8DCD3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The product is intended for lightweight backpackers but requires bulky retail packaging. What should be reconsidered?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C7B26-02F0-440F-9FB7-94B326DF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1E521-5634-4CC4-8641-F613ABCF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7D69"/>
                </a:solidFill>
              </a:defRPr>
            </a:pPr>
            <a:r>
              <a:rPr sz="1800" b="1" i="0">
                <a:solidFill>
                  <a:srgbClr val="547D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55682-2191-4E0E-B1BA-AAFD6A58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student claims the product is environmentally friendly because offcuts were reused. How should the claim be repaired?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8D9EE-E460-4F33-B21D-8A80763D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7B1FA-72CF-4DF6-BD5A-C0A399C1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838450" cy="40957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65BF1-415E-478B-BC5A-49074930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 calm checking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B6F8C-84E3-4A3C-8020-5DD54775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1  Recall from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C23B4-A667-4FB4-9B21-CCBFA36C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2  Check the matching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9FEDA-2230-4712-AE61-76134F28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3  Repair the reason, not just the 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29323-4E03-4949-9708-4C08B26D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  Try the question again</a:t>
            </a:r>
          </a:p>
        </p:txBody>
      </p:sp>
    </p:spTree>
    <p:extLst>
      <p:ext uri="{BB962C8B-B14F-4D97-AF65-F5344CB8AC3E}">
        <p14:creationId xmlns:p14="http://schemas.microsoft.com/office/powerpoint/2010/main" val="18443450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7">
            <a:extLst xmlns:a="http://schemas.openxmlformats.org/drawingml/2006/main">
              <a:ext uri="{FF2B5EF4-FFF2-40B4-BE49-F238E27FC236}">
                <a16:creationId xmlns:a16="http://schemas.microsoft.com/office/drawing/2014/main" id="{302EF41F-EDF1-419E-B602-92E06F1B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77C0F-4537-4333-A5F8-F4816452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599BA-92F5-4F62-BC99-544C9399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7–8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392D4-FCEF-4709-8B29-B746E479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7863B-E4ED-4FC2-8B74-CD66CA3A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Construct evidence that makes reasoning visible</a:t>
            </a:r>
          </a:p>
        </p:txBody>
      </p:sp>
      <p:sp>
        <p:nvSpPr>
          <p:cNvPr id="6" name="evidence-prompt">
            <a:extLst xmlns:a="http://schemas.openxmlformats.org/drawingml/2006/main">
              <a:ext uri="{FF2B5EF4-FFF2-40B4-BE49-F238E27FC236}">
                <a16:creationId xmlns:a16="http://schemas.microsoft.com/office/drawing/2014/main" id="{BC9284E6-FB0F-4132-A745-93129CD5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A32"/>
                </a:solidFill>
              </a:defRPr>
            </a:pPr>
            <a:r>
              <a:rPr sz="1875" b="1" i="0">
                <a:solidFill>
                  <a:srgbClr val="173A32"/>
                </a:solidFill>
              </a:rPr>
              <a:t>Complete a criteria-based evaluation, life-cycle review and qualified marketing proposal for the camping product.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9A0B1-7F0F-4C08-BC0F-BB5AE5B0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Name the user, context or design issue.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Select one relevant principle from this module.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Explain how the evidence changes a decision.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Check the decision against the need, criteria or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C7BF4-57CF-4C97-A3B8-2CEB1971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19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5F3CF-E54A-4DA8-8B00-59F64477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A32"/>
                </a:solidFill>
              </a:defRPr>
            </a:pPr>
            <a:r>
              <a:rPr sz="1200" b="1" i="0">
                <a:solidFill>
                  <a:srgbClr val="173A32"/>
                </a:solidFill>
              </a:rPr>
              <a:t>SENTENCE SUPPORT  ·  The evidence shows … This matters because … Therefore I would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417B7-55BA-49D4-8A70-9D6C0BEE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435FA-4BC6-4C2F-9C19-B8174DF2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EABBF-3843-4A5B-815F-56F1734B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FA852-D486-419E-854E-375D2782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Identify the design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F2127-FFC8-43E5-9BFD-35B702B8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5C935-81B0-4836-914E-E8573DAF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0E198-99A1-4097-A6FB-CC029B60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Choose relevant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71D2F-8A0D-4B22-B06A-A9E7497F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5B90B-07C5-4BC1-9991-215E5D98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F3FBDE-84F5-492B-B5F0-2E51FD8F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Connect evidence to the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D87A94-BD05-4732-AE99-63D83AE0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A11B6-0168-492A-BC63-3341FBD5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2C03E-D670-4A8D-911E-6B4168E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Test against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12525750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7485A44F-E4F5-42E3-B3D3-3087A3B2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CF8E"/>
                </a:solidFill>
              </a:defRPr>
            </a:pPr>
            <a:r>
              <a:rPr sz="900" b="1" i="0">
                <a:solidFill>
                  <a:srgbClr val="F0CF8E"/>
                </a:solidFill>
              </a:rPr>
              <a:t>YEAR 11 DESIGN &amp; TECHNOLOGY  ·  MODULE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D1242-DDCE-4989-8A81-6DC3E243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C4CDA-A66C-417A-A5BA-D127E211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8D8D2"/>
                </a:solidFill>
              </a:defRPr>
            </a:pPr>
            <a:r>
              <a:rPr sz="750" b="0" i="0">
                <a:solidFill>
                  <a:srgbClr val="C8D8D2"/>
                </a:solidFill>
              </a:rPr>
              <a:t>Year 11 Preliminary · Term 3 · Weeks 7–8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79A07-49C2-483C-9585-0E2B7486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D8D2"/>
                </a:solidFill>
              </a:defRPr>
            </a:pPr>
            <a:r>
              <a:rPr sz="750" b="1" i="0">
                <a:solidFill>
                  <a:srgbClr val="C8D8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F0058-966B-4AEF-93E0-ED5DCA89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Leave with evidence,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DD611-B6CD-4A27-B7FB-7D50E1C3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DFBAF-1C1B-42FD-B9C1-8BC10383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F3BD4-F094-43B0-92DC-0C29F9A1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idea I can now explain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7B201-F955-472F-A05D-D1920109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26D6E-E001-4280-851F-CCE293B5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956D1-3170-4DAC-A436-3B783899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design decision or evidence judgement I can justify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3114E-B35F-4EC8-B20C-B77FCF8F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FB54F-DB8E-48A9-9B06-ECA75F87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D8847-13AC-4887-AF05-7D2C7D3F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next action for Camping Environment - evaluation and communication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205EA-6F37-4C48-B2B4-2F0335C1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6456F-04D9-43DD-ABDF-47793B4A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Save a dated response in your module learning record or design folio. Follow teacher directions for any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782625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2026-08-31T18:33:59.6810000Z</dcterms:created>
  <dcterms:modified xsi:type="dcterms:W3CDTF">2026-08-31T18:33:59.6810000Z</dcterms:modified>
</coreProperties>
</file>