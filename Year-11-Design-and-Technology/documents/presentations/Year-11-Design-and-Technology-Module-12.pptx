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edc506555448f2" /><Relationship Type="http://schemas.openxmlformats.org/officeDocument/2006/relationships/extended-properties" Target="/docProps/app.xml" Id="R427d152ef2964f10" /><Relationship Type="http://schemas.openxmlformats.org/officeDocument/2006/relationships/officeDocument" Target="/ppt/presentation.xml" Id="R3a800ec4bf5242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7cae84344c44da"/>
  </p:sldMasterIdLst>
  <p:notesMasterIdLst>
    <p:notesMasterId xmlns:r="http://schemas.openxmlformats.org/officeDocument/2006/relationships" r:id="R0a2a154f90934a4f"/>
  </p:notesMasterIdLst>
  <p:sldIdLst>
    <p:sldId xmlns:r="http://schemas.openxmlformats.org/officeDocument/2006/relationships" id="256" r:id="R0697efdeeddf4aa0"/>
    <p:sldId xmlns:r="http://schemas.openxmlformats.org/officeDocument/2006/relationships" id="257" r:id="Rc5b615a19d3c445c"/>
    <p:sldId xmlns:r="http://schemas.openxmlformats.org/officeDocument/2006/relationships" id="258" r:id="Rf9c7f6afc44c4816"/>
    <p:sldId xmlns:r="http://schemas.openxmlformats.org/officeDocument/2006/relationships" id="259" r:id="R4785d7d2a4174b88"/>
    <p:sldId xmlns:r="http://schemas.openxmlformats.org/officeDocument/2006/relationships" id="260" r:id="Rb5873680442c4445"/>
    <p:sldId xmlns:r="http://schemas.openxmlformats.org/officeDocument/2006/relationships" id="261" r:id="Rfd432dc9e38f403f"/>
    <p:sldId xmlns:r="http://schemas.openxmlformats.org/officeDocument/2006/relationships" id="262" r:id="R4208ff1ac2724501"/>
    <p:sldId xmlns:r="http://schemas.openxmlformats.org/officeDocument/2006/relationships" id="263" r:id="Ra1af3e61b41e46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18188ebaca4c32" /><Relationship Type="http://schemas.openxmlformats.org/officeDocument/2006/relationships/slideMaster" Target="/ppt/slideMasters/slideMaster1.xml" Id="R8a7cae84344c44da" /><Relationship Type="http://schemas.openxmlformats.org/officeDocument/2006/relationships/notesMaster" Target="/ppt/notesMasters/notesMaster1.xml" Id="R0a2a154f90934a4f" /><Relationship Type="http://schemas.openxmlformats.org/officeDocument/2006/relationships/presProps" Target="/ppt/presProps.xml" Id="R3ed0a8bff17f45b8" /><Relationship Type="http://schemas.openxmlformats.org/officeDocument/2006/relationships/tableStyles" Target="/ppt/tableStyles.xml" Id="R390c6476283e4cc0" /><Relationship Type="http://schemas.openxmlformats.org/officeDocument/2006/relationships/slide" Target="/ppt/slides/slide1.xml" Id="R0697efdeeddf4aa0" /><Relationship Type="http://schemas.openxmlformats.org/officeDocument/2006/relationships/slide" Target="/ppt/slides/slide2.xml" Id="Rc5b615a19d3c445c" /><Relationship Type="http://schemas.openxmlformats.org/officeDocument/2006/relationships/slide" Target="/ppt/slides/slide3.xml" Id="Rf9c7f6afc44c4816" /><Relationship Type="http://schemas.openxmlformats.org/officeDocument/2006/relationships/slide" Target="/ppt/slides/slide4.xml" Id="R4785d7d2a4174b88" /><Relationship Type="http://schemas.openxmlformats.org/officeDocument/2006/relationships/slide" Target="/ppt/slides/slide5.xml" Id="Rb5873680442c4445" /><Relationship Type="http://schemas.openxmlformats.org/officeDocument/2006/relationships/slide" Target="/ppt/slides/slide6.xml" Id="Rfd432dc9e38f403f" /><Relationship Type="http://schemas.openxmlformats.org/officeDocument/2006/relationships/slide" Target="/ppt/slides/slide7.xml" Id="R4208ff1ac2724501" /><Relationship Type="http://schemas.openxmlformats.org/officeDocument/2006/relationships/slide" Target="/ppt/slides/slide8.xml" Id="Ra1af3e61b41e46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0882bda78f46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e086898a7b4b19" /><Relationship Type="http://schemas.openxmlformats.org/officeDocument/2006/relationships/notesMaster" Target="/ppt/notesMasters/notesMaster1.xml" Id="R2b244886f3434f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ce67e1580249c8" /><Relationship Type="http://schemas.openxmlformats.org/officeDocument/2006/relationships/notesMaster" Target="/ppt/notesMasters/notesMaster1.xml" Id="Ra53bc62a9c604d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43656729484fe3" /><Relationship Type="http://schemas.openxmlformats.org/officeDocument/2006/relationships/notesMaster" Target="/ppt/notesMasters/notesMaster1.xml" Id="Rf3c1d32768fe40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b044dafed449ab" /><Relationship Type="http://schemas.openxmlformats.org/officeDocument/2006/relationships/notesMaster" Target="/ppt/notesMasters/notesMaster1.xml" Id="R6c51c320449a4c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51d97027b64957" /><Relationship Type="http://schemas.openxmlformats.org/officeDocument/2006/relationships/notesMaster" Target="/ppt/notesMasters/notesMaster1.xml" Id="Ra6fca884a0c24d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2c9b79262a44fe" /><Relationship Type="http://schemas.openxmlformats.org/officeDocument/2006/relationships/notesMaster" Target="/ppt/notesMasters/notesMaster1.xml" Id="R427e87039dd543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40237c43b04ab9" /><Relationship Type="http://schemas.openxmlformats.org/officeDocument/2006/relationships/notesMaster" Target="/ppt/notesMasters/notesMaster1.xml" Id="Rfd1a4302be5349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f2aed2f0d040c3" /><Relationship Type="http://schemas.openxmlformats.org/officeDocument/2006/relationships/notesMaster" Target="/ppt/notesMasters/notesMaster1.xml" Id="R6fbc5942e6e04d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Establish the purpose of Project management and safe production.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Use action, time, finance, resource and WHS planning as active decision tools during project development and production.</a:t>
            </a:r>
          </a:p>
          <a:p xmlns:a="http://schemas.openxmlformats.org/drawingml/2006/main">
            <a:r>
              <a:t>- Name the three learning areas without teaching them yet: Action plans, time plans and milestones; Finance and resource management; WHS, risk controls and production readiness.</a:t>
            </a:r>
          </a:p>
          <a:p xmlns:a="http://schemas.openxmlformats.org/drawingml/2006/main">
            <a:r>
              <a:t>- Explain that this deck supports classroom learning and formative evidence. Current teacher directions and formal notices remain authoritative.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the module purpose to the three-part learning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approved family-generated teaching asset, Year 12 D&amp;T assets/images/course-hero.png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Preview the three named ideas as a connected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- 1. Action plans, time plans and milestones: Build a realistic project plan that exposes dependencies, checkpoints and recovery options.</a:t>
            </a:r>
          </a:p>
          <a:p xmlns:a="http://schemas.openxmlformats.org/drawingml/2006/main">
            <a:r>
              <a:t>- 2. Finance and resource management: Estimate, monitor and justify project costs and resource use rather than treating a budget as a final receipt list.</a:t>
            </a:r>
          </a:p>
          <a:p xmlns:a="http://schemas.openxmlformats.org/drawingml/2006/main">
            <a:r>
              <a:t>- 3. WHS, risk controls and production readiness: Plan safe production by identifying hazards and selecting effective controls before work begins.</a:t>
            </a:r>
          </a:p>
          <a:p xmlns:a="http://schemas.openxmlformats.org/drawingml/2006/main">
            <a:r>
              <a:t>- Retrieval prompt: Which idea is most likely to change a real design decision in Camping Environment - management and production readiness, and why?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Begin with Action plans, time plans and milestones.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current Year 11 local teaching asset assets/module-12-map.svg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Build a realistic project plan that exposes dependencies, checkpoints and recovery options.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Tasks should be broken into observable actions rather than broad labels such as “work on project”.</a:t>
            </a:r>
          </a:p>
          <a:p xmlns:a="http://schemas.openxmlformats.org/drawingml/2006/main">
            <a:r>
              <a:t>- Dependencies identify work that cannot begin until an earlier decision, material or process is complete.</a:t>
            </a:r>
          </a:p>
          <a:p xmlns:a="http://schemas.openxmlformats.org/drawingml/2006/main">
            <a:r>
              <a:t>- Milestones mark important decisions or completed stages; quality checkpoints verify requirements before work continues.</a:t>
            </a:r>
          </a:p>
          <a:p xmlns:a="http://schemas.openxmlformats.org/drawingml/2006/main">
            <a:r>
              <a:t>- Actual progress should be recorded and the plan updated when evidence, delays or resource changes occur.</a:t>
            </a:r>
          </a:p>
          <a:p xmlns:a="http://schemas.openxmlformats.org/drawingml/2006/main">
            <a:r>
              <a:t>- Visual notice: Ask students what the scene makes visible about action plans, time plans and milestones, then connect observations to the stated principles.</a:t>
            </a:r>
          </a:p>
          <a:p xmlns:a="http://schemas.openxmlformats.org/drawingml/2006/main">
            <a:r>
              <a:t>- Evidence prompt: A critical material will arrive one week late. Which response demonstrates effective project management?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A detailed plan guarantees the project will finish on time.</a:t>
            </a:r>
          </a:p>
          <a:p xmlns:a="http://schemas.openxmlformats.org/drawingml/2006/main">
            <a:r>
              <a:t>- Every task should be scheduled for the same length to keep the chart simple.</a:t>
            </a:r>
          </a:p>
          <a:p xmlns:a="http://schemas.openxmlformats.org/drawingml/2006/main">
            <a:r>
              <a:t>- Updating a plan hides poor time management.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Finance and resource management.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Current Camping Environment action-plan requirement; teacher answer booklet on Gantt charts and project management.</a:t>
            </a:r>
          </a:p>
          <a:p xmlns:a="http://schemas.openxmlformats.org/drawingml/2006/main">
            <a:r>
              <a:t>- Visual: approved family-generated teaching asset, Year 12 D&amp;T assets/images/m06s01.png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Estimate, monitor and justify project costs and resource use rather than treating a budget as a final receipt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Estimated quantities and unit costs should be based on the intended design and updated as it changes.</a:t>
            </a:r>
          </a:p>
          <a:p xmlns:a="http://schemas.openxmlformats.org/drawingml/2006/main">
            <a:r>
              <a:t>- A contingency allows for reasonable uncertainty but does not replace accurate estimating.</a:t>
            </a:r>
          </a:p>
          <a:p xmlns:a="http://schemas.openxmlformats.org/drawingml/2006/main">
            <a:r>
              <a:t>- Material yield and stock dimensions can affect cost more than the nominal price of a small component.</a:t>
            </a:r>
          </a:p>
          <a:p xmlns:a="http://schemas.openxmlformats.org/drawingml/2006/main">
            <a:r>
              <a:t>- Resource selection should balance function, quality, safety, sustainability, availability and cost.</a:t>
            </a:r>
          </a:p>
          <a:p xmlns:a="http://schemas.openxmlformats.org/drawingml/2006/main">
            <a:r>
              <a:t>- Visual notice: Ask students what the scene makes visible about finance and resource management, then connect observations to the stated principles.</a:t>
            </a:r>
          </a:p>
          <a:p xmlns:a="http://schemas.openxmlformats.org/drawingml/2006/main">
            <a:r>
              <a:t>- Evidence prompt: A material is cheap per metre but must be bought in a large minimum quantity. What should the designer 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The finance plan is accurate when receipts total less than the budget.</a:t>
            </a:r>
          </a:p>
          <a:p xmlns:a="http://schemas.openxmlformats.org/drawingml/2006/main">
            <a:r>
              <a:t>- School-supplied materials have no project cost and need not be recorded.</a:t>
            </a:r>
          </a:p>
          <a:p xmlns:a="http://schemas.openxmlformats.org/drawingml/2006/main">
            <a:r>
              <a:t>- The lowest purchase price produces the lowest whole-project cost.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WHS, risk controls and production readiness.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Current Camping Environment A$30 construction constraint; teacher answer booklet finance-plan content.</a:t>
            </a:r>
          </a:p>
          <a:p xmlns:a="http://schemas.openxmlformats.org/drawingml/2006/main">
            <a:r>
              <a:t>- Visual: approved family-generated teaching asset, Year 12 D&amp;T assets/images/m06s03.png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Plan safe production by identifying hazards and selecting effective controls before work begins.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Eliminating or substituting a hazard is generally more effective than relying only on PPE.</a:t>
            </a:r>
          </a:p>
          <a:p xmlns:a="http://schemas.openxmlformats.org/drawingml/2006/main">
            <a:r>
              <a:t>- Engineering controls such as guards, extraction and secure work holding reduce exposure through the work setup.</a:t>
            </a:r>
          </a:p>
          <a:p xmlns:a="http://schemas.openxmlformats.org/drawingml/2006/main">
            <a:r>
              <a:t>- Administrative controls include training, safe operating procedures, supervision, signage and planned sequencing.</a:t>
            </a:r>
          </a:p>
          <a:p xmlns:a="http://schemas.openxmlformats.org/drawingml/2006/main">
            <a:r>
              <a:t>- Production should not begin until required induction, teacher approval, equipment checks and controls are in place.</a:t>
            </a:r>
          </a:p>
          <a:p xmlns:a="http://schemas.openxmlformats.org/drawingml/2006/main">
            <a:r>
              <a:t>- Visual notice: Ask students what the scene makes visible about whs, risk controls and production readiness, then connect observations to the stated principles.</a:t>
            </a:r>
          </a:p>
          <a:p xmlns:a="http://schemas.openxmlformats.org/drawingml/2006/main">
            <a:r>
              <a:t>- Evidence prompt: A dusty process can be replaced with a lower-dust method that still meets the design criteria. Which control is strongest?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A risk is controlled when everyone knows the hazard exists.</a:t>
            </a:r>
          </a:p>
          <a:p xmlns:a="http://schemas.openxmlformats.org/drawingml/2006/main">
            <a:r>
              <a:t>- PPE is the most reliable control because it stays with the worker.</a:t>
            </a:r>
          </a:p>
          <a:p xmlns:a="http://schemas.openxmlformats.org/drawingml/2006/main">
            <a:r>
              <a:t>- A process demonstrated by an experienced student needs no further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teaching into retrieval across all three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WHS content; teacher answer booklet on PPE and wider controls; current school procedures remain authoritative.</a:t>
            </a:r>
          </a:p>
          <a:p xmlns:a="http://schemas.openxmlformats.org/drawingml/2006/main">
            <a:r>
              <a:t>- Visual: approved family-generated teaching asset, Year 12 D&amp;T assets/images/m09s02.png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Use retrieval to expose and repair reasoning gaps across all three sections.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Give quiet recall time before inviting answers.</a:t>
            </a:r>
          </a:p>
          <a:p xmlns:a="http://schemas.openxmlformats.org/drawingml/2006/main">
            <a:r>
              <a:t>- Check 1: A critical material will arrive one week late. Which response demonstrates effective project management?</a:t>
            </a:r>
          </a:p>
          <a:p xmlns:a="http://schemas.openxmlformats.org/drawingml/2006/main">
            <a:r>
              <a:t>- Indicative answer: Update the plan, identify dependent tasks, bring forward independent research or prototype work and record the effect on milestones.</a:t>
            </a:r>
          </a:p>
          <a:p xmlns:a="http://schemas.openxmlformats.org/drawingml/2006/main">
            <a:r>
              <a:t>- Check 2: A material is cheap per metre but must be bought in a large minimum quantity. What should the designer do?</a:t>
            </a:r>
          </a:p>
          <a:p xmlns:a="http://schemas.openxmlformats.org/drawingml/2006/main">
            <a:r>
              <a:t>- Indicative answer: Calculate the actual purchase and usable yield, compare alternatives and document how the choice affects budget, waste and performance.</a:t>
            </a:r>
          </a:p>
          <a:p xmlns:a="http://schemas.openxmlformats.org/drawingml/2006/main">
            <a:r>
              <a:t>- Check 3: A dusty process can be replaced with a lower-dust method that still meets the design criteria. Which control is strongest?</a:t>
            </a:r>
          </a:p>
          <a:p xmlns:a="http://schemas.openxmlformats.org/drawingml/2006/main">
            <a:r>
              <a:t>- Indicative answer: Substitute the lower-dust method, then add any required extraction, procedure and PPE controls for the remaining risk.</a:t>
            </a:r>
          </a:p>
          <a:p xmlns:a="http://schemas.openxmlformats.org/drawingml/2006/main">
            <a:r>
              <a:t>- Ask students to explain why the answer is defensible before they return to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retrieved ideas to construct one sustained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Current Camping Environment action-plan requirement; teacher answer booklet on Gantt charts and project management.</a:t>
            </a:r>
          </a:p>
          <a:p xmlns:a="http://schemas.openxmlformats.org/drawingml/2006/main">
            <a:r>
              <a:t>- Y11 source note: Current Camping Environment A$30 construction constraint; teacher answer booklet finance-plan content.</a:t>
            </a:r>
          </a:p>
          <a:p xmlns:a="http://schemas.openxmlformats.org/drawingml/2006/main">
            <a:r>
              <a:t>- Y11 source note: NESA WHS content; teacher answer booklet on PPE and wider controls; current school procedures remain authoritative.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Guide one higher-order formative response using all three module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Prompt: Construct an integrated action, time, finance, resource and risk plan for the camping project, then update it after a simulated disruption.</a:t>
            </a:r>
          </a:p>
          <a:p xmlns:a="http://schemas.openxmlformats.org/drawingml/2006/main">
            <a:r>
              <a:t>- Read: identify the user, context and design question.</a:t>
            </a:r>
          </a:p>
          <a:p xmlns:a="http://schemas.openxmlformats.org/drawingml/2006/main">
            <a:r>
              <a:t>- Select: choose source-bound evidence rather than a preference.</a:t>
            </a:r>
          </a:p>
          <a:p xmlns:a="http://schemas.openxmlformats.org/drawingml/2006/main">
            <a:r>
              <a:t>- Explain: connect the evidence to a design consequence or decision.</a:t>
            </a:r>
          </a:p>
          <a:p xmlns:a="http://schemas.openxmlformats.org/drawingml/2006/main">
            <a:r>
              <a:t>- Check: test the response against the relevant need, criterion or source.</a:t>
            </a:r>
          </a:p>
          <a:p xmlns:a="http://schemas.openxmlformats.org/drawingml/2006/main">
            <a:r>
              <a:t>- Remind students that this is formative learning evidence, not a formal submission instruction.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Close by asking each student to retain the response and name the next useful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Current Camping Environment action-plan requirement; teacher answer booklet on Gantt charts and project management.</a:t>
            </a:r>
          </a:p>
          <a:p xmlns:a="http://schemas.openxmlformats.org/drawingml/2006/main">
            <a:r>
              <a:t>- Y11 source note: Current Camping Environment A$30 construction constraint; teacher answer booklet finance-plan content.</a:t>
            </a:r>
          </a:p>
          <a:p xmlns:a="http://schemas.openxmlformats.org/drawingml/2006/main">
            <a:r>
              <a:t>- Y11 source note: NESA WHS content; teacher answer booklet on PPE and wider controls; current school procedures remain authoritative.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Make the exit ticket produce a concrete learning record and a manageable next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Ask students to complete all three prompts individually before discussion.</a:t>
            </a:r>
          </a:p>
          <a:p xmlns:a="http://schemas.openxmlformats.org/drawingml/2006/main">
            <a:r>
              <a:t>- Keep the record labelled formative learning evidence; do not imply a cloud submission or formal assessment requirement.</a:t>
            </a:r>
          </a:p>
          <a:p xmlns:a="http://schemas.openxmlformats.org/drawingml/2006/main">
            <a:r>
              <a:t>- Next action: connect the module evidence to Camping Environment - management and production readiness.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End with each student's own next action, not a generic summary.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Current Camping Environment action-plan requirement; teacher answer booklet on Gantt charts and project management.</a:t>
            </a:r>
          </a:p>
          <a:p xmlns:a="http://schemas.openxmlformats.org/drawingml/2006/main">
            <a:r>
              <a:t>- Y11 source note: Current Camping Environment A$30 construction constraint; teacher answer booklet finance-plan content.</a:t>
            </a:r>
          </a:p>
          <a:p xmlns:a="http://schemas.openxmlformats.org/drawingml/2006/main">
            <a:r>
              <a:t>- Y11 source note: NESA WHS content; teacher answer booklet on PPE and wider controls; current school procedures remain authoritative.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2386e539af49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db8018c3904f61" /><Relationship Type="http://schemas.openxmlformats.org/officeDocument/2006/relationships/slideLayout" Target="/ppt/slideLayouts/slideLayout1.xml" Id="R524b5552036b4f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4b5552036b4f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3316c97c542ae" /><Relationship Type="http://schemas.openxmlformats.org/officeDocument/2006/relationships/image" Target="/ppt/media/image.png" Id="R7384ecff15af470f" /><Relationship Type="http://schemas.openxmlformats.org/officeDocument/2006/relationships/notesSlide" Target="/ppt/notesSlides/notesSlide1.xml" Id="Rf5277caf62604b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5739dae6f4c18" /><Relationship Type="http://schemas.openxmlformats.org/officeDocument/2006/relationships/image" Target="/ppt/media/image2.png" Id="R7811ceca742045b0" /><Relationship Type="http://schemas.openxmlformats.org/officeDocument/2006/relationships/image" Target="/ppt/media/image.svg" Id="R3fa1ce942a5d49b3" /><Relationship Type="http://schemas.openxmlformats.org/officeDocument/2006/relationships/notesSlide" Target="/ppt/notesSlides/notesSlide2.xml" Id="R1eed0ff1908545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646efef3d40f5" /><Relationship Type="http://schemas.openxmlformats.org/officeDocument/2006/relationships/image" Target="/ppt/media/image3.png" Id="R9eeb867cfc5a4a89" /><Relationship Type="http://schemas.openxmlformats.org/officeDocument/2006/relationships/notesSlide" Target="/ppt/notesSlides/notesSlide3.xml" Id="R94b10dd0f9a442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460d1edf14b69" /><Relationship Type="http://schemas.openxmlformats.org/officeDocument/2006/relationships/image" Target="/ppt/media/image4.png" Id="Re0adf822d42f4a5b" /><Relationship Type="http://schemas.openxmlformats.org/officeDocument/2006/relationships/notesSlide" Target="/ppt/notesSlides/notesSlide4.xml" Id="R54b40f96850540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24c413bf646e6" /><Relationship Type="http://schemas.openxmlformats.org/officeDocument/2006/relationships/image" Target="/ppt/media/image5.png" Id="Rf65ec37992e04982" /><Relationship Type="http://schemas.openxmlformats.org/officeDocument/2006/relationships/notesSlide" Target="/ppt/notesSlides/notesSlide5.xml" Id="Rb0575420cd844b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35ea3e68b4d9c" /><Relationship Type="http://schemas.openxmlformats.org/officeDocument/2006/relationships/notesSlide" Target="/ppt/notesSlides/notesSlide6.xml" Id="Rc219461853eb49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99b32e7b64975" /><Relationship Type="http://schemas.openxmlformats.org/officeDocument/2006/relationships/notesSlide" Target="/ppt/notesSlides/notesSlide7.xml" Id="Rf7c6312e5e0942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c16ace6494604" /><Relationship Type="http://schemas.openxmlformats.org/officeDocument/2006/relationships/notesSlide" Target="/ppt/notesSlides/notesSlide8.xml" Id="R5b251a49fa714b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4ecff15af470f"/>
          <a:srcRect xmlns:a="http://schemas.openxmlformats.org/drawingml/2006/main" l="19792" t="0" r="197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D5522-814D-438D-8D3B-BE1C07D5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ED3A2-C1CA-4B8D-8465-728F758C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65F49"/>
                </a:solidFill>
              </a:defRPr>
            </a:pPr>
            <a:r>
              <a:rPr sz="1275" b="1" i="0">
                <a:solidFill>
                  <a:srgbClr val="B65F49"/>
                </a:solidFill>
              </a:rPr>
              <a:t>MODULE 12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758C4926-D7CB-4BA6-A776-C7206446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2197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73A32"/>
                </a:solidFill>
              </a:defRPr>
            </a:pPr>
            <a:r>
              <a:rPr sz="3900" b="1" i="0">
                <a:solidFill>
                  <a:srgbClr val="173A32"/>
                </a:solidFill>
              </a:rPr>
              <a:t>Project management and safe production</a:t>
            </a:r>
          </a:p>
        </p:txBody>
      </p:sp>
      <p:sp>
        <p:nvSpPr>
          <p:cNvPr id="5" name="deck-purpose">
            <a:extLst xmlns:a="http://schemas.openxmlformats.org/drawingml/2006/main">
              <a:ext uri="{FF2B5EF4-FFF2-40B4-BE49-F238E27FC236}">
                <a16:creationId xmlns:a16="http://schemas.microsoft.com/office/drawing/2014/main" id="{82CE8DE3-A0B4-46ED-92FA-C239403D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124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8231F"/>
                </a:solidFill>
              </a:defRPr>
            </a:pPr>
            <a:r>
              <a:rPr sz="1575" b="0" i="0">
                <a:solidFill>
                  <a:srgbClr val="18231F"/>
                </a:solidFill>
              </a:rPr>
              <a:t>Use action, time, finance, resource and WHS planning as active decision tools during project development and production.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5FCA6-6C91-45B5-A682-590738A1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5A4D"/>
                </a:solidFill>
              </a:defRPr>
            </a:pPr>
            <a:r>
              <a:rPr sz="1125" b="1" i="0">
                <a:solidFill>
                  <a:srgbClr val="315A4D"/>
                </a:solidFill>
              </a:rPr>
              <a:t>Camping Environment - management and production readiness  ·  P4.2 · P5.1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3E59F-8348-4833-8077-312BADC7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FORMATIVE LEARNING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9667A-7BAB-41DC-BADF-B5F4DA61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076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896853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2">
            <a:extLst xmlns:a="http://schemas.openxmlformats.org/drawingml/2006/main">
              <a:ext uri="{FF2B5EF4-FFF2-40B4-BE49-F238E27FC236}">
                <a16:creationId xmlns:a16="http://schemas.microsoft.com/office/drawing/2014/main" id="{7EFA152C-1216-4145-B23F-B0E028C6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1B556-C805-4E01-A15C-ED2C525E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64E4D-1247-48F7-A42C-0F722D91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3–4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F15A2-DCE6-4C0F-8D48-D1393DF6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02</a:t>
            </a:r>
          </a:p>
        </p:txBody>
      </p:sp>
      <p:sp>
        <p:nvSpPr>
          <p:cNvPr id="5" name="map-title">
            <a:extLst xmlns:a="http://schemas.openxmlformats.org/drawingml/2006/main">
              <a:ext uri="{FF2B5EF4-FFF2-40B4-BE49-F238E27FC236}">
                <a16:creationId xmlns:a16="http://schemas.microsoft.com/office/drawing/2014/main" id="{4CB0700A-53FD-4423-8E5B-208CA8D0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A32"/>
                </a:solidFill>
              </a:defRPr>
            </a:pPr>
            <a:r>
              <a:rPr sz="3150" b="1" i="0">
                <a:solidFill>
                  <a:srgbClr val="173A32"/>
                </a:solidFill>
              </a:rPr>
              <a:t>Three ideas build one evidence pathway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1ceca742045b0">
            <a:extLst>
              <a:ext uri="{96DAC541-7B7A-43D3-8B79-37D633B846F1}">
                <asvg:svgBlip xmlns:asvg="http://schemas.microsoft.com/office/drawing/2016/SVG/main" r:embed="R3fa1ce942a5d49b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524000"/>
            <a:ext cx="10820400" cy="2428875"/>
          </a:xfrm>
          <a:prstGeom xmlns:a="http://schemas.openxmlformats.org/drawingml/2006/main" prst="rect">
            <a:avLst/>
          </a:prstGeom>
        </p:spPr>
      </p:pic>
      <p:sp>
        <p:nvSpPr>
          <p:cNvPr id="7" name="applied-path">
            <a:extLst xmlns:a="http://schemas.openxmlformats.org/drawingml/2006/main">
              <a:ext uri="{FF2B5EF4-FFF2-40B4-BE49-F238E27FC236}">
                <a16:creationId xmlns:a16="http://schemas.microsoft.com/office/drawing/2014/main" id="{0B6AD72A-6D11-4206-AF75-22B1B22D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9334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41905-8840-4600-8F4E-82BFF6DD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24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APPLY + KEEP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99BD2-AD17-45BB-BFB7-D9EEA6F4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95875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Construct an integrated action, time, finance, resource and risk plan for the camping project, then update it after a simulated disruption.</a:t>
            </a:r>
          </a:p>
        </p:txBody>
      </p:sp>
    </p:spTree>
    <p:extLst>
      <p:ext uri="{BB962C8B-B14F-4D97-AF65-F5344CB8AC3E}">
        <p14:creationId xmlns:p14="http://schemas.microsoft.com/office/powerpoint/2010/main" val="7412465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3">
            <a:extLst xmlns:a="http://schemas.openxmlformats.org/drawingml/2006/main">
              <a:ext uri="{FF2B5EF4-FFF2-40B4-BE49-F238E27FC236}">
                <a16:creationId xmlns:a16="http://schemas.microsoft.com/office/drawing/2014/main" id="{4FD48379-7608-4BED-A0E7-AB7278A0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F4114-5A37-45BB-8C56-B349324E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22E0A-FD09-452E-87CE-08C1323C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3–4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1BDD8-EF7F-4E9C-84BE-C6506277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03</a:t>
            </a:r>
          </a:p>
        </p:txBody>
      </p:sp>
      <p:sp>
        <p:nvSpPr>
          <p:cNvPr id="5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2B8F29CD-F6D9-410D-8B26-CB0933D4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Action plans, time plans and milestones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b867cfc5a4a89"/>
          <a:srcRect xmlns:a="http://schemas.openxmlformats.org/drawingml/2006/main" l="4268" t="0" r="42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1DAEA-BC41-4F31-A07C-553F7A8C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05B29-D790-4827-955E-2FD101D6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61C9F-1226-4622-B378-13080107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53526-25C7-4307-BC11-6936C584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Tasks should be broken into observable actions rather than broad labels such as “work on project”.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EADD7-579D-4ADE-8711-C19CE710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C309A-C5C3-41D6-B39A-BB4B1BE3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Dependencies identify work that cannot begin until an earlier decision, material or process is complete.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0A53FE-4124-4D08-8617-ADDD2C77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34C5A-436B-4A89-84D9-1AD1D34C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Milestones mark important decisions or completed stages; quality checkpoints verify requirements before work continues.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F8A3E-02A6-491B-B0C9-72140007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C97421-BAC7-4262-B2E0-83A7A295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critical material will arrive one week late. Which response demonstrates effective project management?</a:t>
            </a:r>
          </a:p>
        </p:txBody>
      </p:sp>
    </p:spTree>
    <p:extLst>
      <p:ext uri="{BB962C8B-B14F-4D97-AF65-F5344CB8AC3E}">
        <p14:creationId xmlns:p14="http://schemas.microsoft.com/office/powerpoint/2010/main" val="3559321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4">
            <a:extLst xmlns:a="http://schemas.openxmlformats.org/drawingml/2006/main">
              <a:ext uri="{FF2B5EF4-FFF2-40B4-BE49-F238E27FC236}">
                <a16:creationId xmlns:a16="http://schemas.microsoft.com/office/drawing/2014/main" id="{922DC8C9-A37D-4071-8551-03B98D2D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10934-604F-41C2-8075-0E86E783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3FA70-AB5E-4D73-A9AE-EDE2035E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3–4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42B0B-1D04-4853-BE87-67D51257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04</a:t>
            </a:r>
          </a:p>
        </p:txBody>
      </p:sp>
      <p:sp>
        <p:nvSpPr>
          <p:cNvPr id="5" name="section-2-title">
            <a:extLst xmlns:a="http://schemas.openxmlformats.org/drawingml/2006/main">
              <a:ext uri="{FF2B5EF4-FFF2-40B4-BE49-F238E27FC236}">
                <a16:creationId xmlns:a16="http://schemas.microsoft.com/office/drawing/2014/main" id="{BEA2BBE5-73C0-475E-B51E-29EAC94E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Finance and resource management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df822d42f4a5b"/>
          <a:srcRect xmlns:a="http://schemas.openxmlformats.org/drawingml/2006/main" l="4268" t="0" r="42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6757B-01C2-4441-A1D8-462EE970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312A0-686F-4159-88BE-46297F05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439BD-6EA4-4DFE-8F44-86A155E8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F6C08-5447-4423-ACD0-F848EA67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Estimated quantities and unit costs should be based on the intended design and updated as it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BE16A-3E8C-494A-A419-9232579D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3715B1-C1F6-4E82-87CB-1FDA12A5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 contingency allows for reasonable uncertainty but does not replace accurate estimating.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3A2B13-3B9E-4294-8887-86F5FD5C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19562-5EEF-4F1C-9BFB-1E8E8AB9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Material yield and stock dimensions can affect cost more than the nominal price of a small component.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1C63A-65A1-4AC9-929D-B8763B0C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A8A590-26A5-494F-838E-61D1ECDD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material is cheap per metre but must be bought in a large minimum quantity. What should the designer do?</a:t>
            </a:r>
          </a:p>
        </p:txBody>
      </p:sp>
    </p:spTree>
    <p:extLst>
      <p:ext uri="{BB962C8B-B14F-4D97-AF65-F5344CB8AC3E}">
        <p14:creationId xmlns:p14="http://schemas.microsoft.com/office/powerpoint/2010/main" val="13804249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5">
            <a:extLst xmlns:a="http://schemas.openxmlformats.org/drawingml/2006/main">
              <a:ext uri="{FF2B5EF4-FFF2-40B4-BE49-F238E27FC236}">
                <a16:creationId xmlns:a16="http://schemas.microsoft.com/office/drawing/2014/main" id="{1869C801-9E06-4A1A-82B0-646CFFD1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91BDF-0C1E-46FB-BE95-A1377E32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04B07-0A62-4375-ABBD-F2E9E926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3–4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DB3D5-4A2D-4FDD-9627-6B1BB436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05</a:t>
            </a:r>
          </a:p>
        </p:txBody>
      </p:sp>
      <p:sp>
        <p:nvSpPr>
          <p:cNvPr id="5" name="section-3-title">
            <a:extLst xmlns:a="http://schemas.openxmlformats.org/drawingml/2006/main">
              <a:ext uri="{FF2B5EF4-FFF2-40B4-BE49-F238E27FC236}">
                <a16:creationId xmlns:a16="http://schemas.microsoft.com/office/drawing/2014/main" id="{C68E8D6E-1643-4FD2-9648-0A8AC5DB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WHS, risk controls and production readiness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ec37992e04982"/>
          <a:srcRect xmlns:a="http://schemas.openxmlformats.org/drawingml/2006/main" l="15683" t="0" r="156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92210-3CA3-4F95-A2E1-BB9B1E65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4D259-B149-47F6-9A3B-98482C1C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F3CC4-591D-4628-9287-1E845FEC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B91C8-EAED-4166-8983-A7B338E3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Eliminating or substituting a hazard is generally more effective than relying only on PPE.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88BAE-FA65-4C23-AFE9-2647D752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D950F-2472-4F8C-B771-890AB3EC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Engineering controls such as guards, extraction and secure work holding reduce exposure through the work setup.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DA4BC2-4174-401D-871E-0BC7A9E2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4A2D1-C7D2-4C09-AD02-8CCA881D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Administrative controls include training, safe operating procedures, supervision, signage and planned sequencing.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E3F45-E76F-4168-BBD6-42D77AC7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D9244D-ECB6-4069-B28F-0D9F7F1C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dusty process can be replaced with a lower-dust method that still meets the design criteria. Which control is strongest?</a:t>
            </a:r>
          </a:p>
        </p:txBody>
      </p:sp>
    </p:spTree>
    <p:extLst>
      <p:ext uri="{BB962C8B-B14F-4D97-AF65-F5344CB8AC3E}">
        <p14:creationId xmlns:p14="http://schemas.microsoft.com/office/powerpoint/2010/main" val="9745548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header-6">
            <a:extLst xmlns:a="http://schemas.openxmlformats.org/drawingml/2006/main">
              <a:ext uri="{FF2B5EF4-FFF2-40B4-BE49-F238E27FC236}">
                <a16:creationId xmlns:a16="http://schemas.microsoft.com/office/drawing/2014/main" id="{D8363F8D-B1D2-4DBF-887D-4FD1A6C9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A4537-C8CD-485D-8F9A-B4A6D4A3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724C9-2650-41E4-A95D-FC8BF4A3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3–4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C173A-E482-46DC-9F91-E578979F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BD256-5CB7-4AFC-AAF7-825F10BC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Retrieve first; then check and improve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8E1DD-D754-47B3-B4FE-8A8E5900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15A4D"/>
                </a:solidFill>
              </a:defRPr>
            </a:pPr>
            <a:r>
              <a:rPr sz="1275" b="0" i="0">
                <a:solidFill>
                  <a:srgbClr val="315A4D"/>
                </a:solidFill>
              </a:rPr>
              <a:t>Answer without notes. Use one precise sentence for each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8BBFB-0E0B-4F8E-A95B-72BBDCE7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65F49"/>
                </a:solidFill>
              </a:defRPr>
            </a:pPr>
            <a:r>
              <a:rPr sz="1800" b="1" i="0">
                <a:solidFill>
                  <a:srgbClr val="B65F4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27650-FC49-4534-84FD-765E0400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526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critical material will arrive one week late. Which response demonstrates effective project management?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CDB92-011A-4CA6-B027-9B08F251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68A10-ADCF-4A58-BFBC-82CA7380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3A453"/>
                </a:solidFill>
              </a:defRPr>
            </a:pPr>
            <a:r>
              <a:rPr sz="18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BC0FB-A203-426F-B4F3-F51D5E52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material is cheap per metre but must be bought in a large minimum quantity. What should the designer do?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6A9BA-E052-4A14-8A94-DFC39A89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FF6B5-89AC-4512-B833-D53394A2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547D69"/>
                </a:solidFill>
              </a:defRPr>
            </a:pPr>
            <a:r>
              <a:rPr sz="1800" b="1" i="0">
                <a:solidFill>
                  <a:srgbClr val="547D6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09C187-1918-4CAE-934C-6CAA52E5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dusty process can be replaced with a lower-dust method that still meets the design criteria. Which control is strongest?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89373C-4338-4993-B790-B5BD01A3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5F5037-A13F-4949-969B-67DCCC83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62100"/>
            <a:ext cx="2838450" cy="4095750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A84BEB-DD1B-418A-81AC-7BF02BE5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A calm checking 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D68109-B347-49B8-AD00-844FADA6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1  Recall from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7D574B-286D-4F3E-BA92-22A6A319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290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2  Check the matching section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90234C-1636-4DBC-8E61-217BED70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57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3  Repair the reason, not just the word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81D24F-5C01-476C-8052-1F8F62EC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863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4  Try the question again</a:t>
            </a:r>
          </a:p>
        </p:txBody>
      </p:sp>
    </p:spTree>
    <p:extLst>
      <p:ext uri="{BB962C8B-B14F-4D97-AF65-F5344CB8AC3E}">
        <p14:creationId xmlns:p14="http://schemas.microsoft.com/office/powerpoint/2010/main" val="1546249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7">
            <a:extLst xmlns:a="http://schemas.openxmlformats.org/drawingml/2006/main">
              <a:ext uri="{FF2B5EF4-FFF2-40B4-BE49-F238E27FC236}">
                <a16:creationId xmlns:a16="http://schemas.microsoft.com/office/drawing/2014/main" id="{30405D96-18F0-4784-97A8-224DF471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64264-2CFF-4CC8-B14B-E149430F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BD72E-8179-461F-84FB-72DBC613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3–4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A2EB5-D7D5-45ED-A0AB-23D36822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21829-A092-4F37-95D1-589A786F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Construct evidence that makes reasoning visible</a:t>
            </a:r>
          </a:p>
        </p:txBody>
      </p:sp>
      <p:sp>
        <p:nvSpPr>
          <p:cNvPr id="6" name="evidence-prompt">
            <a:extLst xmlns:a="http://schemas.openxmlformats.org/drawingml/2006/main">
              <a:ext uri="{FF2B5EF4-FFF2-40B4-BE49-F238E27FC236}">
                <a16:creationId xmlns:a16="http://schemas.microsoft.com/office/drawing/2014/main" id="{2D0BD999-3FAC-45BB-91A3-540EE2D0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A32"/>
                </a:solidFill>
              </a:defRPr>
            </a:pPr>
            <a:r>
              <a:rPr sz="1875" b="1" i="0">
                <a:solidFill>
                  <a:srgbClr val="173A32"/>
                </a:solidFill>
              </a:rPr>
              <a:t>Construct an integrated action, time, finance, resource and risk plan for the camping project, then update it after a simulated disruption.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7CEC0-77FA-4EED-A4C9-943B578B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Name the user, context or design issue.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Select one relevant principle from this module.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Explain how the evidence changes a decision.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Check the decision against the need, criteria or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97EAD-CD82-4A47-9C9C-CD51E550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619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3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9102E-8731-4FD9-AA77-B2DE0B1F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A32"/>
                </a:solidFill>
              </a:defRPr>
            </a:pPr>
            <a:r>
              <a:rPr sz="1200" b="1" i="0">
                <a:solidFill>
                  <a:srgbClr val="173A32"/>
                </a:solidFill>
              </a:rPr>
              <a:t>SENTENCE SUPPORT  ·  The evidence shows … This matters because … Therefore I would 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7715B-39A9-4566-B36A-8F850D64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05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695E4-D42F-497F-9C3A-658907A5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62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86BFD-C3AE-4775-BD87-E8CC0C2B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43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6F10C-B1FA-46B1-9DDE-31610D73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28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Identify the design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18D62-230A-4D9A-B367-A1950314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90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8C8690-F6FC-4631-9E2E-C4E2452C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SELECT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3434E-1B07-47DD-8838-2D6E2216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Choose relevant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DA860-1069-456D-A911-BF7A47D7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19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D2585C-B474-4447-BA1E-F1800299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C65BF-81A8-4144-BFCA-46C358FD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86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Connect evidence to the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766B3-10CF-4E2F-9095-F8429EAD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EA6D08-1C8A-4A89-BA24-3257CCDE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29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E3E396-AF9C-4B31-AA0F-C294890D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149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Test against the requirement</a:t>
            </a:r>
          </a:p>
        </p:txBody>
      </p:sp>
    </p:spTree>
    <p:extLst>
      <p:ext uri="{BB962C8B-B14F-4D97-AF65-F5344CB8AC3E}">
        <p14:creationId xmlns:p14="http://schemas.microsoft.com/office/powerpoint/2010/main" val="7353769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3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8">
            <a:extLst xmlns:a="http://schemas.openxmlformats.org/drawingml/2006/main">
              <a:ext uri="{FF2B5EF4-FFF2-40B4-BE49-F238E27FC236}">
                <a16:creationId xmlns:a16="http://schemas.microsoft.com/office/drawing/2014/main" id="{9E50885D-9140-40CE-8382-8C12E5C2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0CF8E"/>
                </a:solidFill>
              </a:defRPr>
            </a:pPr>
            <a:r>
              <a:rPr sz="900" b="1" i="0">
                <a:solidFill>
                  <a:srgbClr val="F0CF8E"/>
                </a:solidFill>
              </a:rPr>
              <a:t>YEAR 11 DESIGN &amp; TECHNOLOGY  ·  MODULE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DE7C7-E630-48E2-93EE-D354C7BC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6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46021-EC22-438C-A78C-43482E9A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C8D8D2"/>
                </a:solidFill>
              </a:defRPr>
            </a:pPr>
            <a:r>
              <a:rPr sz="750" b="0" i="0">
                <a:solidFill>
                  <a:srgbClr val="C8D8D2"/>
                </a:solidFill>
              </a:rPr>
              <a:t>Year 11 Preliminary · Term 3 · Weeks 3–4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2B461-2526-49BF-BE5E-60BFC217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C8D8D2"/>
                </a:solidFill>
              </a:defRPr>
            </a:pPr>
            <a:r>
              <a:rPr sz="750" b="1" i="0">
                <a:solidFill>
                  <a:srgbClr val="C8D8D2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F791C-6725-4EC2-B2E9-3938678E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Leave with evidence, not just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042A1-3607-481D-A030-501372CA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89367-4BAD-4C2E-A1ED-D7817C55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79D82-C9E7-48D2-A239-51832A2A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idea I can now explain accurately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EE1AD-0D4C-4D7F-A45D-253371B3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67EF4-0E4D-4878-8F55-E719982E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APPLY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28ECF-5DEC-4534-9B9A-11D3927C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design decision or evidence judgement I can justify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31338-F999-499E-9518-F4CC7ED3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59E585-C59B-4182-A837-F1571ABC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183BA5-CF63-46BC-8F34-FD9598E5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next action for Camping Environment - management and production readiness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EAD2B-549A-4327-9FE9-0AE82B7F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A25A85-58A6-4389-BB23-328424A6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Save a dated response in your module learning record or design folio. Follow teacher directions for any formal submission.</a:t>
            </a:r>
          </a:p>
        </p:txBody>
      </p:sp>
    </p:spTree>
    <p:extLst>
      <p:ext uri="{BB962C8B-B14F-4D97-AF65-F5344CB8AC3E}">
        <p14:creationId xmlns:p14="http://schemas.microsoft.com/office/powerpoint/2010/main" val="774946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2026-08-31T18:33:55.5750000Z</dcterms:created>
  <dcterms:modified xsi:type="dcterms:W3CDTF">2026-08-31T18:33:55.5750000Z</dcterms:modified>
</coreProperties>
</file>