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93de9fbff8474e" /><Relationship Type="http://schemas.openxmlformats.org/officeDocument/2006/relationships/extended-properties" Target="/docProps/app.xml" Id="Ra89e97160d0d4762" /><Relationship Type="http://schemas.openxmlformats.org/officeDocument/2006/relationships/officeDocument" Target="/ppt/presentation.xml" Id="R5303c3bcc32a43a9" /></Relationships>
</file>

<file path=ppt/presentation.xml><?xml version="1.0" encoding="utf-8"?>
<p:presentation xmlns:p="http://schemas.openxmlformats.org/presentationml/2006/main">
  <p:sldMasterIdLst>
    <p:sldMasterId xmlns:r="http://schemas.openxmlformats.org/officeDocument/2006/relationships" id="2147483648" r:id="R2d34d5d4625e4cdc"/>
  </p:sldMasterIdLst>
  <p:notesMasterIdLst>
    <p:notesMasterId xmlns:r="http://schemas.openxmlformats.org/officeDocument/2006/relationships" r:id="Rf742bd2f2ad64683"/>
  </p:notesMasterIdLst>
  <p:sldIdLst>
    <p:sldId xmlns:r="http://schemas.openxmlformats.org/officeDocument/2006/relationships" id="256" r:id="Rfd8b8302dc0c45e2"/>
    <p:sldId xmlns:r="http://schemas.openxmlformats.org/officeDocument/2006/relationships" id="257" r:id="R9e48682828004a8e"/>
    <p:sldId xmlns:r="http://schemas.openxmlformats.org/officeDocument/2006/relationships" id="258" r:id="Rf6172a103baf489f"/>
    <p:sldId xmlns:r="http://schemas.openxmlformats.org/officeDocument/2006/relationships" id="259" r:id="R1c2e782ef9d84bad"/>
    <p:sldId xmlns:r="http://schemas.openxmlformats.org/officeDocument/2006/relationships" id="260" r:id="Rf602c85b8d7542d7"/>
    <p:sldId xmlns:r="http://schemas.openxmlformats.org/officeDocument/2006/relationships" id="261" r:id="R3f0edd258fdd466e"/>
    <p:sldId xmlns:r="http://schemas.openxmlformats.org/officeDocument/2006/relationships" id="262" r:id="R2b908c548665475a"/>
    <p:sldId xmlns:r="http://schemas.openxmlformats.org/officeDocument/2006/relationships" id="263" r:id="Ra0dd59bab0b549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47f5e88a3b45c8" /><Relationship Type="http://schemas.openxmlformats.org/officeDocument/2006/relationships/slideMaster" Target="/ppt/slideMasters/slideMaster1.xml" Id="R2d34d5d4625e4cdc" /><Relationship Type="http://schemas.openxmlformats.org/officeDocument/2006/relationships/notesMaster" Target="/ppt/notesMasters/notesMaster1.xml" Id="Rf742bd2f2ad64683" /><Relationship Type="http://schemas.openxmlformats.org/officeDocument/2006/relationships/presProps" Target="/ppt/presProps.xml" Id="Ra598cdc5c2d84e54" /><Relationship Type="http://schemas.openxmlformats.org/officeDocument/2006/relationships/tableStyles" Target="/ppt/tableStyles.xml" Id="R53d359f2e44d49e7" /><Relationship Type="http://schemas.openxmlformats.org/officeDocument/2006/relationships/slide" Target="/ppt/slides/slide1.xml" Id="Rfd8b8302dc0c45e2" /><Relationship Type="http://schemas.openxmlformats.org/officeDocument/2006/relationships/slide" Target="/ppt/slides/slide2.xml" Id="R9e48682828004a8e" /><Relationship Type="http://schemas.openxmlformats.org/officeDocument/2006/relationships/slide" Target="/ppt/slides/slide3.xml" Id="Rf6172a103baf489f" /><Relationship Type="http://schemas.openxmlformats.org/officeDocument/2006/relationships/slide" Target="/ppt/slides/slide4.xml" Id="R1c2e782ef9d84bad" /><Relationship Type="http://schemas.openxmlformats.org/officeDocument/2006/relationships/slide" Target="/ppt/slides/slide5.xml" Id="Rf602c85b8d7542d7" /><Relationship Type="http://schemas.openxmlformats.org/officeDocument/2006/relationships/slide" Target="/ppt/slides/slide6.xml" Id="R3f0edd258fdd466e" /><Relationship Type="http://schemas.openxmlformats.org/officeDocument/2006/relationships/slide" Target="/ppt/slides/slide7.xml" Id="R2b908c548665475a" /><Relationship Type="http://schemas.openxmlformats.org/officeDocument/2006/relationships/slide" Target="/ppt/slides/slide8.xml" Id="Ra0dd59bab0b549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7c746a71c349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c001c006eb4327" /><Relationship Type="http://schemas.openxmlformats.org/officeDocument/2006/relationships/notesMaster" Target="/ppt/notesMasters/notesMaster1.xml" Id="Raa0f729ab19c4a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16264ce1fe4a3d" /><Relationship Type="http://schemas.openxmlformats.org/officeDocument/2006/relationships/notesMaster" Target="/ppt/notesMasters/notesMaster1.xml" Id="R3aae72785a6847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8101efe7de4366" /><Relationship Type="http://schemas.openxmlformats.org/officeDocument/2006/relationships/notesMaster" Target="/ppt/notesMasters/notesMaster1.xml" Id="R91c406223a334e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48bf9f5c6544a5" /><Relationship Type="http://schemas.openxmlformats.org/officeDocument/2006/relationships/notesMaster" Target="/ppt/notesMasters/notesMaster1.xml" Id="Rf94cd0928c9841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e1644bfe3b43a9" /><Relationship Type="http://schemas.openxmlformats.org/officeDocument/2006/relationships/notesMaster" Target="/ppt/notesMasters/notesMaster1.xml" Id="R30e6dd36e7d249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8f3145afad4b28" /><Relationship Type="http://schemas.openxmlformats.org/officeDocument/2006/relationships/notesMaster" Target="/ppt/notesMasters/notesMaster1.xml" Id="R08127327979a46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b3e024732643f4" /><Relationship Type="http://schemas.openxmlformats.org/officeDocument/2006/relationships/notesMaster" Target="/ppt/notesMasters/notesMaster1.xml" Id="R010dac5854da4c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ab2733caa0496d" /><Relationship Type="http://schemas.openxmlformats.org/officeDocument/2006/relationships/notesMaster" Target="/ppt/notesMasters/notesMaster1.xml" Id="R73f970de60bb42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Judge whether people can reliably obtain food and safe water that suit their needs.</a:t>
            </a:r>
          </a:p>
          <a:p xmlns:a="http://schemas.openxmlformats.org/drawingml/2006/main">
            <a:r>
              <a:t>Teacher talking point: Introduce the term focus area and ask students what evidence they would need before making a judgement.</a:t>
            </a:r>
          </a:p>
          <a:p xmlns:a="http://schemas.openxmlformats.org/drawingml/2006/main">
            <a:r>
              <a:t>The original photograph is an illustrative teaching image, not a record of this class or a set practical.</a:t>
            </a:r>
          </a:p>
          <a:p xmlns:a="http://schemas.openxmlformats.org/drawingml/2006/main">
            <a:r>
              <a:t>Source boundary: year-10-food-technology-2026-source-map-v1; NESA Food Technology 7–10 Syllabus (2019). Live tasks and due dates remain in Google Classroom.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 through the three named sections: What food equity means; Barriers to food and water; Investigate and respond.</a:t>
            </a:r>
          </a:p>
          <a:p xmlns:a="http://schemas.openxmlformats.org/drawingml/2006/main">
            <a:r>
              <a:t>Retrieval prompt: A shop has food on its shelves. Does that prove everyone nearby can use it?</a:t>
            </a:r>
          </a:p>
          <a:p xmlns:a="http://schemas.openxmlformats.org/drawingml/2006/main">
            <a:r>
              <a:t>Listen for students treating a visible product or photograph as complete evidence; ask what it does and does not show.</a:t>
            </a:r>
          </a:p>
          <a:p xmlns:a="http://schemas.openxmlformats.org/drawingml/2006/main">
            <a:r>
              <a:t>Sources: https://classroom.google.com/w/ODQxODU0NzM4OTcw/t/all; https://www.nsw.gov.au/education-and-training/nesa/curriculum/tas/food-technology-7-10-2019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area: What food equity means.</a:t>
            </a:r>
          </a:p>
          <a:p xmlns:a="http://schemas.openxmlformats.org/drawingml/2006/main">
            <a:r>
              <a:t>Talking points: Availability means food is there. Access asks whether someone can obtain and use it. Price, travel, time, storage and suitability can change the answer. Two households near one shop can face very different choices.</a:t>
            </a:r>
          </a:p>
          <a:p xmlns:a="http://schemas.openxmlformats.org/drawingml/2006/main">
            <a:r>
              <a:t>Worked example from the approved source: A fruit shop may be close in kilometres but effectively distant if there is no affordable transport. Compare travel time and cost as well as the shelf price before judging access.</a:t>
            </a:r>
          </a:p>
          <a:p xmlns:a="http://schemas.openxmlformats.org/drawingml/2006/main">
            <a:r>
              <a:t>Ask: Which condition could block a choice even when the food is in stock?</a:t>
            </a:r>
          </a:p>
          <a:p xmlns:a="http://schemas.openxmlformats.org/drawingml/2006/main">
            <a:r>
              <a:t>Likely misconception: The same distance and shelf price mean equal access.</a:t>
            </a:r>
          </a:p>
          <a:p xmlns:a="http://schemas.openxmlformats.org/drawingml/2006/main">
            <a:r>
              <a:t>Visual: original authored diagram module-01-section-1.svg. Purpose: Help students explain food equity as a combination of access conditions rather than supply alone. Exception: Exact simultaneous relationship and reading order require a diagram; photography cannot show four abstract access conditions without stereotyping.</a:t>
            </a:r>
          </a:p>
          <a:p xmlns:a="http://schemas.openxmlformats.org/drawingml/2006/main">
            <a:r>
              <a:t>Sources: https://classroom.google.com/w/ODQxODU0NzM4OTcw/t/all ; https://www.nsw.gov.au/education-and-training/nesa/curriculum/tas/food-technology-7-10-2019 ; https://www.aihw.gov.au/reports/australias-health/social-determinants-of-health ; https://www.eatforhealth.gov.au/food-essentials/five-food-groups</a:t>
            </a:r>
          </a:p>
          <a:p xmlns:a="http://schemas.openxmlformats.org/drawingml/2006/main">
            <a:r>
              <a:t>Practical, recipe and assessment directions are controlled by the teacher and live Classroom posts.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area: Barriers to food and water.</a:t>
            </a:r>
          </a:p>
          <a:p xmlns:a="http://schemas.openxmlformats.org/drawingml/2006/main">
            <a:r>
              <a:t>Talking points: The cost of food may include transport, electricity and time. Deliveries can be disrupted. Safe water also affects what people can drink and prepare. Name the actual barrier before choosing a response.</a:t>
            </a:r>
          </a:p>
          <a:p xmlns:a="http://schemas.openxmlformats.org/drawingml/2006/main">
            <a:r>
              <a:t>Worked example from the approved source: If a storm interrupts deliveries, compare a short-term supply response with a longer-term plan for reliable transport. The two actions address different time scales.</a:t>
            </a:r>
          </a:p>
          <a:p xmlns:a="http://schemas.openxmlformats.org/drawingml/2006/main">
            <a:r>
              <a:t>Ask: Would a lower shelf price fix an unreliable water supply?</a:t>
            </a:r>
          </a:p>
          <a:p xmlns:a="http://schemas.openxmlformats.org/drawingml/2006/main">
            <a:r>
              <a:t>Likely misconception: One solution, such as desalination, solves every access problem.</a:t>
            </a:r>
          </a:p>
          <a:p xmlns:a="http://schemas.openxmlformats.org/drawingml/2006/main">
            <a:r>
              <a:t>Visual: original authored diagram module-01-section-2.svg. Purpose: Prompt students to locate and explain possible barriers along an example food journey. Exception: A route diagram makes the position and multiple possible interruption points explicit; a photo cannot show this abstract pathway.</a:t>
            </a:r>
          </a:p>
          <a:p xmlns:a="http://schemas.openxmlformats.org/drawingml/2006/main">
            <a:r>
              <a:t>Sources: https://classroom.google.com/w/ODQxODU0NzM4OTcw/t/all ; https://www.nsw.gov.au/education-and-training/nesa/curriculum/tas/food-technology-7-10-2019 ; https://www.aihw.gov.au/reports/australias-health/social-determinants-of-health ; https://www.who.int/news-room/fact-sheets/detail/drinking-water ; https://www.who.int/publications/i/item/WHO-HSE-WSH-11.03</a:t>
            </a:r>
          </a:p>
          <a:p xmlns:a="http://schemas.openxmlformats.org/drawingml/2006/main">
            <a:r>
              <a:t>Practical, recipe and assessment directions are controlled by the teacher and live Classroom posts.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area: Investigate and respond.</a:t>
            </a:r>
          </a:p>
          <a:p xmlns:a="http://schemas.openxmlformats.org/drawingml/2006/main">
            <a:r>
              <a:t>Talking points: Begin with a focused question. Check the source, date and scale of each piece of evidence. Separate what a map or price shows from what you infer about people. Match the response to the barrier, then review who benefits.</a:t>
            </a:r>
          </a:p>
          <a:p xmlns:a="http://schemas.openxmlformats.org/drawingml/2006/main">
            <a:r>
              <a:t>Worked example from the approved source: A map shows a supermarket 2 km away. Before calling it accessible, investigate the route, transport, opening hours, total cost and whether suitable food is consistently stocked.</a:t>
            </a:r>
          </a:p>
          <a:p xmlns:a="http://schemas.openxmlformats.org/drawingml/2006/main">
            <a:r>
              <a:t>Ask: What would show whether a new shop improved real access?</a:t>
            </a:r>
          </a:p>
          <a:p xmlns:a="http://schemas.openxmlformats.org/drawingml/2006/main">
            <a:r>
              <a:t>Likely misconception: A nearby shop proves everyone can reach suitable food.</a:t>
            </a:r>
          </a:p>
          <a:p xmlns:a="http://schemas.openxmlformats.org/drawingml/2006/main">
            <a:r>
              <a:t>Visual: original authored diagram module-01-section-3.svg. Purpose: Give students a reusable evidence path for investigating a food equity issue and proposing a response. Exception: The spatial feedback loop makes revision visible; a static photograph cannot express the inquiry sequence clearly.</a:t>
            </a:r>
          </a:p>
          <a:p xmlns:a="http://schemas.openxmlformats.org/drawingml/2006/main">
            <a:r>
              <a:t>Sources: https://classroom.google.com/w/ODQxODU0NzM4OTcw/t/all ; https://www.nsw.gov.au/education-and-training/nesa/curriculum/tas/food-technology-7-10-2019 ; https://www.aihw.gov.au/reports/australias-health/social-determinants-of-health ; https://www.who.int/news-room/fact-sheets/detail/drinking-water</a:t>
            </a:r>
          </a:p>
          <a:p xmlns:a="http://schemas.openxmlformats.org/drawingml/2006/main">
            <a:r>
              <a:t>Practical, recipe and assessment directions are controlled by the teacher and live Classroom posts.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retrieval before showing or discussing answers. Invite a short explanation, not just a keyword.</a:t>
            </a:r>
          </a:p>
          <a:p xmlns:a="http://schemas.openxmlformats.org/drawingml/2006/main">
            <a:r>
              <a:t>Question prompts: What is the difference between availability and access? | Name one cost beyond the shelf price. | Why does safe water belong in a food access discussion? | What can a map show, and what must you still check?</a:t>
            </a:r>
          </a:p>
          <a:p xmlns:a="http://schemas.openxmlformats.org/drawingml/2006/main">
            <a:r>
              <a:t>If an answer depends on a local recipe, due date or practical procedure, return to the source boundary and check the teacher's current Classroom instructions.</a:t>
            </a:r>
          </a:p>
          <a:p xmlns:a="http://schemas.openxmlformats.org/drawingml/2006/main">
            <a:r>
              <a:t>Source: year-10-food-technology-2026-source-map-v1.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 a short written response. Ask students to use course theory and state limits.</a:t>
            </a:r>
          </a:p>
          <a:p xmlns:a="http://schemas.openxmlformats.org/drawingml/2006/main">
            <a:r>
              <a:t>Prompt: A new shop opens in a community. Evaluate whether it improves access for the people it intends to serve.</a:t>
            </a:r>
          </a:p>
          <a:p xmlns:a="http://schemas.openxmlformats.org/drawingml/2006/main">
            <a:r>
              <a:t>Scaffold: Read the claim and identify who it concerns. / Select evidence about total cost, travel, suitability and reliable supply. / Explain one likely benefit and one limit. / Check what remains uncertain and choose an indicator for review.</a:t>
            </a:r>
          </a:p>
          <a:p xmlns:a="http://schemas.openxmlformats.org/drawingml/2006/main">
            <a:r>
              <a:t>Model one sentence only; leave the judgement to students.</a:t>
            </a:r>
          </a:p>
          <a:p xmlns:a="http://schemas.openxmlformats.org/drawingml/2006/main">
            <a:r>
              <a:t>Source: matching section theory in this module and https://www.nsw.gov.au/education-and-training/nesa/curriculum/tas/food-technology-7-10-2019.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ticket: One condition that shapes access; One piece of evidence I would collect; One limitation I would state.</a:t>
            </a:r>
          </a:p>
          <a:p xmlns:a="http://schemas.openxmlformats.org/drawingml/2006/main">
            <a:r>
              <a:t>Evidence destination: the module learning packages on the local course site. These save on this device; My folio provides an export backup. Google Classroom remains the authority for any live teacher task, due date or submission.</a:t>
            </a:r>
          </a:p>
          <a:p xmlns:a="http://schemas.openxmlformats.org/drawingml/2006/main">
            <a:r>
              <a:t>Transition: Ask students to identify the next evidence gap before moving to the following module.</a:t>
            </a:r>
          </a:p>
          <a:p xmlns:a="http://schemas.openxmlformats.org/drawingml/2006/main">
            <a:r>
              <a:t>Source boundary: year-10-food-technology-2026-source-map-v1.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20ba7ada9447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b74116298b48f6" /><Relationship Type="http://schemas.openxmlformats.org/officeDocument/2006/relationships/slideLayout" Target="/ppt/slideLayouts/slideLayout1.xml" Id="R8d29c16d93644d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29c16d93644d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10e2f4ddda4b34" /><Relationship Type="http://schemas.openxmlformats.org/officeDocument/2006/relationships/image" Target="/ppt/media/image.jpeg" Id="Ra6948ea0726b4f11" /><Relationship Type="http://schemas.openxmlformats.org/officeDocument/2006/relationships/notesSlide" Target="/ppt/notesSlides/notesSlide1.xml" Id="R760813e565c147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da5f1ecf0a4ddb" /><Relationship Type="http://schemas.openxmlformats.org/officeDocument/2006/relationships/notesSlide" Target="/ppt/notesSlides/notesSlide2.xml" Id="Re0303ee77e0d42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ce50966a6c4e39" /><Relationship Type="http://schemas.openxmlformats.org/officeDocument/2006/relationships/image" Target="/ppt/media/image.png" Id="R38ec5e2df1b54e10" /><Relationship Type="http://schemas.openxmlformats.org/officeDocument/2006/relationships/notesSlide" Target="/ppt/notesSlides/notesSlide3.xml" Id="R036be4d4a94942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a90abdd4984f3b" /><Relationship Type="http://schemas.openxmlformats.org/officeDocument/2006/relationships/image" Target="/ppt/media/image2.png" Id="R8e13aff9af0b42a0" /><Relationship Type="http://schemas.openxmlformats.org/officeDocument/2006/relationships/notesSlide" Target="/ppt/notesSlides/notesSlide4.xml" Id="R3c24f54d105c45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02b8361fad4a8b" /><Relationship Type="http://schemas.openxmlformats.org/officeDocument/2006/relationships/image" Target="/ppt/media/image3.png" Id="Re129e3d0b7854026" /><Relationship Type="http://schemas.openxmlformats.org/officeDocument/2006/relationships/notesSlide" Target="/ppt/notesSlides/notesSlide5.xml" Id="R143797ffd9244a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fcd85e70fb44b0" /><Relationship Type="http://schemas.openxmlformats.org/officeDocument/2006/relationships/notesSlide" Target="/ppt/notesSlides/notesSlide6.xml" Id="R1be022629b4744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d053d75b194a4b" /><Relationship Type="http://schemas.openxmlformats.org/officeDocument/2006/relationships/notesSlide" Target="/ppt/notesSlides/notesSlide7.xml" Id="R5db00cd938df45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aa6523f08d4ee0" /><Relationship Type="http://schemas.openxmlformats.org/officeDocument/2006/relationships/notesSlide" Target="/ppt/notesSlides/notesSlide8.xml" Id="Rdc9e37fd554e4e97" /></Relationships>
</file>

<file path=ppt/slides/slide1.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6948ea0726b4f11"/>
          <a:srcRect xmlns:a="http://schemas.openxmlformats.org/drawingml/2006/main" l="23111" t="0" r="23111" b="0"/>
          <a:stretch xmlns:a="http://schemas.openxmlformats.org/drawingml/2006/main">
            <a:fillRect l="0" t="0" r="0" b="0"/>
          </a:stretch>
        </p:blipFill>
        <p:spPr>
          <a:xfrm xmlns:a="http://schemas.openxmlformats.org/drawingml/2006/main">
            <a:off x="5638800" y="0"/>
            <a:ext cx="65532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766B6BB-912D-42FA-8F37-7F8E307E14B1}"/>
              </a:ext>
            </a:extLst>
          </p:cNvPr>
          <p:cNvSpPr>
            <a:spLocks xmlns:a="http://schemas.openxmlformats.org/drawingml/2006/main" noGrp="1"/>
          </p:cNvSpPr>
          <p:nvPr/>
        </p:nvSpPr>
        <p:spPr>
          <a:xfrm xmlns:a="http://schemas.openxmlformats.org/drawingml/2006/main">
            <a:off x="0" y="0"/>
            <a:ext cx="5829300" cy="6858000"/>
          </a:xfrm>
          <a:prstGeom xmlns:a="http://schemas.openxmlformats.org/drawingml/2006/main" prst="rect">
            <a:avLst/>
          </a:prstGeom>
          <a:solidFill xmlns:a="http://schemas.openxmlformats.org/drawingml/2006/main">
            <a:srgbClr val="F7F3E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355B2E-8400-47B6-B6F5-A78CDA1D4BFF}"/>
              </a:ext>
            </a:extLst>
          </p:cNvPr>
          <p:cNvSpPr>
            <a:spLocks xmlns:a="http://schemas.openxmlformats.org/drawingml/2006/main" noGrp="1"/>
          </p:cNvSpPr>
          <p:nvPr/>
        </p:nvSpPr>
        <p:spPr>
          <a:xfrm xmlns:a="http://schemas.openxmlformats.org/drawingml/2006/main">
            <a:off x="609600" y="885825"/>
            <a:ext cx="819150" cy="66675"/>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59178E-BB1D-4712-819F-015A707477C7}"/>
              </a:ext>
            </a:extLst>
          </p:cNvPr>
          <p:cNvSpPr>
            <a:spLocks xmlns:a="http://schemas.openxmlformats.org/drawingml/2006/main" noGrp="1"/>
          </p:cNvSpPr>
          <p:nvPr/>
        </p:nvSpPr>
        <p:spPr>
          <a:xfrm xmlns:a="http://schemas.openxmlformats.org/drawingml/2006/main">
            <a:off x="609600" y="11620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36A54"/>
                </a:solidFill>
                <a:latin typeface="Arial"/>
                <a:ea typeface="Arial"/>
                <a:cs typeface="Arial"/>
              </a:defRPr>
            </a:pPr>
            <a:r>
              <a:rPr sz="1575" b="1">
                <a:solidFill>
                  <a:srgbClr val="236A54"/>
                </a:solidFill>
                <a:latin typeface="Arial"/>
                <a:ea typeface="Arial"/>
                <a:cs typeface="Arial"/>
              </a:rPr>
              <a:t>TERM 1  ·  MODULE 1</a:t>
            </a:r>
          </a:p>
        </p:txBody>
      </p:sp>
      <p:sp>
        <p:nvSpPr>
          <p:cNvPr id="5" name="">
            <a:extLst xmlns:a="http://schemas.openxmlformats.org/drawingml/2006/main">
              <a:ext uri="{FF2B5EF4-FFF2-40B4-BE49-F238E27FC236}">
                <a16:creationId xmlns:a16="http://schemas.microsoft.com/office/drawing/2014/main" id="{178EED27-6473-4C01-95AF-5C626A10D194}"/>
              </a:ext>
            </a:extLst>
          </p:cNvPr>
          <p:cNvSpPr>
            <a:spLocks xmlns:a="http://schemas.openxmlformats.org/drawingml/2006/main" noGrp="1"/>
          </p:cNvSpPr>
          <p:nvPr/>
        </p:nvSpPr>
        <p:spPr>
          <a:xfrm xmlns:a="http://schemas.openxmlformats.org/drawingml/2006/main">
            <a:off x="609600" y="1857375"/>
            <a:ext cx="4810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372F"/>
                </a:solidFill>
                <a:latin typeface="Arial"/>
                <a:ea typeface="Arial"/>
                <a:cs typeface="Arial"/>
              </a:defRPr>
            </a:pPr>
            <a:r>
              <a:rPr sz="4350" b="1">
                <a:solidFill>
                  <a:srgbClr val="17372F"/>
                </a:solidFill>
                <a:latin typeface="Arial"/>
                <a:ea typeface="Arial"/>
                <a:cs typeface="Arial"/>
              </a:rPr>
              <a:t>Food Equity</a:t>
            </a:r>
          </a:p>
        </p:txBody>
      </p:sp>
      <p:sp>
        <p:nvSpPr>
          <p:cNvPr id="6" name="">
            <a:extLst xmlns:a="http://schemas.openxmlformats.org/drawingml/2006/main">
              <a:ext uri="{FF2B5EF4-FFF2-40B4-BE49-F238E27FC236}">
                <a16:creationId xmlns:a16="http://schemas.microsoft.com/office/drawing/2014/main" id="{3824685D-EBE3-4FB8-AD62-EC66EB5DB76D}"/>
              </a:ext>
            </a:extLst>
          </p:cNvPr>
          <p:cNvSpPr>
            <a:spLocks xmlns:a="http://schemas.openxmlformats.org/drawingml/2006/main" noGrp="1"/>
          </p:cNvSpPr>
          <p:nvPr/>
        </p:nvSpPr>
        <p:spPr>
          <a:xfrm xmlns:a="http://schemas.openxmlformats.org/drawingml/2006/main">
            <a:off x="609600" y="4114800"/>
            <a:ext cx="4714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72F"/>
                </a:solidFill>
                <a:latin typeface="Arial"/>
                <a:ea typeface="Arial"/>
                <a:cs typeface="Arial"/>
              </a:defRPr>
            </a:pPr>
            <a:r>
              <a:rPr sz="2250" b="0">
                <a:solidFill>
                  <a:srgbClr val="17372F"/>
                </a:solidFill>
                <a:latin typeface="Arial"/>
                <a:ea typeface="Arial"/>
                <a:cs typeface="Arial"/>
              </a:rPr>
              <a:t>Judge whether people can reliably obtain food and safe water that suit their needs.</a:t>
            </a:r>
          </a:p>
        </p:txBody>
      </p:sp>
      <p:sp>
        <p:nvSpPr>
          <p:cNvPr id="7" name="">
            <a:extLst xmlns:a="http://schemas.openxmlformats.org/drawingml/2006/main">
              <a:ext uri="{FF2B5EF4-FFF2-40B4-BE49-F238E27FC236}">
                <a16:creationId xmlns:a16="http://schemas.microsoft.com/office/drawing/2014/main" id="{B57A09D6-22C8-452E-AB9C-86289B5AED15}"/>
              </a:ext>
            </a:extLst>
          </p:cNvPr>
          <p:cNvSpPr>
            <a:spLocks xmlns:a="http://schemas.openxmlformats.org/drawingml/2006/main" noGrp="1"/>
          </p:cNvSpPr>
          <p:nvPr/>
        </p:nvSpPr>
        <p:spPr>
          <a:xfrm xmlns:a="http://schemas.openxmlformats.org/drawingml/2006/main">
            <a:off x="609600" y="62865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4E6259"/>
                </a:solidFill>
                <a:latin typeface="Arial"/>
                <a:ea typeface="Arial"/>
                <a:cs typeface="Arial"/>
              </a:defRPr>
            </a:pPr>
            <a:r>
              <a:rPr sz="1200" b="1">
                <a:solidFill>
                  <a:srgbClr val="4E6259"/>
                </a:solidFill>
                <a:latin typeface="Arial"/>
                <a:ea typeface="Arial"/>
                <a:cs typeface="Arial"/>
              </a:rPr>
              <a:t>YEAR 10 FOOD TECHNOLOGY  ·  2026</a:t>
            </a:r>
          </a:p>
        </p:txBody>
      </p:sp>
    </p:spTree>
    <p:extLst>
      <p:ext uri="{BB962C8B-B14F-4D97-AF65-F5344CB8AC3E}">
        <p14:creationId xmlns:p14="http://schemas.microsoft.com/office/powerpoint/2010/main" val="1758858731"/>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D559064-E8E8-40A0-A9E1-7B5764351849}"/>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8413BE-4F79-4D3F-A5EB-49E640BA7336}"/>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EQUITY</a:t>
            </a:r>
          </a:p>
        </p:txBody>
      </p:sp>
      <p:sp>
        <p:nvSpPr>
          <p:cNvPr id="3" name="">
            <a:extLst xmlns:a="http://schemas.openxmlformats.org/drawingml/2006/main">
              <a:ext uri="{FF2B5EF4-FFF2-40B4-BE49-F238E27FC236}">
                <a16:creationId xmlns:a16="http://schemas.microsoft.com/office/drawing/2014/main" id="{B3FC3BE1-231C-46BB-88E7-7E73FDA21445}"/>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02 / 08</a:t>
            </a:r>
          </a:p>
        </p:txBody>
      </p:sp>
      <p:sp>
        <p:nvSpPr>
          <p:cNvPr id="4" name="">
            <a:extLst xmlns:a="http://schemas.openxmlformats.org/drawingml/2006/main">
              <a:ext uri="{FF2B5EF4-FFF2-40B4-BE49-F238E27FC236}">
                <a16:creationId xmlns:a16="http://schemas.microsoft.com/office/drawing/2014/main" id="{B6D68589-84CC-4745-A404-577BBAE11153}"/>
              </a:ext>
            </a:extLst>
          </p:cNvPr>
          <p:cNvSpPr>
            <a:spLocks xmlns:a="http://schemas.openxmlformats.org/drawingml/2006/main" noGrp="1"/>
          </p:cNvSpPr>
          <p:nvPr/>
        </p:nvSpPr>
        <p:spPr>
          <a:xfrm xmlns:a="http://schemas.openxmlformats.org/drawingml/2006/main">
            <a:off x="609600" y="628650"/>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72F"/>
                </a:solidFill>
                <a:latin typeface="Arial"/>
                <a:ea typeface="Arial"/>
                <a:cs typeface="Arial"/>
              </a:defRPr>
            </a:pPr>
            <a:r>
              <a:rPr sz="3600" b="1">
                <a:solidFill>
                  <a:srgbClr val="17372F"/>
                </a:solidFill>
                <a:latin typeface="Arial"/>
                <a:ea typeface="Arial"/>
                <a:cs typeface="Arial"/>
              </a:rPr>
              <a:t>The learning path</a:t>
            </a:r>
          </a:p>
        </p:txBody>
      </p:sp>
      <p:sp>
        <p:nvSpPr>
          <p:cNvPr id="5" name="">
            <a:extLst xmlns:a="http://schemas.openxmlformats.org/drawingml/2006/main">
              <a:ext uri="{FF2B5EF4-FFF2-40B4-BE49-F238E27FC236}">
                <a16:creationId xmlns:a16="http://schemas.microsoft.com/office/drawing/2014/main" id="{10CD287C-A502-4BF7-9911-022B4AC822E4}"/>
              </a:ext>
            </a:extLst>
          </p:cNvPr>
          <p:cNvSpPr>
            <a:spLocks xmlns:a="http://schemas.openxmlformats.org/drawingml/2006/main" noGrp="1"/>
          </p:cNvSpPr>
          <p:nvPr/>
        </p:nvSpPr>
        <p:spPr>
          <a:xfrm xmlns:a="http://schemas.openxmlformats.org/drawingml/2006/main">
            <a:off x="609600" y="1495425"/>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DFBFED-4E11-462C-B596-D0DABB22AD48}"/>
              </a:ext>
            </a:extLst>
          </p:cNvPr>
          <p:cNvSpPr>
            <a:spLocks xmlns:a="http://schemas.openxmlformats.org/drawingml/2006/main" noGrp="1"/>
          </p:cNvSpPr>
          <p:nvPr/>
        </p:nvSpPr>
        <p:spPr>
          <a:xfrm xmlns:a="http://schemas.openxmlformats.org/drawingml/2006/main">
            <a:off x="647700" y="1809750"/>
            <a:ext cx="78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D623E"/>
                </a:solidFill>
                <a:latin typeface="Arial"/>
                <a:ea typeface="Arial"/>
                <a:cs typeface="Arial"/>
              </a:defRPr>
            </a:pPr>
            <a:r>
              <a:rPr sz="3675" b="1">
                <a:solidFill>
                  <a:srgbClr val="BD623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4247694-B85F-493C-95F9-1F6B2D93AD46}"/>
              </a:ext>
            </a:extLst>
          </p:cNvPr>
          <p:cNvSpPr>
            <a:spLocks xmlns:a="http://schemas.openxmlformats.org/drawingml/2006/main" noGrp="1"/>
          </p:cNvSpPr>
          <p:nvPr/>
        </p:nvSpPr>
        <p:spPr>
          <a:xfrm xmlns:a="http://schemas.openxmlformats.org/drawingml/2006/main">
            <a:off x="1619250" y="1857375"/>
            <a:ext cx="881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Arial"/>
                <a:ea typeface="Arial"/>
                <a:cs typeface="Arial"/>
              </a:defRPr>
            </a:pPr>
            <a:r>
              <a:rPr sz="2625" b="1">
                <a:solidFill>
                  <a:srgbClr val="17372F"/>
                </a:solidFill>
                <a:latin typeface="Arial"/>
                <a:ea typeface="Arial"/>
                <a:cs typeface="Arial"/>
              </a:rPr>
              <a:t>What food equity means</a:t>
            </a:r>
          </a:p>
        </p:txBody>
      </p:sp>
      <p:sp>
        <p:nvSpPr>
          <p:cNvPr id="8" name="">
            <a:extLst xmlns:a="http://schemas.openxmlformats.org/drawingml/2006/main">
              <a:ext uri="{FF2B5EF4-FFF2-40B4-BE49-F238E27FC236}">
                <a16:creationId xmlns:a16="http://schemas.microsoft.com/office/drawing/2014/main" id="{8459D791-BDE0-4E04-B00A-F21C458143EB}"/>
              </a:ext>
            </a:extLst>
          </p:cNvPr>
          <p:cNvSpPr>
            <a:spLocks xmlns:a="http://schemas.openxmlformats.org/drawingml/2006/main" noGrp="1"/>
          </p:cNvSpPr>
          <p:nvPr/>
        </p:nvSpPr>
        <p:spPr>
          <a:xfrm xmlns:a="http://schemas.openxmlformats.org/drawingml/2006/main">
            <a:off x="647700" y="2933700"/>
            <a:ext cx="78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D623E"/>
                </a:solidFill>
                <a:latin typeface="Arial"/>
                <a:ea typeface="Arial"/>
                <a:cs typeface="Arial"/>
              </a:defRPr>
            </a:pPr>
            <a:r>
              <a:rPr sz="3675" b="1">
                <a:solidFill>
                  <a:srgbClr val="BD623E"/>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4CD0891-E1DA-4039-B221-4C83AED43A2E}"/>
              </a:ext>
            </a:extLst>
          </p:cNvPr>
          <p:cNvSpPr>
            <a:spLocks xmlns:a="http://schemas.openxmlformats.org/drawingml/2006/main" noGrp="1"/>
          </p:cNvSpPr>
          <p:nvPr/>
        </p:nvSpPr>
        <p:spPr>
          <a:xfrm xmlns:a="http://schemas.openxmlformats.org/drawingml/2006/main">
            <a:off x="1619250" y="2981325"/>
            <a:ext cx="881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Arial"/>
                <a:ea typeface="Arial"/>
                <a:cs typeface="Arial"/>
              </a:defRPr>
            </a:pPr>
            <a:r>
              <a:rPr sz="2625" b="1">
                <a:solidFill>
                  <a:srgbClr val="17372F"/>
                </a:solidFill>
                <a:latin typeface="Arial"/>
                <a:ea typeface="Arial"/>
                <a:cs typeface="Arial"/>
              </a:rPr>
              <a:t>Barriers to food and water</a:t>
            </a:r>
          </a:p>
        </p:txBody>
      </p:sp>
      <p:sp>
        <p:nvSpPr>
          <p:cNvPr id="10" name="">
            <a:extLst xmlns:a="http://schemas.openxmlformats.org/drawingml/2006/main">
              <a:ext uri="{FF2B5EF4-FFF2-40B4-BE49-F238E27FC236}">
                <a16:creationId xmlns:a16="http://schemas.microsoft.com/office/drawing/2014/main" id="{00667691-5359-4389-BC6C-5C1BDA67592F}"/>
              </a:ext>
            </a:extLst>
          </p:cNvPr>
          <p:cNvSpPr>
            <a:spLocks xmlns:a="http://schemas.openxmlformats.org/drawingml/2006/main" noGrp="1"/>
          </p:cNvSpPr>
          <p:nvPr/>
        </p:nvSpPr>
        <p:spPr>
          <a:xfrm xmlns:a="http://schemas.openxmlformats.org/drawingml/2006/main">
            <a:off x="647700" y="4057650"/>
            <a:ext cx="78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D623E"/>
                </a:solidFill>
                <a:latin typeface="Arial"/>
                <a:ea typeface="Arial"/>
                <a:cs typeface="Arial"/>
              </a:defRPr>
            </a:pPr>
            <a:r>
              <a:rPr sz="3675" b="1">
                <a:solidFill>
                  <a:srgbClr val="BD623E"/>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6249C87-821E-4FE8-9657-2844556B3763}"/>
              </a:ext>
            </a:extLst>
          </p:cNvPr>
          <p:cNvSpPr>
            <a:spLocks xmlns:a="http://schemas.openxmlformats.org/drawingml/2006/main" noGrp="1"/>
          </p:cNvSpPr>
          <p:nvPr/>
        </p:nvSpPr>
        <p:spPr>
          <a:xfrm xmlns:a="http://schemas.openxmlformats.org/drawingml/2006/main">
            <a:off x="1619250" y="4105275"/>
            <a:ext cx="881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Arial"/>
                <a:ea typeface="Arial"/>
                <a:cs typeface="Arial"/>
              </a:defRPr>
            </a:pPr>
            <a:r>
              <a:rPr sz="2625" b="1">
                <a:solidFill>
                  <a:srgbClr val="17372F"/>
                </a:solidFill>
                <a:latin typeface="Arial"/>
                <a:ea typeface="Arial"/>
                <a:cs typeface="Arial"/>
              </a:rPr>
              <a:t>Investigate and respond</a:t>
            </a:r>
          </a:p>
        </p:txBody>
      </p:sp>
      <p:sp>
        <p:nvSpPr>
          <p:cNvPr id="12" name="">
            <a:extLst xmlns:a="http://schemas.openxmlformats.org/drawingml/2006/main">
              <a:ext uri="{FF2B5EF4-FFF2-40B4-BE49-F238E27FC236}">
                <a16:creationId xmlns:a16="http://schemas.microsoft.com/office/drawing/2014/main" id="{2E42D157-6F25-4F50-B771-952EA2B5F8E8}"/>
              </a:ext>
            </a:extLst>
          </p:cNvPr>
          <p:cNvSpPr>
            <a:spLocks xmlns:a="http://schemas.openxmlformats.org/drawingml/2006/main" noGrp="1"/>
          </p:cNvSpPr>
          <p:nvPr/>
        </p:nvSpPr>
        <p:spPr>
          <a:xfrm xmlns:a="http://schemas.openxmlformats.org/drawingml/2006/main">
            <a:off x="647700" y="5381625"/>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BEFORE WE BEGIN</a:t>
            </a:r>
          </a:p>
        </p:txBody>
      </p:sp>
      <p:sp>
        <p:nvSpPr>
          <p:cNvPr id="13" name="">
            <a:extLst xmlns:a="http://schemas.openxmlformats.org/drawingml/2006/main">
              <a:ext uri="{FF2B5EF4-FFF2-40B4-BE49-F238E27FC236}">
                <a16:creationId xmlns:a16="http://schemas.microsoft.com/office/drawing/2014/main" id="{B79F7D24-DAF9-4FCF-9E62-7CF3C352C6CF}"/>
              </a:ext>
            </a:extLst>
          </p:cNvPr>
          <p:cNvSpPr>
            <a:spLocks xmlns:a="http://schemas.openxmlformats.org/drawingml/2006/main" noGrp="1"/>
          </p:cNvSpPr>
          <p:nvPr/>
        </p:nvSpPr>
        <p:spPr>
          <a:xfrm xmlns:a="http://schemas.openxmlformats.org/drawingml/2006/main">
            <a:off x="647700" y="57150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Arial"/>
                <a:ea typeface="Arial"/>
                <a:cs typeface="Arial"/>
              </a:defRPr>
            </a:pPr>
            <a:r>
              <a:rPr sz="2100" b="0">
                <a:solidFill>
                  <a:srgbClr val="17372F"/>
                </a:solidFill>
                <a:latin typeface="Arial"/>
                <a:ea typeface="Arial"/>
                <a:cs typeface="Arial"/>
              </a:rPr>
              <a:t>A shop has food on its shelves. Does that prove everyone nearby can use it?</a:t>
            </a:r>
          </a:p>
        </p:txBody>
      </p:sp>
    </p:spTree>
    <p:extLst>
      <p:ext uri="{BB962C8B-B14F-4D97-AF65-F5344CB8AC3E}">
        <p14:creationId xmlns:p14="http://schemas.microsoft.com/office/powerpoint/2010/main" val="438516200"/>
      </p:ext>
    </p:extLst>
  </p:cSld>
</p:sld>
</file>

<file path=ppt/slides/slide3.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151262-7524-43F0-B5BD-D8EB476E3E59}"/>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2390AE-E984-4F16-84AB-B65855E0E6CD}"/>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EQUITY</a:t>
            </a:r>
          </a:p>
        </p:txBody>
      </p:sp>
      <p:sp>
        <p:nvSpPr>
          <p:cNvPr id="3" name="">
            <a:extLst xmlns:a="http://schemas.openxmlformats.org/drawingml/2006/main">
              <a:ext uri="{FF2B5EF4-FFF2-40B4-BE49-F238E27FC236}">
                <a16:creationId xmlns:a16="http://schemas.microsoft.com/office/drawing/2014/main" id="{C00B9929-1BF7-400B-8FF7-90AD0336FFCD}"/>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03 / 08</a:t>
            </a:r>
          </a:p>
        </p:txBody>
      </p:sp>
      <p:sp>
        <p:nvSpPr>
          <p:cNvPr id="4" name="">
            <a:extLst xmlns:a="http://schemas.openxmlformats.org/drawingml/2006/main">
              <a:ext uri="{FF2B5EF4-FFF2-40B4-BE49-F238E27FC236}">
                <a16:creationId xmlns:a16="http://schemas.microsoft.com/office/drawing/2014/main" id="{52DE9696-A79B-4595-ADDE-65D32DEBA619}"/>
              </a:ext>
            </a:extLst>
          </p:cNvPr>
          <p:cNvSpPr>
            <a:spLocks xmlns:a="http://schemas.openxmlformats.org/drawingml/2006/main" noGrp="1"/>
          </p:cNvSpPr>
          <p:nvPr/>
        </p:nvSpPr>
        <p:spPr>
          <a:xfrm xmlns:a="http://schemas.openxmlformats.org/drawingml/2006/main">
            <a:off x="609600" y="37147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SECTION 1.1  ·  WHAT FOOD EQUITY MEANS</a:t>
            </a:r>
          </a:p>
        </p:txBody>
      </p:sp>
      <p:sp>
        <p:nvSpPr>
          <p:cNvPr id="5" name="">
            <a:extLst xmlns:a="http://schemas.openxmlformats.org/drawingml/2006/main">
              <a:ext uri="{FF2B5EF4-FFF2-40B4-BE49-F238E27FC236}">
                <a16:creationId xmlns:a16="http://schemas.microsoft.com/office/drawing/2014/main" id="{1DC9AD4E-1413-4E85-9604-6699C5C75B0A}"/>
              </a:ext>
            </a:extLst>
          </p:cNvPr>
          <p:cNvSpPr>
            <a:spLocks xmlns:a="http://schemas.openxmlformats.org/drawingml/2006/main" noGrp="1"/>
          </p:cNvSpPr>
          <p:nvPr/>
        </p:nvSpPr>
        <p:spPr>
          <a:xfrm xmlns:a="http://schemas.openxmlformats.org/drawingml/2006/main">
            <a:off x="609600" y="752475"/>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72F"/>
                </a:solidFill>
                <a:latin typeface="Arial"/>
                <a:ea typeface="Arial"/>
                <a:cs typeface="Arial"/>
              </a:defRPr>
            </a:pPr>
            <a:r>
              <a:rPr sz="3225" b="1">
                <a:solidFill>
                  <a:srgbClr val="17372F"/>
                </a:solidFill>
                <a:latin typeface="Arial"/>
                <a:ea typeface="Arial"/>
                <a:cs typeface="Arial"/>
              </a:rPr>
              <a:t>A stocked shelf does not prove access</a:t>
            </a:r>
          </a:p>
        </p:txBody>
      </p:sp>
      <p:sp>
        <p:nvSpPr>
          <p:cNvPr id="6" name="">
            <a:extLst xmlns:a="http://schemas.openxmlformats.org/drawingml/2006/main">
              <a:ext uri="{FF2B5EF4-FFF2-40B4-BE49-F238E27FC236}">
                <a16:creationId xmlns:a16="http://schemas.microsoft.com/office/drawing/2014/main" id="{6DA9EA4A-BC74-4762-9152-A93A5234DBB3}"/>
              </a:ext>
            </a:extLst>
          </p:cNvPr>
          <p:cNvSpPr>
            <a:spLocks xmlns:a="http://schemas.openxmlformats.org/drawingml/2006/main" noGrp="1"/>
          </p:cNvSpPr>
          <p:nvPr/>
        </p:nvSpPr>
        <p:spPr>
          <a:xfrm xmlns:a="http://schemas.openxmlformats.org/drawingml/2006/main">
            <a:off x="609600" y="140970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8ec5e2df1b54e10"/>
          <a:stretch xmlns:a="http://schemas.openxmlformats.org/drawingml/2006/main"/>
        </p:blipFill>
        <p:spPr>
          <a:xfrm xmlns:a="http://schemas.openxmlformats.org/drawingml/2006/main">
            <a:off x="4572000" y="1571625"/>
            <a:ext cx="6953250" cy="4171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5C42E66-C0B3-4CFF-9090-8991997ACDC7}"/>
              </a:ext>
            </a:extLst>
          </p:cNvPr>
          <p:cNvSpPr>
            <a:spLocks xmlns:a="http://schemas.openxmlformats.org/drawingml/2006/main" noGrp="1"/>
          </p:cNvSpPr>
          <p:nvPr/>
        </p:nvSpPr>
        <p:spPr>
          <a:xfrm xmlns:a="http://schemas.openxmlformats.org/drawingml/2006/main">
            <a:off x="609600" y="1724025"/>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Availability means food is there. Access asks whether someone can obtain and use it. Price, travel, time, storage and suitability can change the answer. Two households near one shop can face very different choices.</a:t>
            </a:r>
          </a:p>
        </p:txBody>
      </p:sp>
      <p:sp>
        <p:nvSpPr>
          <p:cNvPr id="9" name="">
            <a:extLst xmlns:a="http://schemas.openxmlformats.org/drawingml/2006/main">
              <a:ext uri="{FF2B5EF4-FFF2-40B4-BE49-F238E27FC236}">
                <a16:creationId xmlns:a16="http://schemas.microsoft.com/office/drawing/2014/main" id="{3EFBD0EF-D4FE-4270-AC9D-93129B6D03D2}"/>
              </a:ext>
            </a:extLst>
          </p:cNvPr>
          <p:cNvSpPr>
            <a:spLocks xmlns:a="http://schemas.openxmlformats.org/drawingml/2006/main" noGrp="1"/>
          </p:cNvSpPr>
          <p:nvPr/>
        </p:nvSpPr>
        <p:spPr>
          <a:xfrm xmlns:a="http://schemas.openxmlformats.org/drawingml/2006/main">
            <a:off x="609600" y="4953000"/>
            <a:ext cx="3333750" cy="19050"/>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CABA243-937E-474D-BCF7-E9AE934B6ACF}"/>
              </a:ext>
            </a:extLst>
          </p:cNvPr>
          <p:cNvSpPr>
            <a:spLocks xmlns:a="http://schemas.openxmlformats.org/drawingml/2006/main" noGrp="1"/>
          </p:cNvSpPr>
          <p:nvPr/>
        </p:nvSpPr>
        <p:spPr>
          <a:xfrm xmlns:a="http://schemas.openxmlformats.org/drawingml/2006/main">
            <a:off x="609600" y="51435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36A54"/>
                </a:solidFill>
                <a:latin typeface="Arial"/>
                <a:ea typeface="Arial"/>
                <a:cs typeface="Arial"/>
              </a:defRPr>
            </a:pPr>
            <a:r>
              <a:rPr sz="1275" b="1">
                <a:solidFill>
                  <a:srgbClr val="236A54"/>
                </a:solidFill>
                <a:latin typeface="Arial"/>
                <a:ea typeface="Arial"/>
                <a:cs typeface="Arial"/>
              </a:rPr>
              <a:t>DISCUSS</a:t>
            </a:r>
          </a:p>
        </p:txBody>
      </p:sp>
      <p:sp>
        <p:nvSpPr>
          <p:cNvPr id="11" name="">
            <a:extLst xmlns:a="http://schemas.openxmlformats.org/drawingml/2006/main">
              <a:ext uri="{FF2B5EF4-FFF2-40B4-BE49-F238E27FC236}">
                <a16:creationId xmlns:a16="http://schemas.microsoft.com/office/drawing/2014/main" id="{25FFB65E-24BF-4808-9225-E1613D7CCC7E}"/>
              </a:ext>
            </a:extLst>
          </p:cNvPr>
          <p:cNvSpPr>
            <a:spLocks xmlns:a="http://schemas.openxmlformats.org/drawingml/2006/main" noGrp="1"/>
          </p:cNvSpPr>
          <p:nvPr/>
        </p:nvSpPr>
        <p:spPr>
          <a:xfrm xmlns:a="http://schemas.openxmlformats.org/drawingml/2006/main">
            <a:off x="609600" y="54387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72F"/>
                </a:solidFill>
                <a:latin typeface="Arial"/>
                <a:ea typeface="Arial"/>
                <a:cs typeface="Arial"/>
              </a:defRPr>
            </a:pPr>
            <a:r>
              <a:rPr sz="1800" b="1">
                <a:solidFill>
                  <a:srgbClr val="17372F"/>
                </a:solidFill>
                <a:latin typeface="Arial"/>
                <a:ea typeface="Arial"/>
                <a:cs typeface="Arial"/>
              </a:rPr>
              <a:t>Which condition could block a choice even when the food is in stock?</a:t>
            </a:r>
          </a:p>
        </p:txBody>
      </p:sp>
    </p:spTree>
    <p:extLst>
      <p:ext uri="{BB962C8B-B14F-4D97-AF65-F5344CB8AC3E}">
        <p14:creationId xmlns:p14="http://schemas.microsoft.com/office/powerpoint/2010/main" val="1363120454"/>
      </p:ext>
    </p:extLst>
  </p:cSld>
</p:sld>
</file>

<file path=ppt/slides/slide4.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AE0EA5-66C7-4123-9854-E0316A350D5B}"/>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E5153F-9A0A-4E2E-8257-0CFB4335DC0A}"/>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EQUITY</a:t>
            </a:r>
          </a:p>
        </p:txBody>
      </p:sp>
      <p:sp>
        <p:nvSpPr>
          <p:cNvPr id="3" name="">
            <a:extLst xmlns:a="http://schemas.openxmlformats.org/drawingml/2006/main">
              <a:ext uri="{FF2B5EF4-FFF2-40B4-BE49-F238E27FC236}">
                <a16:creationId xmlns:a16="http://schemas.microsoft.com/office/drawing/2014/main" id="{87FA541D-AF71-4C5D-8082-AF0696E71A2A}"/>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04 / 08</a:t>
            </a:r>
          </a:p>
        </p:txBody>
      </p:sp>
      <p:sp>
        <p:nvSpPr>
          <p:cNvPr id="4" name="">
            <a:extLst xmlns:a="http://schemas.openxmlformats.org/drawingml/2006/main">
              <a:ext uri="{FF2B5EF4-FFF2-40B4-BE49-F238E27FC236}">
                <a16:creationId xmlns:a16="http://schemas.microsoft.com/office/drawing/2014/main" id="{5E78506A-A215-4DED-BF3F-913F5246BEA6}"/>
              </a:ext>
            </a:extLst>
          </p:cNvPr>
          <p:cNvSpPr>
            <a:spLocks xmlns:a="http://schemas.openxmlformats.org/drawingml/2006/main" noGrp="1"/>
          </p:cNvSpPr>
          <p:nvPr/>
        </p:nvSpPr>
        <p:spPr>
          <a:xfrm xmlns:a="http://schemas.openxmlformats.org/drawingml/2006/main">
            <a:off x="609600" y="37147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SECTION 1.2  ·  BARRIERS TO FOOD AND WATER</a:t>
            </a:r>
          </a:p>
        </p:txBody>
      </p:sp>
      <p:sp>
        <p:nvSpPr>
          <p:cNvPr id="5" name="">
            <a:extLst xmlns:a="http://schemas.openxmlformats.org/drawingml/2006/main">
              <a:ext uri="{FF2B5EF4-FFF2-40B4-BE49-F238E27FC236}">
                <a16:creationId xmlns:a16="http://schemas.microsoft.com/office/drawing/2014/main" id="{A1452E39-A118-4F20-9AEA-CC17417F932C}"/>
              </a:ext>
            </a:extLst>
          </p:cNvPr>
          <p:cNvSpPr>
            <a:spLocks xmlns:a="http://schemas.openxmlformats.org/drawingml/2006/main" noGrp="1"/>
          </p:cNvSpPr>
          <p:nvPr/>
        </p:nvSpPr>
        <p:spPr>
          <a:xfrm xmlns:a="http://schemas.openxmlformats.org/drawingml/2006/main">
            <a:off x="609600" y="752475"/>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72F"/>
                </a:solidFill>
                <a:latin typeface="Arial"/>
                <a:ea typeface="Arial"/>
                <a:cs typeface="Arial"/>
              </a:defRPr>
            </a:pPr>
            <a:r>
              <a:rPr sz="3225" b="1">
                <a:solidFill>
                  <a:srgbClr val="17372F"/>
                </a:solidFill>
                <a:latin typeface="Arial"/>
                <a:ea typeface="Arial"/>
                <a:cs typeface="Arial"/>
              </a:rPr>
              <a:t>Barriers occur across the whole journey</a:t>
            </a:r>
          </a:p>
        </p:txBody>
      </p:sp>
      <p:sp>
        <p:nvSpPr>
          <p:cNvPr id="6" name="">
            <a:extLst xmlns:a="http://schemas.openxmlformats.org/drawingml/2006/main">
              <a:ext uri="{FF2B5EF4-FFF2-40B4-BE49-F238E27FC236}">
                <a16:creationId xmlns:a16="http://schemas.microsoft.com/office/drawing/2014/main" id="{653A6AB6-4390-49E6-85FC-BFB0A5B7FD6D}"/>
              </a:ext>
            </a:extLst>
          </p:cNvPr>
          <p:cNvSpPr>
            <a:spLocks xmlns:a="http://schemas.openxmlformats.org/drawingml/2006/main" noGrp="1"/>
          </p:cNvSpPr>
          <p:nvPr/>
        </p:nvSpPr>
        <p:spPr>
          <a:xfrm xmlns:a="http://schemas.openxmlformats.org/drawingml/2006/main">
            <a:off x="609600" y="140970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e13aff9af0b42a0"/>
          <a:stretch xmlns:a="http://schemas.openxmlformats.org/drawingml/2006/main"/>
        </p:blipFill>
        <p:spPr>
          <a:xfrm xmlns:a="http://schemas.openxmlformats.org/drawingml/2006/main">
            <a:off x="609600" y="1571625"/>
            <a:ext cx="6953250" cy="4171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54A8BEE-318B-4EC4-89E8-7FB0C630671A}"/>
              </a:ext>
            </a:extLst>
          </p:cNvPr>
          <p:cNvSpPr>
            <a:spLocks xmlns:a="http://schemas.openxmlformats.org/drawingml/2006/main" noGrp="1"/>
          </p:cNvSpPr>
          <p:nvPr/>
        </p:nvSpPr>
        <p:spPr>
          <a:xfrm xmlns:a="http://schemas.openxmlformats.org/drawingml/2006/main">
            <a:off x="8115300" y="1724025"/>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The cost of food may include transport, electricity and time. Deliveries can be disrupted. Safe water also affects what people can drink and prepare. Name the actual barrier before choosing a response.</a:t>
            </a:r>
          </a:p>
        </p:txBody>
      </p:sp>
      <p:sp>
        <p:nvSpPr>
          <p:cNvPr id="9" name="">
            <a:extLst xmlns:a="http://schemas.openxmlformats.org/drawingml/2006/main">
              <a:ext uri="{FF2B5EF4-FFF2-40B4-BE49-F238E27FC236}">
                <a16:creationId xmlns:a16="http://schemas.microsoft.com/office/drawing/2014/main" id="{05B55551-54DC-427E-B7E5-23DE9E6776FB}"/>
              </a:ext>
            </a:extLst>
          </p:cNvPr>
          <p:cNvSpPr>
            <a:spLocks xmlns:a="http://schemas.openxmlformats.org/drawingml/2006/main" noGrp="1"/>
          </p:cNvSpPr>
          <p:nvPr/>
        </p:nvSpPr>
        <p:spPr>
          <a:xfrm xmlns:a="http://schemas.openxmlformats.org/drawingml/2006/main">
            <a:off x="8115300" y="4953000"/>
            <a:ext cx="3333750" cy="19050"/>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B63D468-18D8-4DD2-9E53-6BDBB24E5CB6}"/>
              </a:ext>
            </a:extLst>
          </p:cNvPr>
          <p:cNvSpPr>
            <a:spLocks xmlns:a="http://schemas.openxmlformats.org/drawingml/2006/main" noGrp="1"/>
          </p:cNvSpPr>
          <p:nvPr/>
        </p:nvSpPr>
        <p:spPr>
          <a:xfrm xmlns:a="http://schemas.openxmlformats.org/drawingml/2006/main">
            <a:off x="8115300" y="51435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36A54"/>
                </a:solidFill>
                <a:latin typeface="Arial"/>
                <a:ea typeface="Arial"/>
                <a:cs typeface="Arial"/>
              </a:defRPr>
            </a:pPr>
            <a:r>
              <a:rPr sz="1275" b="1">
                <a:solidFill>
                  <a:srgbClr val="236A54"/>
                </a:solidFill>
                <a:latin typeface="Arial"/>
                <a:ea typeface="Arial"/>
                <a:cs typeface="Arial"/>
              </a:rPr>
              <a:t>DISCUSS</a:t>
            </a:r>
          </a:p>
        </p:txBody>
      </p:sp>
      <p:sp>
        <p:nvSpPr>
          <p:cNvPr id="11" name="">
            <a:extLst xmlns:a="http://schemas.openxmlformats.org/drawingml/2006/main">
              <a:ext uri="{FF2B5EF4-FFF2-40B4-BE49-F238E27FC236}">
                <a16:creationId xmlns:a16="http://schemas.microsoft.com/office/drawing/2014/main" id="{AF8AADA4-8A08-4EFE-824F-E6B4E20569C1}"/>
              </a:ext>
            </a:extLst>
          </p:cNvPr>
          <p:cNvSpPr>
            <a:spLocks xmlns:a="http://schemas.openxmlformats.org/drawingml/2006/main" noGrp="1"/>
          </p:cNvSpPr>
          <p:nvPr/>
        </p:nvSpPr>
        <p:spPr>
          <a:xfrm xmlns:a="http://schemas.openxmlformats.org/drawingml/2006/main">
            <a:off x="8115300" y="54387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72F"/>
                </a:solidFill>
                <a:latin typeface="Arial"/>
                <a:ea typeface="Arial"/>
                <a:cs typeface="Arial"/>
              </a:defRPr>
            </a:pPr>
            <a:r>
              <a:rPr sz="1800" b="1">
                <a:solidFill>
                  <a:srgbClr val="17372F"/>
                </a:solidFill>
                <a:latin typeface="Arial"/>
                <a:ea typeface="Arial"/>
                <a:cs typeface="Arial"/>
              </a:rPr>
              <a:t>Would a lower shelf price fix an unreliable water supply?</a:t>
            </a:r>
          </a:p>
        </p:txBody>
      </p:sp>
    </p:spTree>
    <p:extLst>
      <p:ext uri="{BB962C8B-B14F-4D97-AF65-F5344CB8AC3E}">
        <p14:creationId xmlns:p14="http://schemas.microsoft.com/office/powerpoint/2010/main" val="2076103776"/>
      </p:ext>
    </p:extLst>
  </p:cSld>
</p:sld>
</file>

<file path=ppt/slides/slide5.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821D5FF-6497-4D7B-BDC3-3E6954B37F6C}"/>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BF2300-0CA5-4DF8-ABDE-A78E75B3AEF1}"/>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EQUITY</a:t>
            </a:r>
          </a:p>
        </p:txBody>
      </p:sp>
      <p:sp>
        <p:nvSpPr>
          <p:cNvPr id="3" name="">
            <a:extLst xmlns:a="http://schemas.openxmlformats.org/drawingml/2006/main">
              <a:ext uri="{FF2B5EF4-FFF2-40B4-BE49-F238E27FC236}">
                <a16:creationId xmlns:a16="http://schemas.microsoft.com/office/drawing/2014/main" id="{DC04509B-7F65-450F-9576-F3D507A750F5}"/>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05 / 08</a:t>
            </a:r>
          </a:p>
        </p:txBody>
      </p:sp>
      <p:sp>
        <p:nvSpPr>
          <p:cNvPr id="4" name="">
            <a:extLst xmlns:a="http://schemas.openxmlformats.org/drawingml/2006/main">
              <a:ext uri="{FF2B5EF4-FFF2-40B4-BE49-F238E27FC236}">
                <a16:creationId xmlns:a16="http://schemas.microsoft.com/office/drawing/2014/main" id="{8F393B30-4D33-48E5-AFE5-BA75A4B369E9}"/>
              </a:ext>
            </a:extLst>
          </p:cNvPr>
          <p:cNvSpPr>
            <a:spLocks xmlns:a="http://schemas.openxmlformats.org/drawingml/2006/main" noGrp="1"/>
          </p:cNvSpPr>
          <p:nvPr/>
        </p:nvSpPr>
        <p:spPr>
          <a:xfrm xmlns:a="http://schemas.openxmlformats.org/drawingml/2006/main">
            <a:off x="609600" y="37147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SECTION 1.3  ·  INVESTIGATE AND RESPOND</a:t>
            </a:r>
          </a:p>
        </p:txBody>
      </p:sp>
      <p:sp>
        <p:nvSpPr>
          <p:cNvPr id="5" name="">
            <a:extLst xmlns:a="http://schemas.openxmlformats.org/drawingml/2006/main">
              <a:ext uri="{FF2B5EF4-FFF2-40B4-BE49-F238E27FC236}">
                <a16:creationId xmlns:a16="http://schemas.microsoft.com/office/drawing/2014/main" id="{48C0ED7A-1C3F-4F39-B169-EA71501DA48A}"/>
              </a:ext>
            </a:extLst>
          </p:cNvPr>
          <p:cNvSpPr>
            <a:spLocks xmlns:a="http://schemas.openxmlformats.org/drawingml/2006/main" noGrp="1"/>
          </p:cNvSpPr>
          <p:nvPr/>
        </p:nvSpPr>
        <p:spPr>
          <a:xfrm xmlns:a="http://schemas.openxmlformats.org/drawingml/2006/main">
            <a:off x="609600" y="752475"/>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72F"/>
                </a:solidFill>
                <a:latin typeface="Arial"/>
                <a:ea typeface="Arial"/>
                <a:cs typeface="Arial"/>
              </a:defRPr>
            </a:pPr>
            <a:r>
              <a:rPr sz="3225" b="1">
                <a:solidFill>
                  <a:srgbClr val="17372F"/>
                </a:solidFill>
                <a:latin typeface="Arial"/>
                <a:ea typeface="Arial"/>
                <a:cs typeface="Arial"/>
              </a:rPr>
              <a:t>A response needs evidence of change</a:t>
            </a:r>
          </a:p>
        </p:txBody>
      </p:sp>
      <p:sp>
        <p:nvSpPr>
          <p:cNvPr id="6" name="">
            <a:extLst xmlns:a="http://schemas.openxmlformats.org/drawingml/2006/main">
              <a:ext uri="{FF2B5EF4-FFF2-40B4-BE49-F238E27FC236}">
                <a16:creationId xmlns:a16="http://schemas.microsoft.com/office/drawing/2014/main" id="{15968CDF-1698-4820-AD2E-F5999BD738D2}"/>
              </a:ext>
            </a:extLst>
          </p:cNvPr>
          <p:cNvSpPr>
            <a:spLocks xmlns:a="http://schemas.openxmlformats.org/drawingml/2006/main" noGrp="1"/>
          </p:cNvSpPr>
          <p:nvPr/>
        </p:nvSpPr>
        <p:spPr>
          <a:xfrm xmlns:a="http://schemas.openxmlformats.org/drawingml/2006/main">
            <a:off x="609600" y="140970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129e3d0b7854026"/>
          <a:stretch xmlns:a="http://schemas.openxmlformats.org/drawingml/2006/main"/>
        </p:blipFill>
        <p:spPr>
          <a:xfrm xmlns:a="http://schemas.openxmlformats.org/drawingml/2006/main">
            <a:off x="4572000" y="1571625"/>
            <a:ext cx="6953250" cy="4171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A1B32EE-F0CA-48F6-AE02-EB6C717C708A}"/>
              </a:ext>
            </a:extLst>
          </p:cNvPr>
          <p:cNvSpPr>
            <a:spLocks xmlns:a="http://schemas.openxmlformats.org/drawingml/2006/main" noGrp="1"/>
          </p:cNvSpPr>
          <p:nvPr/>
        </p:nvSpPr>
        <p:spPr>
          <a:xfrm xmlns:a="http://schemas.openxmlformats.org/drawingml/2006/main">
            <a:off x="609600" y="1724025"/>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Begin with a focused question. Check the source, date and scale of each piece of evidence. Separate what a map or price shows from what you infer about people. Match the response to the barrier, then review who benefits.</a:t>
            </a:r>
          </a:p>
        </p:txBody>
      </p:sp>
      <p:sp>
        <p:nvSpPr>
          <p:cNvPr id="9" name="">
            <a:extLst xmlns:a="http://schemas.openxmlformats.org/drawingml/2006/main">
              <a:ext uri="{FF2B5EF4-FFF2-40B4-BE49-F238E27FC236}">
                <a16:creationId xmlns:a16="http://schemas.microsoft.com/office/drawing/2014/main" id="{90B43C04-EDC5-4A10-AF05-835F75B6EEBF}"/>
              </a:ext>
            </a:extLst>
          </p:cNvPr>
          <p:cNvSpPr>
            <a:spLocks xmlns:a="http://schemas.openxmlformats.org/drawingml/2006/main" noGrp="1"/>
          </p:cNvSpPr>
          <p:nvPr/>
        </p:nvSpPr>
        <p:spPr>
          <a:xfrm xmlns:a="http://schemas.openxmlformats.org/drawingml/2006/main">
            <a:off x="609600" y="4953000"/>
            <a:ext cx="3333750" cy="19050"/>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8347E5-8922-4C62-9F7B-F092DADB098F}"/>
              </a:ext>
            </a:extLst>
          </p:cNvPr>
          <p:cNvSpPr>
            <a:spLocks xmlns:a="http://schemas.openxmlformats.org/drawingml/2006/main" noGrp="1"/>
          </p:cNvSpPr>
          <p:nvPr/>
        </p:nvSpPr>
        <p:spPr>
          <a:xfrm xmlns:a="http://schemas.openxmlformats.org/drawingml/2006/main">
            <a:off x="609600" y="51435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36A54"/>
                </a:solidFill>
                <a:latin typeface="Arial"/>
                <a:ea typeface="Arial"/>
                <a:cs typeface="Arial"/>
              </a:defRPr>
            </a:pPr>
            <a:r>
              <a:rPr sz="1275" b="1">
                <a:solidFill>
                  <a:srgbClr val="236A54"/>
                </a:solidFill>
                <a:latin typeface="Arial"/>
                <a:ea typeface="Arial"/>
                <a:cs typeface="Arial"/>
              </a:rPr>
              <a:t>DISCUSS</a:t>
            </a:r>
          </a:p>
        </p:txBody>
      </p:sp>
      <p:sp>
        <p:nvSpPr>
          <p:cNvPr id="11" name="">
            <a:extLst xmlns:a="http://schemas.openxmlformats.org/drawingml/2006/main">
              <a:ext uri="{FF2B5EF4-FFF2-40B4-BE49-F238E27FC236}">
                <a16:creationId xmlns:a16="http://schemas.microsoft.com/office/drawing/2014/main" id="{F4A1DDE0-C3AC-4DAB-9F01-EA8FECDC2ABA}"/>
              </a:ext>
            </a:extLst>
          </p:cNvPr>
          <p:cNvSpPr>
            <a:spLocks xmlns:a="http://schemas.openxmlformats.org/drawingml/2006/main" noGrp="1"/>
          </p:cNvSpPr>
          <p:nvPr/>
        </p:nvSpPr>
        <p:spPr>
          <a:xfrm xmlns:a="http://schemas.openxmlformats.org/drawingml/2006/main">
            <a:off x="609600" y="54387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72F"/>
                </a:solidFill>
                <a:latin typeface="Arial"/>
                <a:ea typeface="Arial"/>
                <a:cs typeface="Arial"/>
              </a:defRPr>
            </a:pPr>
            <a:r>
              <a:rPr sz="1800" b="1">
                <a:solidFill>
                  <a:srgbClr val="17372F"/>
                </a:solidFill>
                <a:latin typeface="Arial"/>
                <a:ea typeface="Arial"/>
                <a:cs typeface="Arial"/>
              </a:rPr>
              <a:t>What would show whether a new shop improved real access?</a:t>
            </a:r>
          </a:p>
        </p:txBody>
      </p:sp>
    </p:spTree>
    <p:extLst>
      <p:ext uri="{BB962C8B-B14F-4D97-AF65-F5344CB8AC3E}">
        <p14:creationId xmlns:p14="http://schemas.microsoft.com/office/powerpoint/2010/main" val="2010894777"/>
      </p:ext>
    </p:extLst>
  </p:cSld>
</p:sld>
</file>

<file path=ppt/slides/slide6.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2EB5F7B-99E8-41ED-ACE9-B8F0FA524F8B}"/>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545615-C273-48D3-BB27-A29112B79699}"/>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EQUITY</a:t>
            </a:r>
          </a:p>
        </p:txBody>
      </p:sp>
      <p:sp>
        <p:nvSpPr>
          <p:cNvPr id="3" name="">
            <a:extLst xmlns:a="http://schemas.openxmlformats.org/drawingml/2006/main">
              <a:ext uri="{FF2B5EF4-FFF2-40B4-BE49-F238E27FC236}">
                <a16:creationId xmlns:a16="http://schemas.microsoft.com/office/drawing/2014/main" id="{09B55281-C8EE-42BD-BC01-1EA2F825E3FD}"/>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06 / 08</a:t>
            </a:r>
          </a:p>
        </p:txBody>
      </p:sp>
      <p:sp>
        <p:nvSpPr>
          <p:cNvPr id="4" name="">
            <a:extLst xmlns:a="http://schemas.openxmlformats.org/drawingml/2006/main">
              <a:ext uri="{FF2B5EF4-FFF2-40B4-BE49-F238E27FC236}">
                <a16:creationId xmlns:a16="http://schemas.microsoft.com/office/drawing/2014/main" id="{26F6F391-984A-419C-AD7A-1B4E0CEF0296}"/>
              </a:ext>
            </a:extLst>
          </p:cNvPr>
          <p:cNvSpPr>
            <a:spLocks xmlns:a="http://schemas.openxmlformats.org/drawingml/2006/main" noGrp="1"/>
          </p:cNvSpPr>
          <p:nvPr/>
        </p:nvSpPr>
        <p:spPr>
          <a:xfrm xmlns:a="http://schemas.openxmlformats.org/drawingml/2006/main">
            <a:off x="609600" y="6191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72F"/>
                </a:solidFill>
                <a:latin typeface="Arial"/>
                <a:ea typeface="Arial"/>
                <a:cs typeface="Arial"/>
              </a:defRPr>
            </a:pPr>
            <a:r>
              <a:rPr sz="3450" b="1">
                <a:solidFill>
                  <a:srgbClr val="17372F"/>
                </a:solidFill>
                <a:latin typeface="Arial"/>
                <a:ea typeface="Arial"/>
                <a:cs typeface="Arial"/>
              </a:rPr>
              <a:t>Check what you can explain</a:t>
            </a:r>
          </a:p>
        </p:txBody>
      </p:sp>
      <p:sp>
        <p:nvSpPr>
          <p:cNvPr id="5" name="">
            <a:extLst xmlns:a="http://schemas.openxmlformats.org/drawingml/2006/main">
              <a:ext uri="{FF2B5EF4-FFF2-40B4-BE49-F238E27FC236}">
                <a16:creationId xmlns:a16="http://schemas.microsoft.com/office/drawing/2014/main" id="{36A5FEFB-F7AF-4037-948E-1E0D13352170}"/>
              </a:ext>
            </a:extLst>
          </p:cNvPr>
          <p:cNvSpPr>
            <a:spLocks xmlns:a="http://schemas.openxmlformats.org/drawingml/2006/main" noGrp="1"/>
          </p:cNvSpPr>
          <p:nvPr/>
        </p:nvSpPr>
        <p:spPr>
          <a:xfrm xmlns:a="http://schemas.openxmlformats.org/drawingml/2006/main">
            <a:off x="609600" y="1381125"/>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E6259"/>
                </a:solidFill>
                <a:latin typeface="Arial"/>
                <a:ea typeface="Arial"/>
                <a:cs typeface="Arial"/>
              </a:defRPr>
            </a:pPr>
            <a:r>
              <a:rPr sz="1875" b="0">
                <a:solidFill>
                  <a:srgbClr val="4E6259"/>
                </a:solidFill>
                <a:latin typeface="Arial"/>
                <a:ea typeface="Arial"/>
                <a:cs typeface="Arial"/>
              </a:rPr>
              <a:t>Answer from the learning just shown. Add a reason or example.</a:t>
            </a:r>
          </a:p>
        </p:txBody>
      </p:sp>
      <p:sp>
        <p:nvSpPr>
          <p:cNvPr id="6" name="">
            <a:extLst xmlns:a="http://schemas.openxmlformats.org/drawingml/2006/main">
              <a:ext uri="{FF2B5EF4-FFF2-40B4-BE49-F238E27FC236}">
                <a16:creationId xmlns:a16="http://schemas.microsoft.com/office/drawing/2014/main" id="{AEA6405D-0385-4F0C-B758-780134146E2B}"/>
              </a:ext>
            </a:extLst>
          </p:cNvPr>
          <p:cNvSpPr>
            <a:spLocks xmlns:a="http://schemas.openxmlformats.org/drawingml/2006/main" noGrp="1"/>
          </p:cNvSpPr>
          <p:nvPr/>
        </p:nvSpPr>
        <p:spPr>
          <a:xfrm xmlns:a="http://schemas.openxmlformats.org/drawingml/2006/main">
            <a:off x="609600" y="2028825"/>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CA928CA-67F2-43E0-B091-ADD0AA1FA9C5}"/>
              </a:ext>
            </a:extLst>
          </p:cNvPr>
          <p:cNvSpPr>
            <a:spLocks xmlns:a="http://schemas.openxmlformats.org/drawingml/2006/main" noGrp="1"/>
          </p:cNvSpPr>
          <p:nvPr/>
        </p:nvSpPr>
        <p:spPr>
          <a:xfrm xmlns:a="http://schemas.openxmlformats.org/drawingml/2006/main">
            <a:off x="647700" y="2266950"/>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70C4FE1F-8ACF-4231-87C3-8FB64E2D44BC}"/>
              </a:ext>
            </a:extLst>
          </p:cNvPr>
          <p:cNvSpPr>
            <a:spLocks xmlns:a="http://schemas.openxmlformats.org/drawingml/2006/main" noGrp="1"/>
          </p:cNvSpPr>
          <p:nvPr/>
        </p:nvSpPr>
        <p:spPr>
          <a:xfrm xmlns:a="http://schemas.openxmlformats.org/drawingml/2006/main">
            <a:off x="1466850" y="2305050"/>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What is the difference between availability and access?</a:t>
            </a:r>
          </a:p>
        </p:txBody>
      </p:sp>
      <p:sp>
        <p:nvSpPr>
          <p:cNvPr id="9" name="">
            <a:extLst xmlns:a="http://schemas.openxmlformats.org/drawingml/2006/main">
              <a:ext uri="{FF2B5EF4-FFF2-40B4-BE49-F238E27FC236}">
                <a16:creationId xmlns:a16="http://schemas.microsoft.com/office/drawing/2014/main" id="{0F7B75E9-7AD6-470E-87EC-5F7952E788E9}"/>
              </a:ext>
            </a:extLst>
          </p:cNvPr>
          <p:cNvSpPr>
            <a:spLocks xmlns:a="http://schemas.openxmlformats.org/drawingml/2006/main" noGrp="1"/>
          </p:cNvSpPr>
          <p:nvPr/>
        </p:nvSpPr>
        <p:spPr>
          <a:xfrm xmlns:a="http://schemas.openxmlformats.org/drawingml/2006/main">
            <a:off x="647700" y="322897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64981421-24C4-4CE9-85FF-3781717FD826}"/>
              </a:ext>
            </a:extLst>
          </p:cNvPr>
          <p:cNvSpPr>
            <a:spLocks xmlns:a="http://schemas.openxmlformats.org/drawingml/2006/main" noGrp="1"/>
          </p:cNvSpPr>
          <p:nvPr/>
        </p:nvSpPr>
        <p:spPr>
          <a:xfrm xmlns:a="http://schemas.openxmlformats.org/drawingml/2006/main">
            <a:off x="1466850" y="3267075"/>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Name one cost beyond the shelf price.</a:t>
            </a:r>
          </a:p>
        </p:txBody>
      </p:sp>
      <p:sp>
        <p:nvSpPr>
          <p:cNvPr id="11" name="">
            <a:extLst xmlns:a="http://schemas.openxmlformats.org/drawingml/2006/main">
              <a:ext uri="{FF2B5EF4-FFF2-40B4-BE49-F238E27FC236}">
                <a16:creationId xmlns:a16="http://schemas.microsoft.com/office/drawing/2014/main" id="{88B3C963-F435-4B3A-BB31-0C36DA4B03E2}"/>
              </a:ext>
            </a:extLst>
          </p:cNvPr>
          <p:cNvSpPr>
            <a:spLocks xmlns:a="http://schemas.openxmlformats.org/drawingml/2006/main" noGrp="1"/>
          </p:cNvSpPr>
          <p:nvPr/>
        </p:nvSpPr>
        <p:spPr>
          <a:xfrm xmlns:a="http://schemas.openxmlformats.org/drawingml/2006/main">
            <a:off x="647700" y="4191000"/>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7A4BF1F8-3D96-4D06-9FB2-7C91AE6577DD}"/>
              </a:ext>
            </a:extLst>
          </p:cNvPr>
          <p:cNvSpPr>
            <a:spLocks xmlns:a="http://schemas.openxmlformats.org/drawingml/2006/main" noGrp="1"/>
          </p:cNvSpPr>
          <p:nvPr/>
        </p:nvSpPr>
        <p:spPr>
          <a:xfrm xmlns:a="http://schemas.openxmlformats.org/drawingml/2006/main">
            <a:off x="1466850" y="4229100"/>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Why does safe water belong in a food access discussion?</a:t>
            </a:r>
          </a:p>
        </p:txBody>
      </p:sp>
      <p:sp>
        <p:nvSpPr>
          <p:cNvPr id="13" name="">
            <a:extLst xmlns:a="http://schemas.openxmlformats.org/drawingml/2006/main">
              <a:ext uri="{FF2B5EF4-FFF2-40B4-BE49-F238E27FC236}">
                <a16:creationId xmlns:a16="http://schemas.microsoft.com/office/drawing/2014/main" id="{B6C95E93-02B6-4E20-981C-5E1CE07E000E}"/>
              </a:ext>
            </a:extLst>
          </p:cNvPr>
          <p:cNvSpPr>
            <a:spLocks xmlns:a="http://schemas.openxmlformats.org/drawingml/2006/main" noGrp="1"/>
          </p:cNvSpPr>
          <p:nvPr/>
        </p:nvSpPr>
        <p:spPr>
          <a:xfrm xmlns:a="http://schemas.openxmlformats.org/drawingml/2006/main">
            <a:off x="647700" y="51530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12512C29-3CD0-4F2A-A1B4-D59EDAD764DA}"/>
              </a:ext>
            </a:extLst>
          </p:cNvPr>
          <p:cNvSpPr>
            <a:spLocks xmlns:a="http://schemas.openxmlformats.org/drawingml/2006/main" noGrp="1"/>
          </p:cNvSpPr>
          <p:nvPr/>
        </p:nvSpPr>
        <p:spPr>
          <a:xfrm xmlns:a="http://schemas.openxmlformats.org/drawingml/2006/main">
            <a:off x="1466850" y="5191125"/>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What can a map show, and what must you still check?</a:t>
            </a:r>
          </a:p>
        </p:txBody>
      </p:sp>
    </p:spTree>
    <p:extLst>
      <p:ext uri="{BB962C8B-B14F-4D97-AF65-F5344CB8AC3E}">
        <p14:creationId xmlns:p14="http://schemas.microsoft.com/office/powerpoint/2010/main" val="910457971"/>
      </p:ext>
    </p:extLst>
  </p:cSld>
</p:sld>
</file>

<file path=ppt/slides/slide7.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3945808-567A-4423-98B4-E1725429FCC7}"/>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D204C5-1A1C-4CAC-8BC7-8A2425D0C631}"/>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EQUITY</a:t>
            </a:r>
          </a:p>
        </p:txBody>
      </p:sp>
      <p:sp>
        <p:nvSpPr>
          <p:cNvPr id="3" name="">
            <a:extLst xmlns:a="http://schemas.openxmlformats.org/drawingml/2006/main">
              <a:ext uri="{FF2B5EF4-FFF2-40B4-BE49-F238E27FC236}">
                <a16:creationId xmlns:a16="http://schemas.microsoft.com/office/drawing/2014/main" id="{5574678B-1EBF-4391-8DAA-7A0563B376E6}"/>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07 / 08</a:t>
            </a:r>
          </a:p>
        </p:txBody>
      </p:sp>
      <p:sp>
        <p:nvSpPr>
          <p:cNvPr id="4" name="">
            <a:extLst xmlns:a="http://schemas.openxmlformats.org/drawingml/2006/main">
              <a:ext uri="{FF2B5EF4-FFF2-40B4-BE49-F238E27FC236}">
                <a16:creationId xmlns:a16="http://schemas.microsoft.com/office/drawing/2014/main" id="{37134830-096B-4DF1-92A4-A7211A36C32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7372F"/>
                </a:solidFill>
                <a:latin typeface="Arial"/>
                <a:ea typeface="Arial"/>
                <a:cs typeface="Arial"/>
              </a:defRPr>
            </a:pPr>
            <a:r>
              <a:rPr sz="3375" b="1">
                <a:solidFill>
                  <a:srgbClr val="17372F"/>
                </a:solidFill>
                <a:latin typeface="Arial"/>
                <a:ea typeface="Arial"/>
                <a:cs typeface="Arial"/>
              </a:rPr>
              <a:t>Build a reasoned response</a:t>
            </a:r>
          </a:p>
        </p:txBody>
      </p:sp>
      <p:sp>
        <p:nvSpPr>
          <p:cNvPr id="5" name="">
            <a:extLst xmlns:a="http://schemas.openxmlformats.org/drawingml/2006/main">
              <a:ext uri="{FF2B5EF4-FFF2-40B4-BE49-F238E27FC236}">
                <a16:creationId xmlns:a16="http://schemas.microsoft.com/office/drawing/2014/main" id="{2E8FC9C2-C9D5-49EB-83CB-DD20CDBA551B}"/>
              </a:ext>
            </a:extLst>
          </p:cNvPr>
          <p:cNvSpPr>
            <a:spLocks xmlns:a="http://schemas.openxmlformats.org/drawingml/2006/main" noGrp="1"/>
          </p:cNvSpPr>
          <p:nvPr/>
        </p:nvSpPr>
        <p:spPr>
          <a:xfrm xmlns:a="http://schemas.openxmlformats.org/drawingml/2006/main">
            <a:off x="609600" y="139065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A6B04BF-375D-4F3B-8335-48FB2480A8BF}"/>
              </a:ext>
            </a:extLst>
          </p:cNvPr>
          <p:cNvSpPr>
            <a:spLocks xmlns:a="http://schemas.openxmlformats.org/drawingml/2006/main" noGrp="1"/>
          </p:cNvSpPr>
          <p:nvPr/>
        </p:nvSpPr>
        <p:spPr>
          <a:xfrm xmlns:a="http://schemas.openxmlformats.org/drawingml/2006/main">
            <a:off x="609600" y="171450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0A42EE8E-9C37-40BF-AB47-5467C3F2A409}"/>
              </a:ext>
            </a:extLst>
          </p:cNvPr>
          <p:cNvSpPr>
            <a:spLocks xmlns:a="http://schemas.openxmlformats.org/drawingml/2006/main" noGrp="1"/>
          </p:cNvSpPr>
          <p:nvPr/>
        </p:nvSpPr>
        <p:spPr>
          <a:xfrm xmlns:a="http://schemas.openxmlformats.org/drawingml/2006/main">
            <a:off x="609600" y="2143125"/>
            <a:ext cx="49530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72F"/>
                </a:solidFill>
                <a:latin typeface="Arial"/>
                <a:ea typeface="Arial"/>
                <a:cs typeface="Arial"/>
              </a:defRPr>
            </a:pPr>
            <a:r>
              <a:rPr sz="2250" b="1">
                <a:solidFill>
                  <a:srgbClr val="17372F"/>
                </a:solidFill>
                <a:latin typeface="Arial"/>
                <a:ea typeface="Arial"/>
                <a:cs typeface="Arial"/>
              </a:rPr>
              <a:t>A new shop opens in a community. Evaluate whether it improves access for the people it intends to serve.</a:t>
            </a:r>
          </a:p>
        </p:txBody>
      </p:sp>
      <p:sp>
        <p:nvSpPr>
          <p:cNvPr id="8" name="">
            <a:extLst xmlns:a="http://schemas.openxmlformats.org/drawingml/2006/main">
              <a:ext uri="{FF2B5EF4-FFF2-40B4-BE49-F238E27FC236}">
                <a16:creationId xmlns:a16="http://schemas.microsoft.com/office/drawing/2014/main" id="{B65E06BD-D3A4-4A45-AEB6-0EDE74B70503}"/>
              </a:ext>
            </a:extLst>
          </p:cNvPr>
          <p:cNvSpPr>
            <a:spLocks xmlns:a="http://schemas.openxmlformats.org/drawingml/2006/main" noGrp="1"/>
          </p:cNvSpPr>
          <p:nvPr/>
        </p:nvSpPr>
        <p:spPr>
          <a:xfrm xmlns:a="http://schemas.openxmlformats.org/drawingml/2006/main">
            <a:off x="609600" y="45529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BD623E"/>
                </a:solidFill>
                <a:latin typeface="Arial"/>
                <a:ea typeface="Arial"/>
                <a:cs typeface="Arial"/>
              </a:defRPr>
            </a:pPr>
            <a:r>
              <a:rPr sz="1425" b="1">
                <a:solidFill>
                  <a:srgbClr val="BD623E"/>
                </a:solidFill>
                <a:latin typeface="Arial"/>
                <a:ea typeface="Arial"/>
                <a:cs typeface="Arial"/>
              </a:rPr>
              <a:t>Sentence support</a:t>
            </a:r>
          </a:p>
        </p:txBody>
      </p:sp>
      <p:sp>
        <p:nvSpPr>
          <p:cNvPr id="9" name="">
            <a:extLst xmlns:a="http://schemas.openxmlformats.org/drawingml/2006/main">
              <a:ext uri="{FF2B5EF4-FFF2-40B4-BE49-F238E27FC236}">
                <a16:creationId xmlns:a16="http://schemas.microsoft.com/office/drawing/2014/main" id="{E72D1321-2F58-4A8F-842D-5EF3763EDE19}"/>
              </a:ext>
            </a:extLst>
          </p:cNvPr>
          <p:cNvSpPr>
            <a:spLocks xmlns:a="http://schemas.openxmlformats.org/drawingml/2006/main" noGrp="1"/>
          </p:cNvSpPr>
          <p:nvPr/>
        </p:nvSpPr>
        <p:spPr>
          <a:xfrm xmlns:a="http://schemas.openxmlformats.org/drawingml/2006/main">
            <a:off x="609600" y="495300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The new shop may improve ___ for ___ because ___. It may still leave ___ unresolved.</a:t>
            </a:r>
          </a:p>
        </p:txBody>
      </p:sp>
      <p:sp>
        <p:nvSpPr>
          <p:cNvPr id="10" name="">
            <a:extLst xmlns:a="http://schemas.openxmlformats.org/drawingml/2006/main">
              <a:ext uri="{FF2B5EF4-FFF2-40B4-BE49-F238E27FC236}">
                <a16:creationId xmlns:a16="http://schemas.microsoft.com/office/drawing/2014/main" id="{284247C6-FDF6-4A0E-8A85-7B70E97F4886}"/>
              </a:ext>
            </a:extLst>
          </p:cNvPr>
          <p:cNvSpPr>
            <a:spLocks xmlns:a="http://schemas.openxmlformats.org/drawingml/2006/main" noGrp="1"/>
          </p:cNvSpPr>
          <p:nvPr/>
        </p:nvSpPr>
        <p:spPr>
          <a:xfrm xmlns:a="http://schemas.openxmlformats.org/drawingml/2006/main">
            <a:off x="6048375" y="1685925"/>
            <a:ext cx="28575" cy="4391025"/>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97097DD-BCD3-4A10-B534-8EC00C30C31F}"/>
              </a:ext>
            </a:extLst>
          </p:cNvPr>
          <p:cNvSpPr>
            <a:spLocks xmlns:a="http://schemas.openxmlformats.org/drawingml/2006/main" noGrp="1"/>
          </p:cNvSpPr>
          <p:nvPr/>
        </p:nvSpPr>
        <p:spPr>
          <a:xfrm xmlns:a="http://schemas.openxmlformats.org/drawingml/2006/main">
            <a:off x="6477000" y="169545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READ</a:t>
            </a:r>
          </a:p>
        </p:txBody>
      </p:sp>
      <p:sp>
        <p:nvSpPr>
          <p:cNvPr id="12" name="">
            <a:extLst xmlns:a="http://schemas.openxmlformats.org/drawingml/2006/main">
              <a:ext uri="{FF2B5EF4-FFF2-40B4-BE49-F238E27FC236}">
                <a16:creationId xmlns:a16="http://schemas.microsoft.com/office/drawing/2014/main" id="{F128FC97-34A5-4EA8-BF66-B3D89FDAF157}"/>
              </a:ext>
            </a:extLst>
          </p:cNvPr>
          <p:cNvSpPr>
            <a:spLocks xmlns:a="http://schemas.openxmlformats.org/drawingml/2006/main" noGrp="1"/>
          </p:cNvSpPr>
          <p:nvPr/>
        </p:nvSpPr>
        <p:spPr>
          <a:xfrm xmlns:a="http://schemas.openxmlformats.org/drawingml/2006/main">
            <a:off x="6477000" y="2047875"/>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Read the claim and identify who it concerns.</a:t>
            </a:r>
          </a:p>
        </p:txBody>
      </p:sp>
      <p:sp>
        <p:nvSpPr>
          <p:cNvPr id="13" name="">
            <a:extLst xmlns:a="http://schemas.openxmlformats.org/drawingml/2006/main">
              <a:ext uri="{FF2B5EF4-FFF2-40B4-BE49-F238E27FC236}">
                <a16:creationId xmlns:a16="http://schemas.microsoft.com/office/drawing/2014/main" id="{B00D7442-D515-4BB4-A269-CFEC4FA69DF8}"/>
              </a:ext>
            </a:extLst>
          </p:cNvPr>
          <p:cNvSpPr>
            <a:spLocks xmlns:a="http://schemas.openxmlformats.org/drawingml/2006/main" noGrp="1"/>
          </p:cNvSpPr>
          <p:nvPr/>
        </p:nvSpPr>
        <p:spPr>
          <a:xfrm xmlns:a="http://schemas.openxmlformats.org/drawingml/2006/main">
            <a:off x="6477000" y="279082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SELECT</a:t>
            </a:r>
          </a:p>
        </p:txBody>
      </p:sp>
      <p:sp>
        <p:nvSpPr>
          <p:cNvPr id="14" name="">
            <a:extLst xmlns:a="http://schemas.openxmlformats.org/drawingml/2006/main">
              <a:ext uri="{FF2B5EF4-FFF2-40B4-BE49-F238E27FC236}">
                <a16:creationId xmlns:a16="http://schemas.microsoft.com/office/drawing/2014/main" id="{AF6F94D0-F3DF-475F-B942-B5701968813A}"/>
              </a:ext>
            </a:extLst>
          </p:cNvPr>
          <p:cNvSpPr>
            <a:spLocks xmlns:a="http://schemas.openxmlformats.org/drawingml/2006/main" noGrp="1"/>
          </p:cNvSpPr>
          <p:nvPr/>
        </p:nvSpPr>
        <p:spPr>
          <a:xfrm xmlns:a="http://schemas.openxmlformats.org/drawingml/2006/main">
            <a:off x="6477000" y="3143250"/>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Select evidence about total cost, travel, suitability and reliable supply.</a:t>
            </a:r>
          </a:p>
        </p:txBody>
      </p:sp>
      <p:sp>
        <p:nvSpPr>
          <p:cNvPr id="15" name="">
            <a:extLst xmlns:a="http://schemas.openxmlformats.org/drawingml/2006/main">
              <a:ext uri="{FF2B5EF4-FFF2-40B4-BE49-F238E27FC236}">
                <a16:creationId xmlns:a16="http://schemas.microsoft.com/office/drawing/2014/main" id="{F581A8C3-7558-4B4E-9E17-4099895E302C}"/>
              </a:ext>
            </a:extLst>
          </p:cNvPr>
          <p:cNvSpPr>
            <a:spLocks xmlns:a="http://schemas.openxmlformats.org/drawingml/2006/main" noGrp="1"/>
          </p:cNvSpPr>
          <p:nvPr/>
        </p:nvSpPr>
        <p:spPr>
          <a:xfrm xmlns:a="http://schemas.openxmlformats.org/drawingml/2006/main">
            <a:off x="6477000" y="388620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EXPLAIN</a:t>
            </a:r>
          </a:p>
        </p:txBody>
      </p:sp>
      <p:sp>
        <p:nvSpPr>
          <p:cNvPr id="16" name="">
            <a:extLst xmlns:a="http://schemas.openxmlformats.org/drawingml/2006/main">
              <a:ext uri="{FF2B5EF4-FFF2-40B4-BE49-F238E27FC236}">
                <a16:creationId xmlns:a16="http://schemas.microsoft.com/office/drawing/2014/main" id="{5881764C-E4B5-4D9F-8C2D-1687EE8787F5}"/>
              </a:ext>
            </a:extLst>
          </p:cNvPr>
          <p:cNvSpPr>
            <a:spLocks xmlns:a="http://schemas.openxmlformats.org/drawingml/2006/main" noGrp="1"/>
          </p:cNvSpPr>
          <p:nvPr/>
        </p:nvSpPr>
        <p:spPr>
          <a:xfrm xmlns:a="http://schemas.openxmlformats.org/drawingml/2006/main">
            <a:off x="6477000" y="4238625"/>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Explain one likely benefit and one limit.</a:t>
            </a:r>
          </a:p>
        </p:txBody>
      </p:sp>
      <p:sp>
        <p:nvSpPr>
          <p:cNvPr id="17" name="">
            <a:extLst xmlns:a="http://schemas.openxmlformats.org/drawingml/2006/main">
              <a:ext uri="{FF2B5EF4-FFF2-40B4-BE49-F238E27FC236}">
                <a16:creationId xmlns:a16="http://schemas.microsoft.com/office/drawing/2014/main" id="{777510D6-BE30-468C-B893-F9BF0B157E04}"/>
              </a:ext>
            </a:extLst>
          </p:cNvPr>
          <p:cNvSpPr>
            <a:spLocks xmlns:a="http://schemas.openxmlformats.org/drawingml/2006/main" noGrp="1"/>
          </p:cNvSpPr>
          <p:nvPr/>
        </p:nvSpPr>
        <p:spPr>
          <a:xfrm xmlns:a="http://schemas.openxmlformats.org/drawingml/2006/main">
            <a:off x="6477000" y="498157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CHECK</a:t>
            </a:r>
          </a:p>
        </p:txBody>
      </p:sp>
      <p:sp>
        <p:nvSpPr>
          <p:cNvPr id="18" name="">
            <a:extLst xmlns:a="http://schemas.openxmlformats.org/drawingml/2006/main">
              <a:ext uri="{FF2B5EF4-FFF2-40B4-BE49-F238E27FC236}">
                <a16:creationId xmlns:a16="http://schemas.microsoft.com/office/drawing/2014/main" id="{44B75579-A234-4786-A439-DAE394B99373}"/>
              </a:ext>
            </a:extLst>
          </p:cNvPr>
          <p:cNvSpPr>
            <a:spLocks xmlns:a="http://schemas.openxmlformats.org/drawingml/2006/main" noGrp="1"/>
          </p:cNvSpPr>
          <p:nvPr/>
        </p:nvSpPr>
        <p:spPr>
          <a:xfrm xmlns:a="http://schemas.openxmlformats.org/drawingml/2006/main">
            <a:off x="6477000" y="5334000"/>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Check what remains uncertain and choose an indicator for review.</a:t>
            </a:r>
          </a:p>
        </p:txBody>
      </p:sp>
    </p:spTree>
    <p:extLst>
      <p:ext uri="{BB962C8B-B14F-4D97-AF65-F5344CB8AC3E}">
        <p14:creationId xmlns:p14="http://schemas.microsoft.com/office/powerpoint/2010/main" val="905224168"/>
      </p:ext>
    </p:extLst>
  </p:cSld>
</p:sld>
</file>

<file path=ppt/slides/slide8.xml><?xml version="1.0" encoding="utf-8"?>
<p:sld xmlns:p="http://schemas.openxmlformats.org/presentationml/2006/main">
  <p:cSld>
    <p:bg>
      <p:bgPr>
        <a:solidFill xmlns:a="http://schemas.openxmlformats.org/drawingml/2006/main">
          <a:srgbClr val="17372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529AE44-C7E2-495A-9ED4-DEBA39E20881}"/>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ED14CE-7B4F-4CC0-9409-3E97E6ED3CD0}"/>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EQUITY</a:t>
            </a:r>
          </a:p>
        </p:txBody>
      </p:sp>
      <p:sp>
        <p:nvSpPr>
          <p:cNvPr id="3" name="">
            <a:extLst xmlns:a="http://schemas.openxmlformats.org/drawingml/2006/main">
              <a:ext uri="{FF2B5EF4-FFF2-40B4-BE49-F238E27FC236}">
                <a16:creationId xmlns:a16="http://schemas.microsoft.com/office/drawing/2014/main" id="{9D057630-48CC-4D27-9F15-0F1E48F04C8A}"/>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08 / 08</a:t>
            </a:r>
          </a:p>
        </p:txBody>
      </p:sp>
      <p:sp>
        <p:nvSpPr>
          <p:cNvPr id="4" name="">
            <a:extLst xmlns:a="http://schemas.openxmlformats.org/drawingml/2006/main">
              <a:ext uri="{FF2B5EF4-FFF2-40B4-BE49-F238E27FC236}">
                <a16:creationId xmlns:a16="http://schemas.microsoft.com/office/drawing/2014/main" id="{05F6D647-CBC6-49DD-935A-E0CCDEFB86BE}"/>
              </a:ext>
            </a:extLst>
          </p:cNvPr>
          <p:cNvSpPr>
            <a:spLocks xmlns:a="http://schemas.openxmlformats.org/drawingml/2006/main" noGrp="1"/>
          </p:cNvSpPr>
          <p:nvPr/>
        </p:nvSpPr>
        <p:spPr>
          <a:xfrm xmlns:a="http://schemas.openxmlformats.org/drawingml/2006/main">
            <a:off x="609600" y="5619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FFDF8"/>
                </a:solidFill>
                <a:latin typeface="Arial"/>
                <a:ea typeface="Arial"/>
                <a:cs typeface="Arial"/>
              </a:defRPr>
            </a:pPr>
            <a:r>
              <a:rPr sz="3750" b="1">
                <a:solidFill>
                  <a:srgbClr val="FFFDF8"/>
                </a:solidFill>
                <a:latin typeface="Arial"/>
                <a:ea typeface="Arial"/>
                <a:cs typeface="Arial"/>
              </a:rPr>
              <a:t>Exit evidence</a:t>
            </a:r>
          </a:p>
        </p:txBody>
      </p:sp>
      <p:sp>
        <p:nvSpPr>
          <p:cNvPr id="5" name="">
            <a:extLst xmlns:a="http://schemas.openxmlformats.org/drawingml/2006/main">
              <a:ext uri="{FF2B5EF4-FFF2-40B4-BE49-F238E27FC236}">
                <a16:creationId xmlns:a16="http://schemas.microsoft.com/office/drawing/2014/main" id="{489FB87F-ECEF-4B2C-8FB9-C68693290BDA}"/>
              </a:ext>
            </a:extLst>
          </p:cNvPr>
          <p:cNvSpPr>
            <a:spLocks xmlns:a="http://schemas.openxmlformats.org/drawingml/2006/main" noGrp="1"/>
          </p:cNvSpPr>
          <p:nvPr/>
        </p:nvSpPr>
        <p:spPr>
          <a:xfrm xmlns:a="http://schemas.openxmlformats.org/drawingml/2006/main">
            <a:off x="609600" y="14192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4EEE7"/>
                </a:solidFill>
                <a:latin typeface="Arial"/>
                <a:ea typeface="Arial"/>
                <a:cs typeface="Arial"/>
              </a:defRPr>
            </a:pPr>
            <a:r>
              <a:rPr sz="1950" b="0">
                <a:solidFill>
                  <a:srgbClr val="E4EEE7"/>
                </a:solidFill>
                <a:latin typeface="Arial"/>
                <a:ea typeface="Arial"/>
                <a:cs typeface="Arial"/>
              </a:rPr>
              <a:t>Before you leave, write:</a:t>
            </a:r>
          </a:p>
        </p:txBody>
      </p:sp>
      <p:sp>
        <p:nvSpPr>
          <p:cNvPr id="6" name="">
            <a:extLst xmlns:a="http://schemas.openxmlformats.org/drawingml/2006/main">
              <a:ext uri="{FF2B5EF4-FFF2-40B4-BE49-F238E27FC236}">
                <a16:creationId xmlns:a16="http://schemas.microsoft.com/office/drawing/2014/main" id="{79BCD3A5-FB43-475A-AA3C-6B729F30D2B5}"/>
              </a:ext>
            </a:extLst>
          </p:cNvPr>
          <p:cNvSpPr>
            <a:spLocks xmlns:a="http://schemas.openxmlformats.org/drawingml/2006/main" noGrp="1"/>
          </p:cNvSpPr>
          <p:nvPr/>
        </p:nvSpPr>
        <p:spPr>
          <a:xfrm xmlns:a="http://schemas.openxmlformats.org/drawingml/2006/main">
            <a:off x="647700" y="216217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AE8B"/>
                </a:solidFill>
                <a:latin typeface="Arial"/>
                <a:ea typeface="Arial"/>
                <a:cs typeface="Arial"/>
              </a:defRPr>
            </a:pPr>
            <a:r>
              <a:rPr sz="3600" b="1">
                <a:solidFill>
                  <a:srgbClr val="F2AE8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00397E5-BA06-409D-9820-FBC5B7BBAE6D}"/>
              </a:ext>
            </a:extLst>
          </p:cNvPr>
          <p:cNvSpPr>
            <a:spLocks xmlns:a="http://schemas.openxmlformats.org/drawingml/2006/main" noGrp="1"/>
          </p:cNvSpPr>
          <p:nvPr/>
        </p:nvSpPr>
        <p:spPr>
          <a:xfrm xmlns:a="http://schemas.openxmlformats.org/drawingml/2006/main">
            <a:off x="1571625" y="2238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DF8"/>
                </a:solidFill>
                <a:latin typeface="Arial"/>
                <a:ea typeface="Arial"/>
                <a:cs typeface="Arial"/>
              </a:defRPr>
            </a:pPr>
            <a:r>
              <a:rPr sz="2625" b="1">
                <a:solidFill>
                  <a:srgbClr val="FFFDF8"/>
                </a:solidFill>
                <a:latin typeface="Arial"/>
                <a:ea typeface="Arial"/>
                <a:cs typeface="Arial"/>
              </a:rPr>
              <a:t>One condition that shapes access</a:t>
            </a:r>
          </a:p>
        </p:txBody>
      </p:sp>
      <p:sp>
        <p:nvSpPr>
          <p:cNvPr id="8" name="">
            <a:extLst xmlns:a="http://schemas.openxmlformats.org/drawingml/2006/main">
              <a:ext uri="{FF2B5EF4-FFF2-40B4-BE49-F238E27FC236}">
                <a16:creationId xmlns:a16="http://schemas.microsoft.com/office/drawing/2014/main" id="{4DC4552B-8544-4305-9E97-5BE5CC841CC6}"/>
              </a:ext>
            </a:extLst>
          </p:cNvPr>
          <p:cNvSpPr>
            <a:spLocks xmlns:a="http://schemas.openxmlformats.org/drawingml/2006/main" noGrp="1"/>
          </p:cNvSpPr>
          <p:nvPr/>
        </p:nvSpPr>
        <p:spPr>
          <a:xfrm xmlns:a="http://schemas.openxmlformats.org/drawingml/2006/main">
            <a:off x="647700" y="315277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AE8B"/>
                </a:solidFill>
                <a:latin typeface="Arial"/>
                <a:ea typeface="Arial"/>
                <a:cs typeface="Arial"/>
              </a:defRPr>
            </a:pPr>
            <a:r>
              <a:rPr sz="3600" b="1">
                <a:solidFill>
                  <a:srgbClr val="F2AE8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9DEEBE1B-D1D1-48A1-A9C4-63E4BCE05D4D}"/>
              </a:ext>
            </a:extLst>
          </p:cNvPr>
          <p:cNvSpPr>
            <a:spLocks xmlns:a="http://schemas.openxmlformats.org/drawingml/2006/main" noGrp="1"/>
          </p:cNvSpPr>
          <p:nvPr/>
        </p:nvSpPr>
        <p:spPr>
          <a:xfrm xmlns:a="http://schemas.openxmlformats.org/drawingml/2006/main">
            <a:off x="1571625" y="32289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DF8"/>
                </a:solidFill>
                <a:latin typeface="Arial"/>
                <a:ea typeface="Arial"/>
                <a:cs typeface="Arial"/>
              </a:defRPr>
            </a:pPr>
            <a:r>
              <a:rPr sz="2625" b="1">
                <a:solidFill>
                  <a:srgbClr val="FFFDF8"/>
                </a:solidFill>
                <a:latin typeface="Arial"/>
                <a:ea typeface="Arial"/>
                <a:cs typeface="Arial"/>
              </a:rPr>
              <a:t>One piece of evidence I would collect</a:t>
            </a:r>
          </a:p>
        </p:txBody>
      </p:sp>
      <p:sp>
        <p:nvSpPr>
          <p:cNvPr id="10" name="">
            <a:extLst xmlns:a="http://schemas.openxmlformats.org/drawingml/2006/main">
              <a:ext uri="{FF2B5EF4-FFF2-40B4-BE49-F238E27FC236}">
                <a16:creationId xmlns:a16="http://schemas.microsoft.com/office/drawing/2014/main" id="{EB11F449-7CBF-451B-99BF-C0E0CB4C583B}"/>
              </a:ext>
            </a:extLst>
          </p:cNvPr>
          <p:cNvSpPr>
            <a:spLocks xmlns:a="http://schemas.openxmlformats.org/drawingml/2006/main" noGrp="1"/>
          </p:cNvSpPr>
          <p:nvPr/>
        </p:nvSpPr>
        <p:spPr>
          <a:xfrm xmlns:a="http://schemas.openxmlformats.org/drawingml/2006/main">
            <a:off x="647700" y="414337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AE8B"/>
                </a:solidFill>
                <a:latin typeface="Arial"/>
                <a:ea typeface="Arial"/>
                <a:cs typeface="Arial"/>
              </a:defRPr>
            </a:pPr>
            <a:r>
              <a:rPr sz="3600" b="1">
                <a:solidFill>
                  <a:srgbClr val="F2AE8B"/>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7790E35-0B55-4436-B585-A0636DB72284}"/>
              </a:ext>
            </a:extLst>
          </p:cNvPr>
          <p:cNvSpPr>
            <a:spLocks xmlns:a="http://schemas.openxmlformats.org/drawingml/2006/main" noGrp="1"/>
          </p:cNvSpPr>
          <p:nvPr/>
        </p:nvSpPr>
        <p:spPr>
          <a:xfrm xmlns:a="http://schemas.openxmlformats.org/drawingml/2006/main">
            <a:off x="1571625" y="42195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DF8"/>
                </a:solidFill>
                <a:latin typeface="Arial"/>
                <a:ea typeface="Arial"/>
                <a:cs typeface="Arial"/>
              </a:defRPr>
            </a:pPr>
            <a:r>
              <a:rPr sz="2625" b="1">
                <a:solidFill>
                  <a:srgbClr val="FFFDF8"/>
                </a:solidFill>
                <a:latin typeface="Arial"/>
                <a:ea typeface="Arial"/>
                <a:cs typeface="Arial"/>
              </a:rPr>
              <a:t>One limitation I would state</a:t>
            </a:r>
          </a:p>
        </p:txBody>
      </p:sp>
      <p:sp>
        <p:nvSpPr>
          <p:cNvPr id="12" name="">
            <a:extLst xmlns:a="http://schemas.openxmlformats.org/drawingml/2006/main">
              <a:ext uri="{FF2B5EF4-FFF2-40B4-BE49-F238E27FC236}">
                <a16:creationId xmlns:a16="http://schemas.microsoft.com/office/drawing/2014/main" id="{DA639FBA-BC2E-4510-B6CD-31C9C9CCB18A}"/>
              </a:ext>
            </a:extLst>
          </p:cNvPr>
          <p:cNvSpPr>
            <a:spLocks xmlns:a="http://schemas.openxmlformats.org/drawingml/2006/main" noGrp="1"/>
          </p:cNvSpPr>
          <p:nvPr/>
        </p:nvSpPr>
        <p:spPr>
          <a:xfrm xmlns:a="http://schemas.openxmlformats.org/drawingml/2006/main">
            <a:off x="609600" y="5314950"/>
            <a:ext cx="10972800" cy="19050"/>
          </a:xfrm>
          <a:prstGeom xmlns:a="http://schemas.openxmlformats.org/drawingml/2006/main" prst="rect">
            <a:avLst/>
          </a:prstGeom>
          <a:solidFill xmlns:a="http://schemas.openxmlformats.org/drawingml/2006/main">
            <a:srgbClr val="77A7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85AA768-6BB6-4959-8A0F-1510CA586773}"/>
              </a:ext>
            </a:extLst>
          </p:cNvPr>
          <p:cNvSpPr>
            <a:spLocks xmlns:a="http://schemas.openxmlformats.org/drawingml/2006/main" noGrp="1"/>
          </p:cNvSpPr>
          <p:nvPr/>
        </p:nvSpPr>
        <p:spPr>
          <a:xfrm xmlns:a="http://schemas.openxmlformats.org/drawingml/2006/main">
            <a:off x="609600" y="5534025"/>
            <a:ext cx="10620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DF8"/>
                </a:solidFill>
                <a:latin typeface="Arial"/>
                <a:ea typeface="Arial"/>
                <a:cs typeface="Arial"/>
              </a:defRPr>
            </a:pPr>
            <a:r>
              <a:rPr sz="1875" b="0">
                <a:solidFill>
                  <a:srgbClr val="FFFDF8"/>
                </a:solidFill>
                <a:latin typeface="Arial"/>
                <a:ea typeface="Arial"/>
                <a:cs typeface="Arial"/>
              </a:rPr>
              <a:t>Save your written response in this module’s learning package. Export My folio for a backup. Check Google Classroom for live teacher instructions.</a:t>
            </a:r>
          </a:p>
        </p:txBody>
      </p:sp>
    </p:spTree>
    <p:extLst>
      <p:ext uri="{BB962C8B-B14F-4D97-AF65-F5344CB8AC3E}">
        <p14:creationId xmlns:p14="http://schemas.microsoft.com/office/powerpoint/2010/main" val="14881788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2026-09-24T11:54:25.9410000Z</dcterms:created>
  <dcterms:modified xsi:type="dcterms:W3CDTF">2026-09-24T11:54:25.9410000Z</dcterms:modified>
</coreProperties>
</file>