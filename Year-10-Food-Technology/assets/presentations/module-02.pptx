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0a233f868e4f46" /><Relationship Type="http://schemas.openxmlformats.org/officeDocument/2006/relationships/extended-properties" Target="/docProps/app.xml" Id="R8ae1706d09b94102" /><Relationship Type="http://schemas.openxmlformats.org/officeDocument/2006/relationships/officeDocument" Target="/ppt/presentation.xml" Id="Rba5b8e60d793466c" /></Relationships>
</file>

<file path=ppt/presentation.xml><?xml version="1.0" encoding="utf-8"?>
<p:presentation xmlns:p="http://schemas.openxmlformats.org/presentationml/2006/main">
  <p:sldMasterIdLst>
    <p:sldMasterId xmlns:r="http://schemas.openxmlformats.org/officeDocument/2006/relationships" id="2147483648" r:id="R33472f2e26804407"/>
  </p:sldMasterIdLst>
  <p:notesMasterIdLst>
    <p:notesMasterId xmlns:r="http://schemas.openxmlformats.org/officeDocument/2006/relationships" r:id="Rd5514aac7a4b48f4"/>
  </p:notesMasterIdLst>
  <p:sldIdLst>
    <p:sldId xmlns:r="http://schemas.openxmlformats.org/officeDocument/2006/relationships" id="256" r:id="Ra6989eeb20af4c4f"/>
    <p:sldId xmlns:r="http://schemas.openxmlformats.org/officeDocument/2006/relationships" id="257" r:id="R9e2da96f835a4c4c"/>
    <p:sldId xmlns:r="http://schemas.openxmlformats.org/officeDocument/2006/relationships" id="258" r:id="Rb153fc2a38bf4bc7"/>
    <p:sldId xmlns:r="http://schemas.openxmlformats.org/officeDocument/2006/relationships" id="259" r:id="R9a0d039b18ff4356"/>
    <p:sldId xmlns:r="http://schemas.openxmlformats.org/officeDocument/2006/relationships" id="260" r:id="R9feaf44e551c4743"/>
    <p:sldId xmlns:r="http://schemas.openxmlformats.org/officeDocument/2006/relationships" id="261" r:id="R5d70b58c426b4e07"/>
    <p:sldId xmlns:r="http://schemas.openxmlformats.org/officeDocument/2006/relationships" id="262" r:id="Ra42b8666fb8a478a"/>
    <p:sldId xmlns:r="http://schemas.openxmlformats.org/officeDocument/2006/relationships" id="263" r:id="Rf222ddfca2dc42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fc8312815f4ebc" /><Relationship Type="http://schemas.openxmlformats.org/officeDocument/2006/relationships/slideMaster" Target="/ppt/slideMasters/slideMaster1.xml" Id="R33472f2e26804407" /><Relationship Type="http://schemas.openxmlformats.org/officeDocument/2006/relationships/notesMaster" Target="/ppt/notesMasters/notesMaster1.xml" Id="Rd5514aac7a4b48f4" /><Relationship Type="http://schemas.openxmlformats.org/officeDocument/2006/relationships/presProps" Target="/ppt/presProps.xml" Id="R0e53c830cd9549bd" /><Relationship Type="http://schemas.openxmlformats.org/officeDocument/2006/relationships/tableStyles" Target="/ppt/tableStyles.xml" Id="R552751d941a5473b" /><Relationship Type="http://schemas.openxmlformats.org/officeDocument/2006/relationships/slide" Target="/ppt/slides/slide1.xml" Id="Ra6989eeb20af4c4f" /><Relationship Type="http://schemas.openxmlformats.org/officeDocument/2006/relationships/slide" Target="/ppt/slides/slide2.xml" Id="R9e2da96f835a4c4c" /><Relationship Type="http://schemas.openxmlformats.org/officeDocument/2006/relationships/slide" Target="/ppt/slides/slide3.xml" Id="Rb153fc2a38bf4bc7" /><Relationship Type="http://schemas.openxmlformats.org/officeDocument/2006/relationships/slide" Target="/ppt/slides/slide4.xml" Id="R9a0d039b18ff4356" /><Relationship Type="http://schemas.openxmlformats.org/officeDocument/2006/relationships/slide" Target="/ppt/slides/slide5.xml" Id="R9feaf44e551c4743" /><Relationship Type="http://schemas.openxmlformats.org/officeDocument/2006/relationships/slide" Target="/ppt/slides/slide6.xml" Id="R5d70b58c426b4e07" /><Relationship Type="http://schemas.openxmlformats.org/officeDocument/2006/relationships/slide" Target="/ppt/slides/slide7.xml" Id="Ra42b8666fb8a478a" /><Relationship Type="http://schemas.openxmlformats.org/officeDocument/2006/relationships/slide" Target="/ppt/slides/slide8.xml" Id="Rf222ddfca2dc42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49d4ceff644b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ccd45e52fe450d" /><Relationship Type="http://schemas.openxmlformats.org/officeDocument/2006/relationships/notesMaster" Target="/ppt/notesMasters/notesMaster1.xml" Id="R0a8728f2a61f47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04bbdb949c4003" /><Relationship Type="http://schemas.openxmlformats.org/officeDocument/2006/relationships/notesMaster" Target="/ppt/notesMasters/notesMaster1.xml" Id="R49edc149a43c4a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c323b8ae6f4555" /><Relationship Type="http://schemas.openxmlformats.org/officeDocument/2006/relationships/notesMaster" Target="/ppt/notesMasters/notesMaster1.xml" Id="Rb064d08c0e3f42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2c10fd8ea342fb" /><Relationship Type="http://schemas.openxmlformats.org/officeDocument/2006/relationships/notesMaster" Target="/ppt/notesMasters/notesMaster1.xml" Id="R80a251b1b19e4f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3bf22bc2154748" /><Relationship Type="http://schemas.openxmlformats.org/officeDocument/2006/relationships/notesMaster" Target="/ppt/notesMasters/notesMaster1.xml" Id="R73435d37c86b40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70c17c1d5e4964" /><Relationship Type="http://schemas.openxmlformats.org/officeDocument/2006/relationships/notesMaster" Target="/ppt/notesMasters/notesMaster1.xml" Id="R8797805f605a4d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a1f85631be4190" /><Relationship Type="http://schemas.openxmlformats.org/officeDocument/2006/relationships/notesMaster" Target="/ppt/notesMasters/notesMaster1.xml" Id="Radd1d83637f342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0a13a841ac410a" /><Relationship Type="http://schemas.openxmlformats.org/officeDocument/2006/relationships/notesMaster" Target="/ppt/notesMasters/notesMaster1.xml" Id="R652dd1b8de5243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why trends spread and test claims about benefit, waste and value.</a:t>
            </a:r>
          </a:p>
          <a:p xmlns:a="http://schemas.openxmlformats.org/drawingml/2006/main">
            <a:r>
              <a:t>Teacher talking point: Introduce the term focus area and ask students what evidence they would need before making a judgement.</a:t>
            </a:r>
          </a:p>
          <a:p xmlns:a="http://schemas.openxmlformats.org/drawingml/2006/main">
            <a:r>
              <a:t>The original photograph is an illustrative teaching image, not a record of this class or a set practical.</a:t>
            </a:r>
          </a:p>
          <a:p xmlns:a="http://schemas.openxmlformats.org/drawingml/2006/main">
            <a:r>
              <a:t>Source boundary: year-10-food-technology-2026-source-map-v1; NESA Food Technology 7–10 Syllabus (2019). Live tasks and due dates remain in Google Classroom.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 through the three named sections: Why food trends emerge; Local produce, waste and value adding; Evaluate a food trend.</a:t>
            </a:r>
          </a:p>
          <a:p xmlns:a="http://schemas.openxmlformats.org/drawingml/2006/main">
            <a:r>
              <a:t>Retrieval prompt: A product is popular online. Which claim would you test before recommending it?</a:t>
            </a:r>
          </a:p>
          <a:p xmlns:a="http://schemas.openxmlformats.org/drawingml/2006/main">
            <a:r>
              <a:t>Listen for students treating a visible product or photograph as complete evidence; ask what it does and does not show.</a:t>
            </a:r>
          </a:p>
          <a:p xmlns:a="http://schemas.openxmlformats.org/drawingml/2006/main">
            <a:r>
              <a:t>Sources: https://classroom.google.com/w/ODQxODU0NzM4OTcw/t/all; https://www.nsw.gov.au/education-and-training/nesa/curriculum/tas/food-technology-7-10-2019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Why food trends emerge.</a:t>
            </a:r>
          </a:p>
          <a:p xmlns:a="http://schemas.openxmlformats.org/drawingml/2006/main">
            <a:r>
              <a:t>Talking points: Food trends can spread through lifestyle changes, culture, media and new products. A menu claim can attract attention without proving a health or environmental result. Ask who the trend suits and what evidence supports each claim.</a:t>
            </a:r>
          </a:p>
          <a:p xmlns:a="http://schemas.openxmlformats.org/drawingml/2006/main">
            <a:r>
              <a:t>Worked example from the approved source: A menu calls a meal ‘local and healthy’. Identify two separate claims. Check origin evidence for ‘local’ and relevant nutrition information for ‘healthy’ rather than treating the phrase as one proven fact.</a:t>
            </a:r>
          </a:p>
          <a:p xmlns:a="http://schemas.openxmlformats.org/drawingml/2006/main">
            <a:r>
              <a:t>Ask: What evidence would test a menu claim of “local and healthy”?</a:t>
            </a:r>
          </a:p>
          <a:p xmlns:a="http://schemas.openxmlformats.org/drawingml/2006/main">
            <a:r>
              <a:t>Likely misconception: A trend that sells well must be healthier for everyone.</a:t>
            </a:r>
          </a:p>
          <a:p xmlns:a="http://schemas.openxmlformats.org/drawingml/2006/main">
            <a:r>
              <a:t>Visual: original authored diagram module-02-section-1.svg. Purpose: Show that a food trend can be influenced by several forces, so students should investigate rather than assume one cause. Exception: Exact many-to-one relationship without invented quantities is central to the concept; photography would show only one example.</a:t>
            </a:r>
          </a:p>
          <a:p xmlns:a="http://schemas.openxmlformats.org/drawingml/2006/main">
            <a:r>
              <a:t>Sources: https://classroom.google.com/w/ODQxODU0NzM4OTcw/t/all ; https://www.nsw.gov.au/education-and-training/nesa/curriculum/tas/food-technology-7-10-2019 ; https://education.nsw.gov.au/teaching-and-learning/curriculum/tas/tas-curriculum-resources-7-12/tas-7-10-curriculum-resources/food-technology-food-trends ; https://www.eatforhealth.gov.au/food-essentials/five-food-groups</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Local produce, waste and value adding.</a:t>
            </a:r>
          </a:p>
          <a:p xmlns:a="http://schemas.openxmlformats.org/drawingml/2006/main">
            <a:r>
              <a:t>Talking points: “Local” depends on the boundary being used. Food miles describe travel distance, yet production, storage, transport type, packaging and waste also matter. Value adding may use sound surplus food, but extra processing can use resources.</a:t>
            </a:r>
          </a:p>
          <a:p xmlns:a="http://schemas.openxmlformats.org/drawingml/2006/main">
            <a:r>
              <a:t>Worked example from the approved source: A ‘local’ tomato and a tomato from another region cannot be compared fairly using distance alone. Ask about how each was produced, stored, moved and wasted before making an environmental claim.</a:t>
            </a:r>
          </a:p>
          <a:p xmlns:a="http://schemas.openxmlformats.org/drawingml/2006/main">
            <a:r>
              <a:t>Ask: What else would you compare besides the kilometres travelled?</a:t>
            </a:r>
          </a:p>
          <a:p xmlns:a="http://schemas.openxmlformats.org/drawingml/2006/main">
            <a:r>
              <a:t>Likely misconception: Shorter travel always means lower total environmental impact.</a:t>
            </a:r>
          </a:p>
          <a:p xmlns:a="http://schemas.openxmlformats.org/drawingml/2006/main">
            <a:r>
              <a:t>Visual: original authored diagram module-02-section-2.svg. Purpose: Connect local produce, food waste and value adding to repeated decisions across food use. Exception: Exact circular relationship and feedback make repeated decisions visible without inventing waste statistics or recipes.</a:t>
            </a:r>
          </a:p>
          <a:p xmlns:a="http://schemas.openxmlformats.org/drawingml/2006/main">
            <a:r>
              <a:t>Sources: https://classroom.google.com/w/ODQxODU0NzM4OTcw/t/all ; https://www.nsw.gov.au/education-and-training/nesa/curriculum/tas/food-technology-7-10-2019 ; https://education.nsw.gov.au/teaching-and-learning/curriculum/tas/tas-curriculum-resources-7-12/tas-7-10-curriculum-resources/food-technology-food-trends ; https://www.dcceew.gov.au/environment/protection/waste/food-waste ; https://www.dcceew.gov.au/environment/protection/waste/food-waste/end-food-waste-australia ; https://www.agriculture.gov.au/sites/default/files/documents/27308.pdf</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Evaluate a food trend.</a:t>
            </a:r>
          </a:p>
          <a:p xmlns:a="http://schemas.openxmlformats.org/drawingml/2006/main">
            <a:r>
              <a:t>Talking points: Define the intended consumer and test each claim separately. Compare nutrition information on a fair basis, including per 100 g when serving sizes differ. Then weigh price, access, suitability and possible waste. State what evidence is missing.</a:t>
            </a:r>
          </a:p>
          <a:p xmlns:a="http://schemas.openxmlformats.org/drawingml/2006/main">
            <a:r>
              <a:t>Worked example from the approved source: Two similar snacks list different serving sizes. Compare the same nutrient per 100 g first, then consider the actual amount eaten, price, ingredients and the needs of the intended consumer.</a:t>
            </a:r>
          </a:p>
          <a:p xmlns:a="http://schemas.openxmlformats.org/drawingml/2006/main">
            <a:r>
              <a:t>Ask: Who benefits from the trend, and what would change your view?</a:t>
            </a:r>
          </a:p>
          <a:p xmlns:a="http://schemas.openxmlformats.org/drawingml/2006/main">
            <a:r>
              <a:t>Likely misconception: One label or headline is enough to prove a product is better.</a:t>
            </a:r>
          </a:p>
          <a:p xmlns:a="http://schemas.openxmlformats.org/drawingml/2006/main">
            <a:r>
              <a:t>Visual: original authored diagram module-02-section-3.svg. Purpose: Support evidence-based evaluation of a food trend against benefits and trade-offs. Exception: A balance explicitly places benefits and trade-offs side by side without false numeric scoring; a photo would privilege one product.</a:t>
            </a:r>
          </a:p>
          <a:p xmlns:a="http://schemas.openxmlformats.org/drawingml/2006/main">
            <a:r>
              <a:t>Sources: https://classroom.google.com/w/ODQxODU0NzM4OTcw/t/all ; https://classroom.google.com/c/ODQxODU0NzM4OTcw/a/ODYyOTA0NDM2MjUx/details ; https://www.nsw.gov.au/education-and-training/nesa/curriculum/tas/food-technology-7-10-2019 ; https://education.nsw.gov.au/teaching-and-learning/curriculum/tas/tas-curriculum-resources-7-12/tas-7-10-curriculum-resources/food-technology-food-trends ; https://www.foodstandards.gov.au/consumer/labelling/panels ; https://www.foodstandards.gov.au/consumer/labelling/nutrition ; https://www.accc.gov.au/consumers/advertising-and-promotions/environmental-and-sustainability-claims ; https://www.eatforhealth.gov.au/food-essentials/five-food-groups</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retrieval before showing or discussing answers. Invite a short explanation, not just a keyword.</a:t>
            </a:r>
          </a:p>
          <a:p xmlns:a="http://schemas.openxmlformats.org/drawingml/2006/main">
            <a:r>
              <a:t>Question prompts: Why might a food trend spread? | Why are food miles alone insufficient? | How could value adding create a cost as well as a benefit? | Why compare nutrition information per 100 g when servings differ?</a:t>
            </a:r>
          </a:p>
          <a:p xmlns:a="http://schemas.openxmlformats.org/drawingml/2006/main">
            <a:r>
              <a:t>If an answer depends on a local recipe, due date or practical procedure, return to the source boundary and check the teacher's current Classroom instructions.</a:t>
            </a:r>
          </a:p>
          <a:p xmlns:a="http://schemas.openxmlformats.org/drawingml/2006/main">
            <a:r>
              <a:t>Source: year-10-food-technology-2026-source-map-v1.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 a short written response. Ask students to use course theory and state limits.</a:t>
            </a:r>
          </a:p>
          <a:p xmlns:a="http://schemas.openxmlformats.org/drawingml/2006/main">
            <a:r>
              <a:t>Prompt: A business promotes a “local, low waste, healthier” snack. Evaluate the claims for one defined group of consumers.</a:t>
            </a:r>
          </a:p>
          <a:p xmlns:a="http://schemas.openxmlformats.org/drawingml/2006/main">
            <a:r>
              <a:t>Scaffold: Read the three claims as separate statements. / Select evidence for origin, waste, nutrition and affordability. / Explain a benefit and a trade-off for your consumer group. / Check what cannot yet be concluded.</a:t>
            </a:r>
          </a:p>
          <a:p xmlns:a="http://schemas.openxmlformats.org/drawingml/2006/main">
            <a:r>
              <a:t>Model one sentence only; leave the judgement to students.</a:t>
            </a:r>
          </a:p>
          <a:p xmlns:a="http://schemas.openxmlformats.org/drawingml/2006/main">
            <a:r>
              <a:t>Source: matching section theory in this module and https://www.nsw.gov.au/education-and-training/nesa/curriculum/tas/food-technology-7-10-2019.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ticket: One reason a trend may spread; One claim I could test; One trade-off I would include.</a:t>
            </a:r>
          </a:p>
          <a:p xmlns:a="http://schemas.openxmlformats.org/drawingml/2006/main">
            <a:r>
              <a:t>Evidence destination: the module learning packages on the local course site. These save on this device; My folio provides an export backup. Google Classroom remains the authority for any live teacher task, due date or submission.</a:t>
            </a:r>
          </a:p>
          <a:p xmlns:a="http://schemas.openxmlformats.org/drawingml/2006/main">
            <a:r>
              <a:t>Transition: Ask students to identify the next evidence gap before moving to the following module.</a:t>
            </a:r>
          </a:p>
          <a:p xmlns:a="http://schemas.openxmlformats.org/drawingml/2006/main">
            <a:r>
              <a:t>Source boundary: year-10-food-technology-2026-source-map-v1.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87a7773b9348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ea922c32b04c8f" /><Relationship Type="http://schemas.openxmlformats.org/officeDocument/2006/relationships/slideLayout" Target="/ppt/slideLayouts/slideLayout1.xml" Id="R8016c4b0e9fb4f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16c4b0e9fb4f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3d80b0f903486e" /><Relationship Type="http://schemas.openxmlformats.org/officeDocument/2006/relationships/image" Target="/ppt/media/image.jpeg" Id="Rd9dc925418984cf9" /><Relationship Type="http://schemas.openxmlformats.org/officeDocument/2006/relationships/notesSlide" Target="/ppt/notesSlides/notesSlide1.xml" Id="R219acfd120ea45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fc73f6d7bd49f1" /><Relationship Type="http://schemas.openxmlformats.org/officeDocument/2006/relationships/notesSlide" Target="/ppt/notesSlides/notesSlide2.xml" Id="Rc544a15e67d846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cc9e6b21f14052" /><Relationship Type="http://schemas.openxmlformats.org/officeDocument/2006/relationships/image" Target="/ppt/media/image.png" Id="Rb089de3249e74db2" /><Relationship Type="http://schemas.openxmlformats.org/officeDocument/2006/relationships/notesSlide" Target="/ppt/notesSlides/notesSlide3.xml" Id="R3fd88223b89544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dcea0020df4b31" /><Relationship Type="http://schemas.openxmlformats.org/officeDocument/2006/relationships/image" Target="/ppt/media/image2.png" Id="R4a8bb57321724af9" /><Relationship Type="http://schemas.openxmlformats.org/officeDocument/2006/relationships/notesSlide" Target="/ppt/notesSlides/notesSlide4.xml" Id="Rc3d4231d0dc546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45d9884a944358" /><Relationship Type="http://schemas.openxmlformats.org/officeDocument/2006/relationships/image" Target="/ppt/media/image3.png" Id="R846e72e91dba47cb" /><Relationship Type="http://schemas.openxmlformats.org/officeDocument/2006/relationships/notesSlide" Target="/ppt/notesSlides/notesSlide5.xml" Id="R1625d84da6f74d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f134fd48954232" /><Relationship Type="http://schemas.openxmlformats.org/officeDocument/2006/relationships/notesSlide" Target="/ppt/notesSlides/notesSlide6.xml" Id="R146129611fe646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d6a7db53354565" /><Relationship Type="http://schemas.openxmlformats.org/officeDocument/2006/relationships/notesSlide" Target="/ppt/notesSlides/notesSlide7.xml" Id="Re00a89428d3a46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b2d409da3541fe" /><Relationship Type="http://schemas.openxmlformats.org/officeDocument/2006/relationships/notesSlide" Target="/ppt/notesSlides/notesSlide8.xml" Id="Ra97079b71773496e" /></Relationships>
</file>

<file path=ppt/slides/slide1.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9dc925418984cf9"/>
          <a:srcRect xmlns:a="http://schemas.openxmlformats.org/drawingml/2006/main" l="23111" t="0" r="23111" b="0"/>
          <a:stretch xmlns:a="http://schemas.openxmlformats.org/drawingml/2006/main">
            <a:fillRect l="0" t="0" r="0" b="0"/>
          </a:stretch>
        </p:blipFill>
        <p:spPr>
          <a:xfrm xmlns:a="http://schemas.openxmlformats.org/drawingml/2006/main">
            <a:off x="5638800" y="0"/>
            <a:ext cx="65532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9C722B-2020-419C-9006-4FC343B9AD30}"/>
              </a:ext>
            </a:extLst>
          </p:cNvPr>
          <p:cNvSpPr>
            <a:spLocks xmlns:a="http://schemas.openxmlformats.org/drawingml/2006/main" noGrp="1"/>
          </p:cNvSpPr>
          <p:nvPr/>
        </p:nvSpPr>
        <p:spPr>
          <a:xfrm xmlns:a="http://schemas.openxmlformats.org/drawingml/2006/main">
            <a:off x="0" y="0"/>
            <a:ext cx="5829300" cy="6858000"/>
          </a:xfrm>
          <a:prstGeom xmlns:a="http://schemas.openxmlformats.org/drawingml/2006/main" prst="rect">
            <a:avLst/>
          </a:prstGeom>
          <a:solidFill xmlns:a="http://schemas.openxmlformats.org/drawingml/2006/main">
            <a:srgbClr val="F7F3E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1C113E-1603-42DE-BA01-70E0137180B9}"/>
              </a:ext>
            </a:extLst>
          </p:cNvPr>
          <p:cNvSpPr>
            <a:spLocks xmlns:a="http://schemas.openxmlformats.org/drawingml/2006/main" noGrp="1"/>
          </p:cNvSpPr>
          <p:nvPr/>
        </p:nvSpPr>
        <p:spPr>
          <a:xfrm xmlns:a="http://schemas.openxmlformats.org/drawingml/2006/main">
            <a:off x="609600" y="885825"/>
            <a:ext cx="819150" cy="66675"/>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4F0E09-E3CC-4BE5-85BA-81BD57E6C3F2}"/>
              </a:ext>
            </a:extLst>
          </p:cNvPr>
          <p:cNvSpPr>
            <a:spLocks xmlns:a="http://schemas.openxmlformats.org/drawingml/2006/main" noGrp="1"/>
          </p:cNvSpPr>
          <p:nvPr/>
        </p:nvSpPr>
        <p:spPr>
          <a:xfrm xmlns:a="http://schemas.openxmlformats.org/drawingml/2006/main">
            <a:off x="609600" y="11620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36A54"/>
                </a:solidFill>
                <a:latin typeface="Arial"/>
                <a:ea typeface="Arial"/>
                <a:cs typeface="Arial"/>
              </a:defRPr>
            </a:pPr>
            <a:r>
              <a:rPr sz="1575" b="1">
                <a:solidFill>
                  <a:srgbClr val="236A54"/>
                </a:solidFill>
                <a:latin typeface="Arial"/>
                <a:ea typeface="Arial"/>
                <a:cs typeface="Arial"/>
              </a:rPr>
              <a:t>TERM 2  ·  MODULE 2</a:t>
            </a:r>
          </a:p>
        </p:txBody>
      </p:sp>
      <p:sp>
        <p:nvSpPr>
          <p:cNvPr id="5" name="">
            <a:extLst xmlns:a="http://schemas.openxmlformats.org/drawingml/2006/main">
              <a:ext uri="{FF2B5EF4-FFF2-40B4-BE49-F238E27FC236}">
                <a16:creationId xmlns:a16="http://schemas.microsoft.com/office/drawing/2014/main" id="{F0965B11-27CC-46A5-921E-666435E4EC90}"/>
              </a:ext>
            </a:extLst>
          </p:cNvPr>
          <p:cNvSpPr>
            <a:spLocks xmlns:a="http://schemas.openxmlformats.org/drawingml/2006/main" noGrp="1"/>
          </p:cNvSpPr>
          <p:nvPr/>
        </p:nvSpPr>
        <p:spPr>
          <a:xfrm xmlns:a="http://schemas.openxmlformats.org/drawingml/2006/main">
            <a:off x="609600" y="1857375"/>
            <a:ext cx="4810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372F"/>
                </a:solidFill>
                <a:latin typeface="Arial"/>
                <a:ea typeface="Arial"/>
                <a:cs typeface="Arial"/>
              </a:defRPr>
            </a:pPr>
            <a:r>
              <a:rPr sz="4350" b="1">
                <a:solidFill>
                  <a:srgbClr val="17372F"/>
                </a:solidFill>
                <a:latin typeface="Arial"/>
                <a:ea typeface="Arial"/>
                <a:cs typeface="Arial"/>
              </a:rPr>
              <a:t>Food Trends</a:t>
            </a:r>
          </a:p>
        </p:txBody>
      </p:sp>
      <p:sp>
        <p:nvSpPr>
          <p:cNvPr id="6" name="">
            <a:extLst xmlns:a="http://schemas.openxmlformats.org/drawingml/2006/main">
              <a:ext uri="{FF2B5EF4-FFF2-40B4-BE49-F238E27FC236}">
                <a16:creationId xmlns:a16="http://schemas.microsoft.com/office/drawing/2014/main" id="{2AFD3696-24C0-458D-A191-28B7CE7D0EBB}"/>
              </a:ext>
            </a:extLst>
          </p:cNvPr>
          <p:cNvSpPr>
            <a:spLocks xmlns:a="http://schemas.openxmlformats.org/drawingml/2006/main" noGrp="1"/>
          </p:cNvSpPr>
          <p:nvPr/>
        </p:nvSpPr>
        <p:spPr>
          <a:xfrm xmlns:a="http://schemas.openxmlformats.org/drawingml/2006/main">
            <a:off x="609600" y="4114800"/>
            <a:ext cx="4714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72F"/>
                </a:solidFill>
                <a:latin typeface="Arial"/>
                <a:ea typeface="Arial"/>
                <a:cs typeface="Arial"/>
              </a:defRPr>
            </a:pPr>
            <a:r>
              <a:rPr sz="2250" b="0">
                <a:solidFill>
                  <a:srgbClr val="17372F"/>
                </a:solidFill>
                <a:latin typeface="Arial"/>
                <a:ea typeface="Arial"/>
                <a:cs typeface="Arial"/>
              </a:rPr>
              <a:t>Explain why trends spread and test claims about benefit, waste and value.</a:t>
            </a:r>
          </a:p>
        </p:txBody>
      </p:sp>
      <p:sp>
        <p:nvSpPr>
          <p:cNvPr id="7" name="">
            <a:extLst xmlns:a="http://schemas.openxmlformats.org/drawingml/2006/main">
              <a:ext uri="{FF2B5EF4-FFF2-40B4-BE49-F238E27FC236}">
                <a16:creationId xmlns:a16="http://schemas.microsoft.com/office/drawing/2014/main" id="{A64C24A7-9F89-47CE-9712-C169D8A78B76}"/>
              </a:ext>
            </a:extLst>
          </p:cNvPr>
          <p:cNvSpPr>
            <a:spLocks xmlns:a="http://schemas.openxmlformats.org/drawingml/2006/main" noGrp="1"/>
          </p:cNvSpPr>
          <p:nvPr/>
        </p:nvSpPr>
        <p:spPr>
          <a:xfrm xmlns:a="http://schemas.openxmlformats.org/drawingml/2006/main">
            <a:off x="609600" y="62865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4E6259"/>
                </a:solidFill>
                <a:latin typeface="Arial"/>
                <a:ea typeface="Arial"/>
                <a:cs typeface="Arial"/>
              </a:defRPr>
            </a:pPr>
            <a:r>
              <a:rPr sz="1200" b="1">
                <a:solidFill>
                  <a:srgbClr val="4E6259"/>
                </a:solidFill>
                <a:latin typeface="Arial"/>
                <a:ea typeface="Arial"/>
                <a:cs typeface="Arial"/>
              </a:rPr>
              <a:t>YEAR 10 FOOD TECHNOLOGY  ·  2026</a:t>
            </a:r>
          </a:p>
        </p:txBody>
      </p:sp>
    </p:spTree>
    <p:extLst>
      <p:ext uri="{BB962C8B-B14F-4D97-AF65-F5344CB8AC3E}">
        <p14:creationId xmlns:p14="http://schemas.microsoft.com/office/powerpoint/2010/main" val="396073717"/>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478308F-5FC2-4A80-9F50-9C018E8D6836}"/>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B49FAC-C3E4-4BF4-ACD1-9FFC34FA50C7}"/>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TRENDS</a:t>
            </a:r>
          </a:p>
        </p:txBody>
      </p:sp>
      <p:sp>
        <p:nvSpPr>
          <p:cNvPr id="3" name="">
            <a:extLst xmlns:a="http://schemas.openxmlformats.org/drawingml/2006/main">
              <a:ext uri="{FF2B5EF4-FFF2-40B4-BE49-F238E27FC236}">
                <a16:creationId xmlns:a16="http://schemas.microsoft.com/office/drawing/2014/main" id="{0B1CFB59-F600-45A2-9954-492CD9384AE0}"/>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02 / 08</a:t>
            </a:r>
          </a:p>
        </p:txBody>
      </p:sp>
      <p:sp>
        <p:nvSpPr>
          <p:cNvPr id="4" name="">
            <a:extLst xmlns:a="http://schemas.openxmlformats.org/drawingml/2006/main">
              <a:ext uri="{FF2B5EF4-FFF2-40B4-BE49-F238E27FC236}">
                <a16:creationId xmlns:a16="http://schemas.microsoft.com/office/drawing/2014/main" id="{F6E536FE-8BB9-4F51-B03B-1BA4AA7D3E45}"/>
              </a:ext>
            </a:extLst>
          </p:cNvPr>
          <p:cNvSpPr>
            <a:spLocks xmlns:a="http://schemas.openxmlformats.org/drawingml/2006/main" noGrp="1"/>
          </p:cNvSpPr>
          <p:nvPr/>
        </p:nvSpPr>
        <p:spPr>
          <a:xfrm xmlns:a="http://schemas.openxmlformats.org/drawingml/2006/main">
            <a:off x="609600" y="62865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72F"/>
                </a:solidFill>
                <a:latin typeface="Arial"/>
                <a:ea typeface="Arial"/>
                <a:cs typeface="Arial"/>
              </a:defRPr>
            </a:pPr>
            <a:r>
              <a:rPr sz="3600" b="1">
                <a:solidFill>
                  <a:srgbClr val="17372F"/>
                </a:solidFill>
                <a:latin typeface="Arial"/>
                <a:ea typeface="Arial"/>
                <a:cs typeface="Arial"/>
              </a:rPr>
              <a:t>The learning path</a:t>
            </a:r>
          </a:p>
        </p:txBody>
      </p:sp>
      <p:sp>
        <p:nvSpPr>
          <p:cNvPr id="5" name="">
            <a:extLst xmlns:a="http://schemas.openxmlformats.org/drawingml/2006/main">
              <a:ext uri="{FF2B5EF4-FFF2-40B4-BE49-F238E27FC236}">
                <a16:creationId xmlns:a16="http://schemas.microsoft.com/office/drawing/2014/main" id="{9EFF00F8-A281-4043-A055-AE03586EAFFB}"/>
              </a:ext>
            </a:extLst>
          </p:cNvPr>
          <p:cNvSpPr>
            <a:spLocks xmlns:a="http://schemas.openxmlformats.org/drawingml/2006/main" noGrp="1"/>
          </p:cNvSpPr>
          <p:nvPr/>
        </p:nvSpPr>
        <p:spPr>
          <a:xfrm xmlns:a="http://schemas.openxmlformats.org/drawingml/2006/main">
            <a:off x="609600" y="1495425"/>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086EC61-F995-444D-9138-C8306441868C}"/>
              </a:ext>
            </a:extLst>
          </p:cNvPr>
          <p:cNvSpPr>
            <a:spLocks xmlns:a="http://schemas.openxmlformats.org/drawingml/2006/main" noGrp="1"/>
          </p:cNvSpPr>
          <p:nvPr/>
        </p:nvSpPr>
        <p:spPr>
          <a:xfrm xmlns:a="http://schemas.openxmlformats.org/drawingml/2006/main">
            <a:off x="647700" y="180975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883C3E5-885A-4379-8FC7-BCB28D1D55E8}"/>
              </a:ext>
            </a:extLst>
          </p:cNvPr>
          <p:cNvSpPr>
            <a:spLocks xmlns:a="http://schemas.openxmlformats.org/drawingml/2006/main" noGrp="1"/>
          </p:cNvSpPr>
          <p:nvPr/>
        </p:nvSpPr>
        <p:spPr>
          <a:xfrm xmlns:a="http://schemas.openxmlformats.org/drawingml/2006/main">
            <a:off x="1619250" y="185737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Why food trends emerge</a:t>
            </a:r>
          </a:p>
        </p:txBody>
      </p:sp>
      <p:sp>
        <p:nvSpPr>
          <p:cNvPr id="8" name="">
            <a:extLst xmlns:a="http://schemas.openxmlformats.org/drawingml/2006/main">
              <a:ext uri="{FF2B5EF4-FFF2-40B4-BE49-F238E27FC236}">
                <a16:creationId xmlns:a16="http://schemas.microsoft.com/office/drawing/2014/main" id="{44CEA488-9C3E-4AB6-907A-DE50411C8684}"/>
              </a:ext>
            </a:extLst>
          </p:cNvPr>
          <p:cNvSpPr>
            <a:spLocks xmlns:a="http://schemas.openxmlformats.org/drawingml/2006/main" noGrp="1"/>
          </p:cNvSpPr>
          <p:nvPr/>
        </p:nvSpPr>
        <p:spPr>
          <a:xfrm xmlns:a="http://schemas.openxmlformats.org/drawingml/2006/main">
            <a:off x="647700" y="293370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3B0B451E-4DD6-4A1A-8913-E2EA93BADE10}"/>
              </a:ext>
            </a:extLst>
          </p:cNvPr>
          <p:cNvSpPr>
            <a:spLocks xmlns:a="http://schemas.openxmlformats.org/drawingml/2006/main" noGrp="1"/>
          </p:cNvSpPr>
          <p:nvPr/>
        </p:nvSpPr>
        <p:spPr>
          <a:xfrm xmlns:a="http://schemas.openxmlformats.org/drawingml/2006/main">
            <a:off x="1619250" y="298132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Local produce, waste and value adding</a:t>
            </a:r>
          </a:p>
        </p:txBody>
      </p:sp>
      <p:sp>
        <p:nvSpPr>
          <p:cNvPr id="10" name="">
            <a:extLst xmlns:a="http://schemas.openxmlformats.org/drawingml/2006/main">
              <a:ext uri="{FF2B5EF4-FFF2-40B4-BE49-F238E27FC236}">
                <a16:creationId xmlns:a16="http://schemas.microsoft.com/office/drawing/2014/main" id="{273679C2-6E00-4598-870D-1CBD9FC647BE}"/>
              </a:ext>
            </a:extLst>
          </p:cNvPr>
          <p:cNvSpPr>
            <a:spLocks xmlns:a="http://schemas.openxmlformats.org/drawingml/2006/main" noGrp="1"/>
          </p:cNvSpPr>
          <p:nvPr/>
        </p:nvSpPr>
        <p:spPr>
          <a:xfrm xmlns:a="http://schemas.openxmlformats.org/drawingml/2006/main">
            <a:off x="647700" y="405765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8200B00-C594-41CF-8B06-3F11DDAD38C2}"/>
              </a:ext>
            </a:extLst>
          </p:cNvPr>
          <p:cNvSpPr>
            <a:spLocks xmlns:a="http://schemas.openxmlformats.org/drawingml/2006/main" noGrp="1"/>
          </p:cNvSpPr>
          <p:nvPr/>
        </p:nvSpPr>
        <p:spPr>
          <a:xfrm xmlns:a="http://schemas.openxmlformats.org/drawingml/2006/main">
            <a:off x="1619250" y="410527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Evaluate a food trend</a:t>
            </a:r>
          </a:p>
        </p:txBody>
      </p:sp>
      <p:sp>
        <p:nvSpPr>
          <p:cNvPr id="12" name="">
            <a:extLst xmlns:a="http://schemas.openxmlformats.org/drawingml/2006/main">
              <a:ext uri="{FF2B5EF4-FFF2-40B4-BE49-F238E27FC236}">
                <a16:creationId xmlns:a16="http://schemas.microsoft.com/office/drawing/2014/main" id="{BD94690A-438B-4EE2-BF43-8E3FFA527DEC}"/>
              </a:ext>
            </a:extLst>
          </p:cNvPr>
          <p:cNvSpPr>
            <a:spLocks xmlns:a="http://schemas.openxmlformats.org/drawingml/2006/main" noGrp="1"/>
          </p:cNvSpPr>
          <p:nvPr/>
        </p:nvSpPr>
        <p:spPr>
          <a:xfrm xmlns:a="http://schemas.openxmlformats.org/drawingml/2006/main">
            <a:off x="647700" y="5381625"/>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BEFORE WE BEGIN</a:t>
            </a:r>
          </a:p>
        </p:txBody>
      </p:sp>
      <p:sp>
        <p:nvSpPr>
          <p:cNvPr id="13" name="">
            <a:extLst xmlns:a="http://schemas.openxmlformats.org/drawingml/2006/main">
              <a:ext uri="{FF2B5EF4-FFF2-40B4-BE49-F238E27FC236}">
                <a16:creationId xmlns:a16="http://schemas.microsoft.com/office/drawing/2014/main" id="{EAD006C7-010B-4F55-8B3B-A7F2707E41DC}"/>
              </a:ext>
            </a:extLst>
          </p:cNvPr>
          <p:cNvSpPr>
            <a:spLocks xmlns:a="http://schemas.openxmlformats.org/drawingml/2006/main" noGrp="1"/>
          </p:cNvSpPr>
          <p:nvPr/>
        </p:nvSpPr>
        <p:spPr>
          <a:xfrm xmlns:a="http://schemas.openxmlformats.org/drawingml/2006/main">
            <a:off x="647700" y="57150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Arial"/>
                <a:ea typeface="Arial"/>
                <a:cs typeface="Arial"/>
              </a:defRPr>
            </a:pPr>
            <a:r>
              <a:rPr sz="2100" b="0">
                <a:solidFill>
                  <a:srgbClr val="17372F"/>
                </a:solidFill>
                <a:latin typeface="Arial"/>
                <a:ea typeface="Arial"/>
                <a:cs typeface="Arial"/>
              </a:rPr>
              <a:t>A product is popular online. Which claim would you test before recommending it?</a:t>
            </a:r>
          </a:p>
        </p:txBody>
      </p:sp>
    </p:spTree>
    <p:extLst>
      <p:ext uri="{BB962C8B-B14F-4D97-AF65-F5344CB8AC3E}">
        <p14:creationId xmlns:p14="http://schemas.microsoft.com/office/powerpoint/2010/main" val="904013301"/>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3FC356-DB6C-403F-A986-7333A13EB7F7}"/>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3F55D0-097D-4E10-B689-9752DA741812}"/>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TRENDS</a:t>
            </a:r>
          </a:p>
        </p:txBody>
      </p:sp>
      <p:sp>
        <p:nvSpPr>
          <p:cNvPr id="3" name="">
            <a:extLst xmlns:a="http://schemas.openxmlformats.org/drawingml/2006/main">
              <a:ext uri="{FF2B5EF4-FFF2-40B4-BE49-F238E27FC236}">
                <a16:creationId xmlns:a16="http://schemas.microsoft.com/office/drawing/2014/main" id="{96D20352-9BFC-482C-BD60-F019EBF84DD3}"/>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03 / 08</a:t>
            </a:r>
          </a:p>
        </p:txBody>
      </p:sp>
      <p:sp>
        <p:nvSpPr>
          <p:cNvPr id="4" name="">
            <a:extLst xmlns:a="http://schemas.openxmlformats.org/drawingml/2006/main">
              <a:ext uri="{FF2B5EF4-FFF2-40B4-BE49-F238E27FC236}">
                <a16:creationId xmlns:a16="http://schemas.microsoft.com/office/drawing/2014/main" id="{6004EB5E-FB64-4F34-865E-748DED21CBC2}"/>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2.1  ·  WHY FOOD TRENDS EMERGE</a:t>
            </a:r>
          </a:p>
        </p:txBody>
      </p:sp>
      <p:sp>
        <p:nvSpPr>
          <p:cNvPr id="5" name="">
            <a:extLst xmlns:a="http://schemas.openxmlformats.org/drawingml/2006/main">
              <a:ext uri="{FF2B5EF4-FFF2-40B4-BE49-F238E27FC236}">
                <a16:creationId xmlns:a16="http://schemas.microsoft.com/office/drawing/2014/main" id="{568D6EF1-E086-4D62-A092-F127DB35323C}"/>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72F"/>
                </a:solidFill>
                <a:latin typeface="Arial"/>
                <a:ea typeface="Arial"/>
                <a:cs typeface="Arial"/>
              </a:defRPr>
            </a:pPr>
            <a:r>
              <a:rPr sz="3225" b="1">
                <a:solidFill>
                  <a:srgbClr val="17372F"/>
                </a:solidFill>
                <a:latin typeface="Arial"/>
                <a:ea typeface="Arial"/>
                <a:cs typeface="Arial"/>
              </a:rPr>
              <a:t>Popularity does not establish a benefit</a:t>
            </a:r>
          </a:p>
        </p:txBody>
      </p:sp>
      <p:sp>
        <p:nvSpPr>
          <p:cNvPr id="6" name="">
            <a:extLst xmlns:a="http://schemas.openxmlformats.org/drawingml/2006/main">
              <a:ext uri="{FF2B5EF4-FFF2-40B4-BE49-F238E27FC236}">
                <a16:creationId xmlns:a16="http://schemas.microsoft.com/office/drawing/2014/main" id="{83C472C0-5BD9-4622-BC14-3601E8639533}"/>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089de3249e74db2"/>
          <a:stretch xmlns:a="http://schemas.openxmlformats.org/drawingml/2006/main"/>
        </p:blipFill>
        <p:spPr>
          <a:xfrm xmlns:a="http://schemas.openxmlformats.org/drawingml/2006/main">
            <a:off x="45720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115E3F2-896E-48AD-AE25-217FD5D715A7}"/>
              </a:ext>
            </a:extLst>
          </p:cNvPr>
          <p:cNvSpPr>
            <a:spLocks xmlns:a="http://schemas.openxmlformats.org/drawingml/2006/main" noGrp="1"/>
          </p:cNvSpPr>
          <p:nvPr/>
        </p:nvSpPr>
        <p:spPr>
          <a:xfrm xmlns:a="http://schemas.openxmlformats.org/drawingml/2006/main">
            <a:off x="6096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Food trends can spread through lifestyle changes, culture, media and new products. A menu claim can attract attention without proving a health or environmental result. Ask who the trend suits and what evidence supports each claim.</a:t>
            </a:r>
          </a:p>
        </p:txBody>
      </p:sp>
      <p:sp>
        <p:nvSpPr>
          <p:cNvPr id="9" name="">
            <a:extLst xmlns:a="http://schemas.openxmlformats.org/drawingml/2006/main">
              <a:ext uri="{FF2B5EF4-FFF2-40B4-BE49-F238E27FC236}">
                <a16:creationId xmlns:a16="http://schemas.microsoft.com/office/drawing/2014/main" id="{4C39BD97-2B13-4081-B451-F4A355A709FF}"/>
              </a:ext>
            </a:extLst>
          </p:cNvPr>
          <p:cNvSpPr>
            <a:spLocks xmlns:a="http://schemas.openxmlformats.org/drawingml/2006/main" noGrp="1"/>
          </p:cNvSpPr>
          <p:nvPr/>
        </p:nvSpPr>
        <p:spPr>
          <a:xfrm xmlns:a="http://schemas.openxmlformats.org/drawingml/2006/main">
            <a:off x="6096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0902FC2-AA14-4F3E-BC37-D60589A22EA7}"/>
              </a:ext>
            </a:extLst>
          </p:cNvPr>
          <p:cNvSpPr>
            <a:spLocks xmlns:a="http://schemas.openxmlformats.org/drawingml/2006/main" noGrp="1"/>
          </p:cNvSpPr>
          <p:nvPr/>
        </p:nvSpPr>
        <p:spPr>
          <a:xfrm xmlns:a="http://schemas.openxmlformats.org/drawingml/2006/main">
            <a:off x="6096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FF79130D-672A-4FA8-9C93-58CB9669E951}"/>
              </a:ext>
            </a:extLst>
          </p:cNvPr>
          <p:cNvSpPr>
            <a:spLocks xmlns:a="http://schemas.openxmlformats.org/drawingml/2006/main" noGrp="1"/>
          </p:cNvSpPr>
          <p:nvPr/>
        </p:nvSpPr>
        <p:spPr>
          <a:xfrm xmlns:a="http://schemas.openxmlformats.org/drawingml/2006/main">
            <a:off x="6096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What evidence would test a menu claim of “local and healthy”?</a:t>
            </a:r>
          </a:p>
        </p:txBody>
      </p:sp>
    </p:spTree>
    <p:extLst>
      <p:ext uri="{BB962C8B-B14F-4D97-AF65-F5344CB8AC3E}">
        <p14:creationId xmlns:p14="http://schemas.microsoft.com/office/powerpoint/2010/main" val="1228418517"/>
      </p:ext>
    </p:extLst>
  </p:cSld>
</p:sld>
</file>

<file path=ppt/slides/slide4.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C94290-FE8D-41B6-A665-1EE15EF38FA7}"/>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E9F13C-1645-47C9-ABB4-359B7F4E821F}"/>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TRENDS</a:t>
            </a:r>
          </a:p>
        </p:txBody>
      </p:sp>
      <p:sp>
        <p:nvSpPr>
          <p:cNvPr id="3" name="">
            <a:extLst xmlns:a="http://schemas.openxmlformats.org/drawingml/2006/main">
              <a:ext uri="{FF2B5EF4-FFF2-40B4-BE49-F238E27FC236}">
                <a16:creationId xmlns:a16="http://schemas.microsoft.com/office/drawing/2014/main" id="{D97ED04E-CFA5-4DD5-A5A8-0AC65145CFDE}"/>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04 / 08</a:t>
            </a:r>
          </a:p>
        </p:txBody>
      </p:sp>
      <p:sp>
        <p:nvSpPr>
          <p:cNvPr id="4" name="">
            <a:extLst xmlns:a="http://schemas.openxmlformats.org/drawingml/2006/main">
              <a:ext uri="{FF2B5EF4-FFF2-40B4-BE49-F238E27FC236}">
                <a16:creationId xmlns:a16="http://schemas.microsoft.com/office/drawing/2014/main" id="{39DD86D5-3258-44A1-AEE1-D9D757B669F9}"/>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2.2  ·  LOCAL PRODUCE, WASTE AND VALUE ADDING</a:t>
            </a:r>
          </a:p>
        </p:txBody>
      </p:sp>
      <p:sp>
        <p:nvSpPr>
          <p:cNvPr id="5" name="">
            <a:extLst xmlns:a="http://schemas.openxmlformats.org/drawingml/2006/main">
              <a:ext uri="{FF2B5EF4-FFF2-40B4-BE49-F238E27FC236}">
                <a16:creationId xmlns:a16="http://schemas.microsoft.com/office/drawing/2014/main" id="{10BE7502-42C1-43A3-8E8C-89D79A62C30D}"/>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72F"/>
                </a:solidFill>
                <a:latin typeface="Arial"/>
                <a:ea typeface="Arial"/>
                <a:cs typeface="Arial"/>
              </a:defRPr>
            </a:pPr>
            <a:r>
              <a:rPr sz="3225" b="1">
                <a:solidFill>
                  <a:srgbClr val="17372F"/>
                </a:solidFill>
                <a:latin typeface="Arial"/>
                <a:ea typeface="Arial"/>
                <a:cs typeface="Arial"/>
              </a:rPr>
              <a:t>Distance is one part of the food pathway</a:t>
            </a:r>
          </a:p>
        </p:txBody>
      </p:sp>
      <p:sp>
        <p:nvSpPr>
          <p:cNvPr id="6" name="">
            <a:extLst xmlns:a="http://schemas.openxmlformats.org/drawingml/2006/main">
              <a:ext uri="{FF2B5EF4-FFF2-40B4-BE49-F238E27FC236}">
                <a16:creationId xmlns:a16="http://schemas.microsoft.com/office/drawing/2014/main" id="{36942308-9765-4606-AE19-73D192AA9798}"/>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a8bb57321724af9"/>
          <a:stretch xmlns:a="http://schemas.openxmlformats.org/drawingml/2006/main"/>
        </p:blipFill>
        <p:spPr>
          <a:xfrm xmlns:a="http://schemas.openxmlformats.org/drawingml/2006/main">
            <a:off x="6096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4E77225-BDF8-4BB9-A32D-B3C91F7DB700}"/>
              </a:ext>
            </a:extLst>
          </p:cNvPr>
          <p:cNvSpPr>
            <a:spLocks xmlns:a="http://schemas.openxmlformats.org/drawingml/2006/main" noGrp="1"/>
          </p:cNvSpPr>
          <p:nvPr/>
        </p:nvSpPr>
        <p:spPr>
          <a:xfrm xmlns:a="http://schemas.openxmlformats.org/drawingml/2006/main">
            <a:off x="81153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“Local” depends on the boundary being used. Food miles describe travel distance, yet production, storage, transport type, packaging and waste also matter. Value adding may use sound surplus food, but extra processing can use resources.</a:t>
            </a:r>
          </a:p>
        </p:txBody>
      </p:sp>
      <p:sp>
        <p:nvSpPr>
          <p:cNvPr id="9" name="">
            <a:extLst xmlns:a="http://schemas.openxmlformats.org/drawingml/2006/main">
              <a:ext uri="{FF2B5EF4-FFF2-40B4-BE49-F238E27FC236}">
                <a16:creationId xmlns:a16="http://schemas.microsoft.com/office/drawing/2014/main" id="{1FC1F83D-77B0-461B-BAD5-7760CBF9AC23}"/>
              </a:ext>
            </a:extLst>
          </p:cNvPr>
          <p:cNvSpPr>
            <a:spLocks xmlns:a="http://schemas.openxmlformats.org/drawingml/2006/main" noGrp="1"/>
          </p:cNvSpPr>
          <p:nvPr/>
        </p:nvSpPr>
        <p:spPr>
          <a:xfrm xmlns:a="http://schemas.openxmlformats.org/drawingml/2006/main">
            <a:off x="81153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EC968D4-D953-4FFA-9030-2AE5DBFDDF17}"/>
              </a:ext>
            </a:extLst>
          </p:cNvPr>
          <p:cNvSpPr>
            <a:spLocks xmlns:a="http://schemas.openxmlformats.org/drawingml/2006/main" noGrp="1"/>
          </p:cNvSpPr>
          <p:nvPr/>
        </p:nvSpPr>
        <p:spPr>
          <a:xfrm xmlns:a="http://schemas.openxmlformats.org/drawingml/2006/main">
            <a:off x="81153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4CF19868-5857-4D10-9C02-2B0722C7375D}"/>
              </a:ext>
            </a:extLst>
          </p:cNvPr>
          <p:cNvSpPr>
            <a:spLocks xmlns:a="http://schemas.openxmlformats.org/drawingml/2006/main" noGrp="1"/>
          </p:cNvSpPr>
          <p:nvPr/>
        </p:nvSpPr>
        <p:spPr>
          <a:xfrm xmlns:a="http://schemas.openxmlformats.org/drawingml/2006/main">
            <a:off x="81153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What else would you compare besides the kilometres travelled?</a:t>
            </a:r>
          </a:p>
        </p:txBody>
      </p:sp>
    </p:spTree>
    <p:extLst>
      <p:ext uri="{BB962C8B-B14F-4D97-AF65-F5344CB8AC3E}">
        <p14:creationId xmlns:p14="http://schemas.microsoft.com/office/powerpoint/2010/main" val="1740140853"/>
      </p:ext>
    </p:extLst>
  </p:cSld>
</p:sld>
</file>

<file path=ppt/slides/slide5.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45BC19A-BABA-46ED-86F0-72B4CC432715}"/>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FFC157-FD0B-4BBD-8DA5-E0C69E00148C}"/>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TRENDS</a:t>
            </a:r>
          </a:p>
        </p:txBody>
      </p:sp>
      <p:sp>
        <p:nvSpPr>
          <p:cNvPr id="3" name="">
            <a:extLst xmlns:a="http://schemas.openxmlformats.org/drawingml/2006/main">
              <a:ext uri="{FF2B5EF4-FFF2-40B4-BE49-F238E27FC236}">
                <a16:creationId xmlns:a16="http://schemas.microsoft.com/office/drawing/2014/main" id="{55B71339-A9B0-4EBD-8F45-95F44327E761}"/>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05 / 08</a:t>
            </a:r>
          </a:p>
        </p:txBody>
      </p:sp>
      <p:sp>
        <p:nvSpPr>
          <p:cNvPr id="4" name="">
            <a:extLst xmlns:a="http://schemas.openxmlformats.org/drawingml/2006/main">
              <a:ext uri="{FF2B5EF4-FFF2-40B4-BE49-F238E27FC236}">
                <a16:creationId xmlns:a16="http://schemas.microsoft.com/office/drawing/2014/main" id="{23236DCE-26D1-4DE6-A795-6F1DA6E66BC5}"/>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2.3  ·  EVALUATE A FOOD TREND</a:t>
            </a:r>
          </a:p>
        </p:txBody>
      </p:sp>
      <p:sp>
        <p:nvSpPr>
          <p:cNvPr id="5" name="">
            <a:extLst xmlns:a="http://schemas.openxmlformats.org/drawingml/2006/main">
              <a:ext uri="{FF2B5EF4-FFF2-40B4-BE49-F238E27FC236}">
                <a16:creationId xmlns:a16="http://schemas.microsoft.com/office/drawing/2014/main" id="{4822220E-C1FC-4426-9066-6400269B3F75}"/>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72F"/>
                </a:solidFill>
                <a:latin typeface="Arial"/>
                <a:ea typeface="Arial"/>
                <a:cs typeface="Arial"/>
              </a:defRPr>
            </a:pPr>
            <a:r>
              <a:rPr sz="3225" b="1">
                <a:solidFill>
                  <a:srgbClr val="17372F"/>
                </a:solidFill>
                <a:latin typeface="Arial"/>
                <a:ea typeface="Arial"/>
                <a:cs typeface="Arial"/>
              </a:rPr>
              <a:t>A good trend judgement names the consumer</a:t>
            </a:r>
          </a:p>
        </p:txBody>
      </p:sp>
      <p:sp>
        <p:nvSpPr>
          <p:cNvPr id="6" name="">
            <a:extLst xmlns:a="http://schemas.openxmlformats.org/drawingml/2006/main">
              <a:ext uri="{FF2B5EF4-FFF2-40B4-BE49-F238E27FC236}">
                <a16:creationId xmlns:a16="http://schemas.microsoft.com/office/drawing/2014/main" id="{A3CF6104-DB1F-4E4F-BB79-E60CF244E775}"/>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46e72e91dba47cb"/>
          <a:stretch xmlns:a="http://schemas.openxmlformats.org/drawingml/2006/main"/>
        </p:blipFill>
        <p:spPr>
          <a:xfrm xmlns:a="http://schemas.openxmlformats.org/drawingml/2006/main">
            <a:off x="45720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1B268D2-2130-4D4F-803D-13EBE53E8451}"/>
              </a:ext>
            </a:extLst>
          </p:cNvPr>
          <p:cNvSpPr>
            <a:spLocks xmlns:a="http://schemas.openxmlformats.org/drawingml/2006/main" noGrp="1"/>
          </p:cNvSpPr>
          <p:nvPr/>
        </p:nvSpPr>
        <p:spPr>
          <a:xfrm xmlns:a="http://schemas.openxmlformats.org/drawingml/2006/main">
            <a:off x="6096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Define the intended consumer and test each claim separately. Compare nutrition information on a fair basis, including per 100 g when serving sizes differ. Then weigh price, access, suitability and possible waste. State what evidence is missing.</a:t>
            </a:r>
          </a:p>
        </p:txBody>
      </p:sp>
      <p:sp>
        <p:nvSpPr>
          <p:cNvPr id="9" name="">
            <a:extLst xmlns:a="http://schemas.openxmlformats.org/drawingml/2006/main">
              <a:ext uri="{FF2B5EF4-FFF2-40B4-BE49-F238E27FC236}">
                <a16:creationId xmlns:a16="http://schemas.microsoft.com/office/drawing/2014/main" id="{4C253C3A-951E-42D2-B22C-71626F90CABF}"/>
              </a:ext>
            </a:extLst>
          </p:cNvPr>
          <p:cNvSpPr>
            <a:spLocks xmlns:a="http://schemas.openxmlformats.org/drawingml/2006/main" noGrp="1"/>
          </p:cNvSpPr>
          <p:nvPr/>
        </p:nvSpPr>
        <p:spPr>
          <a:xfrm xmlns:a="http://schemas.openxmlformats.org/drawingml/2006/main">
            <a:off x="6096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CAF980A-E55C-4DBC-A3A4-32E8C51E72E0}"/>
              </a:ext>
            </a:extLst>
          </p:cNvPr>
          <p:cNvSpPr>
            <a:spLocks xmlns:a="http://schemas.openxmlformats.org/drawingml/2006/main" noGrp="1"/>
          </p:cNvSpPr>
          <p:nvPr/>
        </p:nvSpPr>
        <p:spPr>
          <a:xfrm xmlns:a="http://schemas.openxmlformats.org/drawingml/2006/main">
            <a:off x="6096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0F932754-9AA9-4BFF-BB11-A7A7DB5B6029}"/>
              </a:ext>
            </a:extLst>
          </p:cNvPr>
          <p:cNvSpPr>
            <a:spLocks xmlns:a="http://schemas.openxmlformats.org/drawingml/2006/main" noGrp="1"/>
          </p:cNvSpPr>
          <p:nvPr/>
        </p:nvSpPr>
        <p:spPr>
          <a:xfrm xmlns:a="http://schemas.openxmlformats.org/drawingml/2006/main">
            <a:off x="6096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Who benefits from the trend, and what would change your view?</a:t>
            </a:r>
          </a:p>
        </p:txBody>
      </p:sp>
    </p:spTree>
    <p:extLst>
      <p:ext uri="{BB962C8B-B14F-4D97-AF65-F5344CB8AC3E}">
        <p14:creationId xmlns:p14="http://schemas.microsoft.com/office/powerpoint/2010/main" val="375451505"/>
      </p:ext>
    </p:extLst>
  </p:cSld>
</p:sld>
</file>

<file path=ppt/slides/slide6.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98D1CC-328E-45A1-9865-4782AF25CB7A}"/>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CCB07F-7AFC-4F6C-85CE-3BFCDD1424DA}"/>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TRENDS</a:t>
            </a:r>
          </a:p>
        </p:txBody>
      </p:sp>
      <p:sp>
        <p:nvSpPr>
          <p:cNvPr id="3" name="">
            <a:extLst xmlns:a="http://schemas.openxmlformats.org/drawingml/2006/main">
              <a:ext uri="{FF2B5EF4-FFF2-40B4-BE49-F238E27FC236}">
                <a16:creationId xmlns:a16="http://schemas.microsoft.com/office/drawing/2014/main" id="{02ABFF25-9725-44B2-A56A-E3B8E350EC47}"/>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06 / 08</a:t>
            </a:r>
          </a:p>
        </p:txBody>
      </p:sp>
      <p:sp>
        <p:nvSpPr>
          <p:cNvPr id="4" name="">
            <a:extLst xmlns:a="http://schemas.openxmlformats.org/drawingml/2006/main">
              <a:ext uri="{FF2B5EF4-FFF2-40B4-BE49-F238E27FC236}">
                <a16:creationId xmlns:a16="http://schemas.microsoft.com/office/drawing/2014/main" id="{7DA1B06E-8DC4-4DFD-AAF4-3F4A8911A5D7}"/>
              </a:ext>
            </a:extLst>
          </p:cNvPr>
          <p:cNvSpPr>
            <a:spLocks xmlns:a="http://schemas.openxmlformats.org/drawingml/2006/main" noGrp="1"/>
          </p:cNvSpPr>
          <p:nvPr/>
        </p:nvSpPr>
        <p:spPr>
          <a:xfrm xmlns:a="http://schemas.openxmlformats.org/drawingml/2006/main">
            <a:off x="609600" y="6191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72F"/>
                </a:solidFill>
                <a:latin typeface="Arial"/>
                <a:ea typeface="Arial"/>
                <a:cs typeface="Arial"/>
              </a:defRPr>
            </a:pPr>
            <a:r>
              <a:rPr sz="3450" b="1">
                <a:solidFill>
                  <a:srgbClr val="17372F"/>
                </a:solidFill>
                <a:latin typeface="Arial"/>
                <a:ea typeface="Arial"/>
                <a:cs typeface="Arial"/>
              </a:rPr>
              <a:t>Check what you can explain</a:t>
            </a:r>
          </a:p>
        </p:txBody>
      </p:sp>
      <p:sp>
        <p:nvSpPr>
          <p:cNvPr id="5" name="">
            <a:extLst xmlns:a="http://schemas.openxmlformats.org/drawingml/2006/main">
              <a:ext uri="{FF2B5EF4-FFF2-40B4-BE49-F238E27FC236}">
                <a16:creationId xmlns:a16="http://schemas.microsoft.com/office/drawing/2014/main" id="{8230B825-4FDD-4F49-A48C-4C9C3C2BF3F3}"/>
              </a:ext>
            </a:extLst>
          </p:cNvPr>
          <p:cNvSpPr>
            <a:spLocks xmlns:a="http://schemas.openxmlformats.org/drawingml/2006/main" noGrp="1"/>
          </p:cNvSpPr>
          <p:nvPr/>
        </p:nvSpPr>
        <p:spPr>
          <a:xfrm xmlns:a="http://schemas.openxmlformats.org/drawingml/2006/main">
            <a:off x="609600" y="138112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E6259"/>
                </a:solidFill>
                <a:latin typeface="Arial"/>
                <a:ea typeface="Arial"/>
                <a:cs typeface="Arial"/>
              </a:defRPr>
            </a:pPr>
            <a:r>
              <a:rPr sz="1875" b="0">
                <a:solidFill>
                  <a:srgbClr val="4E6259"/>
                </a:solidFill>
                <a:latin typeface="Arial"/>
                <a:ea typeface="Arial"/>
                <a:cs typeface="Arial"/>
              </a:rPr>
              <a:t>Answer from the learning just shown. Add a reason or example.</a:t>
            </a:r>
          </a:p>
        </p:txBody>
      </p:sp>
      <p:sp>
        <p:nvSpPr>
          <p:cNvPr id="6" name="">
            <a:extLst xmlns:a="http://schemas.openxmlformats.org/drawingml/2006/main">
              <a:ext uri="{FF2B5EF4-FFF2-40B4-BE49-F238E27FC236}">
                <a16:creationId xmlns:a16="http://schemas.microsoft.com/office/drawing/2014/main" id="{678F67C0-004D-42DA-8BE8-5E9F10C7F601}"/>
              </a:ext>
            </a:extLst>
          </p:cNvPr>
          <p:cNvSpPr>
            <a:spLocks xmlns:a="http://schemas.openxmlformats.org/drawingml/2006/main" noGrp="1"/>
          </p:cNvSpPr>
          <p:nvPr/>
        </p:nvSpPr>
        <p:spPr>
          <a:xfrm xmlns:a="http://schemas.openxmlformats.org/drawingml/2006/main">
            <a:off x="609600" y="2028825"/>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6A7C2D4-5859-45E7-A0C2-EB7C243D61CB}"/>
              </a:ext>
            </a:extLst>
          </p:cNvPr>
          <p:cNvSpPr>
            <a:spLocks xmlns:a="http://schemas.openxmlformats.org/drawingml/2006/main" noGrp="1"/>
          </p:cNvSpPr>
          <p:nvPr/>
        </p:nvSpPr>
        <p:spPr>
          <a:xfrm xmlns:a="http://schemas.openxmlformats.org/drawingml/2006/main">
            <a:off x="647700" y="2266950"/>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DF2FB17F-595E-48C5-B6CA-BEC36A1340AB}"/>
              </a:ext>
            </a:extLst>
          </p:cNvPr>
          <p:cNvSpPr>
            <a:spLocks xmlns:a="http://schemas.openxmlformats.org/drawingml/2006/main" noGrp="1"/>
          </p:cNvSpPr>
          <p:nvPr/>
        </p:nvSpPr>
        <p:spPr>
          <a:xfrm xmlns:a="http://schemas.openxmlformats.org/drawingml/2006/main">
            <a:off x="1466850" y="2305050"/>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Why might a food trend spread?</a:t>
            </a:r>
          </a:p>
        </p:txBody>
      </p:sp>
      <p:sp>
        <p:nvSpPr>
          <p:cNvPr id="9" name="">
            <a:extLst xmlns:a="http://schemas.openxmlformats.org/drawingml/2006/main">
              <a:ext uri="{FF2B5EF4-FFF2-40B4-BE49-F238E27FC236}">
                <a16:creationId xmlns:a16="http://schemas.microsoft.com/office/drawing/2014/main" id="{442F0419-E55E-4E5A-BFD0-27C77176905A}"/>
              </a:ext>
            </a:extLst>
          </p:cNvPr>
          <p:cNvSpPr>
            <a:spLocks xmlns:a="http://schemas.openxmlformats.org/drawingml/2006/main" noGrp="1"/>
          </p:cNvSpPr>
          <p:nvPr/>
        </p:nvSpPr>
        <p:spPr>
          <a:xfrm xmlns:a="http://schemas.openxmlformats.org/drawingml/2006/main">
            <a:off x="647700" y="322897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A98909C7-2FEE-4237-81B9-D1A881F42320}"/>
              </a:ext>
            </a:extLst>
          </p:cNvPr>
          <p:cNvSpPr>
            <a:spLocks xmlns:a="http://schemas.openxmlformats.org/drawingml/2006/main" noGrp="1"/>
          </p:cNvSpPr>
          <p:nvPr/>
        </p:nvSpPr>
        <p:spPr>
          <a:xfrm xmlns:a="http://schemas.openxmlformats.org/drawingml/2006/main">
            <a:off x="1466850" y="3267075"/>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Why are food miles alone insufficient?</a:t>
            </a:r>
          </a:p>
        </p:txBody>
      </p:sp>
      <p:sp>
        <p:nvSpPr>
          <p:cNvPr id="11" name="">
            <a:extLst xmlns:a="http://schemas.openxmlformats.org/drawingml/2006/main">
              <a:ext uri="{FF2B5EF4-FFF2-40B4-BE49-F238E27FC236}">
                <a16:creationId xmlns:a16="http://schemas.microsoft.com/office/drawing/2014/main" id="{AAED6856-A332-42CC-82D3-11A409D87284}"/>
              </a:ext>
            </a:extLst>
          </p:cNvPr>
          <p:cNvSpPr>
            <a:spLocks xmlns:a="http://schemas.openxmlformats.org/drawingml/2006/main" noGrp="1"/>
          </p:cNvSpPr>
          <p:nvPr/>
        </p:nvSpPr>
        <p:spPr>
          <a:xfrm xmlns:a="http://schemas.openxmlformats.org/drawingml/2006/main">
            <a:off x="647700" y="4191000"/>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A0693798-5408-45B0-B9D4-C3618A241BAD}"/>
              </a:ext>
            </a:extLst>
          </p:cNvPr>
          <p:cNvSpPr>
            <a:spLocks xmlns:a="http://schemas.openxmlformats.org/drawingml/2006/main" noGrp="1"/>
          </p:cNvSpPr>
          <p:nvPr/>
        </p:nvSpPr>
        <p:spPr>
          <a:xfrm xmlns:a="http://schemas.openxmlformats.org/drawingml/2006/main">
            <a:off x="1466850" y="4229100"/>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How could value adding create a cost as well as a benefit?</a:t>
            </a:r>
          </a:p>
        </p:txBody>
      </p:sp>
      <p:sp>
        <p:nvSpPr>
          <p:cNvPr id="13" name="">
            <a:extLst xmlns:a="http://schemas.openxmlformats.org/drawingml/2006/main">
              <a:ext uri="{FF2B5EF4-FFF2-40B4-BE49-F238E27FC236}">
                <a16:creationId xmlns:a16="http://schemas.microsoft.com/office/drawing/2014/main" id="{089177B5-F6C3-47E7-AD6B-48288786AA6B}"/>
              </a:ext>
            </a:extLst>
          </p:cNvPr>
          <p:cNvSpPr>
            <a:spLocks xmlns:a="http://schemas.openxmlformats.org/drawingml/2006/main" noGrp="1"/>
          </p:cNvSpPr>
          <p:nvPr/>
        </p:nvSpPr>
        <p:spPr>
          <a:xfrm xmlns:a="http://schemas.openxmlformats.org/drawingml/2006/main">
            <a:off x="647700" y="51530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482FFD66-E702-4D34-925C-0DA8B1EBB164}"/>
              </a:ext>
            </a:extLst>
          </p:cNvPr>
          <p:cNvSpPr>
            <a:spLocks xmlns:a="http://schemas.openxmlformats.org/drawingml/2006/main" noGrp="1"/>
          </p:cNvSpPr>
          <p:nvPr/>
        </p:nvSpPr>
        <p:spPr>
          <a:xfrm xmlns:a="http://schemas.openxmlformats.org/drawingml/2006/main">
            <a:off x="1466850" y="5191125"/>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Why compare nutrition information per 100 g when servings differ?</a:t>
            </a:r>
          </a:p>
        </p:txBody>
      </p:sp>
    </p:spTree>
    <p:extLst>
      <p:ext uri="{BB962C8B-B14F-4D97-AF65-F5344CB8AC3E}">
        <p14:creationId xmlns:p14="http://schemas.microsoft.com/office/powerpoint/2010/main" val="1494422352"/>
      </p:ext>
    </p:extLst>
  </p:cSld>
</p:sld>
</file>

<file path=ppt/slides/slide7.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C626FBD-1431-4ED8-9E3E-8AB3E014F590}"/>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180F12-4E7E-4CDA-BEE1-DDF7F5AC7C56}"/>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TRENDS</a:t>
            </a:r>
          </a:p>
        </p:txBody>
      </p:sp>
      <p:sp>
        <p:nvSpPr>
          <p:cNvPr id="3" name="">
            <a:extLst xmlns:a="http://schemas.openxmlformats.org/drawingml/2006/main">
              <a:ext uri="{FF2B5EF4-FFF2-40B4-BE49-F238E27FC236}">
                <a16:creationId xmlns:a16="http://schemas.microsoft.com/office/drawing/2014/main" id="{6AC571B3-5BC0-43CF-8D8C-551C4588173F}"/>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07 / 08</a:t>
            </a:r>
          </a:p>
        </p:txBody>
      </p:sp>
      <p:sp>
        <p:nvSpPr>
          <p:cNvPr id="4" name="">
            <a:extLst xmlns:a="http://schemas.openxmlformats.org/drawingml/2006/main">
              <a:ext uri="{FF2B5EF4-FFF2-40B4-BE49-F238E27FC236}">
                <a16:creationId xmlns:a16="http://schemas.microsoft.com/office/drawing/2014/main" id="{720EA6C6-783A-4CD5-8545-955788CC273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372F"/>
                </a:solidFill>
                <a:latin typeface="Arial"/>
                <a:ea typeface="Arial"/>
                <a:cs typeface="Arial"/>
              </a:defRPr>
            </a:pPr>
            <a:r>
              <a:rPr sz="3375" b="1">
                <a:solidFill>
                  <a:srgbClr val="17372F"/>
                </a:solidFill>
                <a:latin typeface="Arial"/>
                <a:ea typeface="Arial"/>
                <a:cs typeface="Arial"/>
              </a:rPr>
              <a:t>Build a reasoned response</a:t>
            </a:r>
          </a:p>
        </p:txBody>
      </p:sp>
      <p:sp>
        <p:nvSpPr>
          <p:cNvPr id="5" name="">
            <a:extLst xmlns:a="http://schemas.openxmlformats.org/drawingml/2006/main">
              <a:ext uri="{FF2B5EF4-FFF2-40B4-BE49-F238E27FC236}">
                <a16:creationId xmlns:a16="http://schemas.microsoft.com/office/drawing/2014/main" id="{333E4A71-C7A0-4498-95A4-6A31C0E80AC4}"/>
              </a:ext>
            </a:extLst>
          </p:cNvPr>
          <p:cNvSpPr>
            <a:spLocks xmlns:a="http://schemas.openxmlformats.org/drawingml/2006/main" noGrp="1"/>
          </p:cNvSpPr>
          <p:nvPr/>
        </p:nvSpPr>
        <p:spPr>
          <a:xfrm xmlns:a="http://schemas.openxmlformats.org/drawingml/2006/main">
            <a:off x="609600" y="139065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F56490-0949-40FC-854C-A31ABC628BCB}"/>
              </a:ext>
            </a:extLst>
          </p:cNvPr>
          <p:cNvSpPr>
            <a:spLocks xmlns:a="http://schemas.openxmlformats.org/drawingml/2006/main" noGrp="1"/>
          </p:cNvSpPr>
          <p:nvPr/>
        </p:nvSpPr>
        <p:spPr>
          <a:xfrm xmlns:a="http://schemas.openxmlformats.org/drawingml/2006/main">
            <a:off x="609600" y="17145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2B6D24B1-8329-4F19-AE29-5E01A2EB3F19}"/>
              </a:ext>
            </a:extLst>
          </p:cNvPr>
          <p:cNvSpPr>
            <a:spLocks xmlns:a="http://schemas.openxmlformats.org/drawingml/2006/main" noGrp="1"/>
          </p:cNvSpPr>
          <p:nvPr/>
        </p:nvSpPr>
        <p:spPr>
          <a:xfrm xmlns:a="http://schemas.openxmlformats.org/drawingml/2006/main">
            <a:off x="609600" y="2143125"/>
            <a:ext cx="49530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72F"/>
                </a:solidFill>
                <a:latin typeface="Arial"/>
                <a:ea typeface="Arial"/>
                <a:cs typeface="Arial"/>
              </a:defRPr>
            </a:pPr>
            <a:r>
              <a:rPr sz="2250" b="1">
                <a:solidFill>
                  <a:srgbClr val="17372F"/>
                </a:solidFill>
                <a:latin typeface="Arial"/>
                <a:ea typeface="Arial"/>
                <a:cs typeface="Arial"/>
              </a:rPr>
              <a:t>A business promotes a “local, low waste, healthier” snack. Evaluate the claims for one defined group of consumers.</a:t>
            </a:r>
          </a:p>
        </p:txBody>
      </p:sp>
      <p:sp>
        <p:nvSpPr>
          <p:cNvPr id="8" name="">
            <a:extLst xmlns:a="http://schemas.openxmlformats.org/drawingml/2006/main">
              <a:ext uri="{FF2B5EF4-FFF2-40B4-BE49-F238E27FC236}">
                <a16:creationId xmlns:a16="http://schemas.microsoft.com/office/drawing/2014/main" id="{056846DB-5274-4516-85B8-55136AA67497}"/>
              </a:ext>
            </a:extLst>
          </p:cNvPr>
          <p:cNvSpPr>
            <a:spLocks xmlns:a="http://schemas.openxmlformats.org/drawingml/2006/main" noGrp="1"/>
          </p:cNvSpPr>
          <p:nvPr/>
        </p:nvSpPr>
        <p:spPr>
          <a:xfrm xmlns:a="http://schemas.openxmlformats.org/drawingml/2006/main">
            <a:off x="609600" y="45529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BD623E"/>
                </a:solidFill>
                <a:latin typeface="Arial"/>
                <a:ea typeface="Arial"/>
                <a:cs typeface="Arial"/>
              </a:defRPr>
            </a:pPr>
            <a:r>
              <a:rPr sz="1425" b="1">
                <a:solidFill>
                  <a:srgbClr val="BD623E"/>
                </a:solidFill>
                <a:latin typeface="Arial"/>
                <a:ea typeface="Arial"/>
                <a:cs typeface="Arial"/>
              </a:rPr>
              <a:t>Sentence support</a:t>
            </a:r>
          </a:p>
        </p:txBody>
      </p:sp>
      <p:sp>
        <p:nvSpPr>
          <p:cNvPr id="9" name="">
            <a:extLst xmlns:a="http://schemas.openxmlformats.org/drawingml/2006/main">
              <a:ext uri="{FF2B5EF4-FFF2-40B4-BE49-F238E27FC236}">
                <a16:creationId xmlns:a16="http://schemas.microsoft.com/office/drawing/2014/main" id="{11FD49B4-043E-416F-B820-D32843DB410D}"/>
              </a:ext>
            </a:extLst>
          </p:cNvPr>
          <p:cNvSpPr>
            <a:spLocks xmlns:a="http://schemas.openxmlformats.org/drawingml/2006/main" noGrp="1"/>
          </p:cNvSpPr>
          <p:nvPr/>
        </p:nvSpPr>
        <p:spPr>
          <a:xfrm xmlns:a="http://schemas.openxmlformats.org/drawingml/2006/main">
            <a:off x="609600" y="495300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For ___, the snack may be useful because ___. The claim about ___ still needs ___.</a:t>
            </a:r>
          </a:p>
        </p:txBody>
      </p:sp>
      <p:sp>
        <p:nvSpPr>
          <p:cNvPr id="10" name="">
            <a:extLst xmlns:a="http://schemas.openxmlformats.org/drawingml/2006/main">
              <a:ext uri="{FF2B5EF4-FFF2-40B4-BE49-F238E27FC236}">
                <a16:creationId xmlns:a16="http://schemas.microsoft.com/office/drawing/2014/main" id="{FD58A07F-0F9B-4893-83BB-CE89A86ECBD0}"/>
              </a:ext>
            </a:extLst>
          </p:cNvPr>
          <p:cNvSpPr>
            <a:spLocks xmlns:a="http://schemas.openxmlformats.org/drawingml/2006/main" noGrp="1"/>
          </p:cNvSpPr>
          <p:nvPr/>
        </p:nvSpPr>
        <p:spPr>
          <a:xfrm xmlns:a="http://schemas.openxmlformats.org/drawingml/2006/main">
            <a:off x="6048375" y="1685925"/>
            <a:ext cx="28575" cy="4391025"/>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5566D7-95B2-4A57-9589-35FB37DDF038}"/>
              </a:ext>
            </a:extLst>
          </p:cNvPr>
          <p:cNvSpPr>
            <a:spLocks xmlns:a="http://schemas.openxmlformats.org/drawingml/2006/main" noGrp="1"/>
          </p:cNvSpPr>
          <p:nvPr/>
        </p:nvSpPr>
        <p:spPr>
          <a:xfrm xmlns:a="http://schemas.openxmlformats.org/drawingml/2006/main">
            <a:off x="6477000" y="169545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READ</a:t>
            </a:r>
          </a:p>
        </p:txBody>
      </p:sp>
      <p:sp>
        <p:nvSpPr>
          <p:cNvPr id="12" name="">
            <a:extLst xmlns:a="http://schemas.openxmlformats.org/drawingml/2006/main">
              <a:ext uri="{FF2B5EF4-FFF2-40B4-BE49-F238E27FC236}">
                <a16:creationId xmlns:a16="http://schemas.microsoft.com/office/drawing/2014/main" id="{9B4F34AD-6771-42FA-AE14-351426D57EDE}"/>
              </a:ext>
            </a:extLst>
          </p:cNvPr>
          <p:cNvSpPr>
            <a:spLocks xmlns:a="http://schemas.openxmlformats.org/drawingml/2006/main" noGrp="1"/>
          </p:cNvSpPr>
          <p:nvPr/>
        </p:nvSpPr>
        <p:spPr>
          <a:xfrm xmlns:a="http://schemas.openxmlformats.org/drawingml/2006/main">
            <a:off x="6477000" y="204787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Read the three claims as separate statements.</a:t>
            </a:r>
          </a:p>
        </p:txBody>
      </p:sp>
      <p:sp>
        <p:nvSpPr>
          <p:cNvPr id="13" name="">
            <a:extLst xmlns:a="http://schemas.openxmlformats.org/drawingml/2006/main">
              <a:ext uri="{FF2B5EF4-FFF2-40B4-BE49-F238E27FC236}">
                <a16:creationId xmlns:a16="http://schemas.microsoft.com/office/drawing/2014/main" id="{CAB76603-D7AC-44B7-A623-9F7C78BB82EA}"/>
              </a:ext>
            </a:extLst>
          </p:cNvPr>
          <p:cNvSpPr>
            <a:spLocks xmlns:a="http://schemas.openxmlformats.org/drawingml/2006/main" noGrp="1"/>
          </p:cNvSpPr>
          <p:nvPr/>
        </p:nvSpPr>
        <p:spPr>
          <a:xfrm xmlns:a="http://schemas.openxmlformats.org/drawingml/2006/main">
            <a:off x="6477000" y="279082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SELECT</a:t>
            </a:r>
          </a:p>
        </p:txBody>
      </p:sp>
      <p:sp>
        <p:nvSpPr>
          <p:cNvPr id="14" name="">
            <a:extLst xmlns:a="http://schemas.openxmlformats.org/drawingml/2006/main">
              <a:ext uri="{FF2B5EF4-FFF2-40B4-BE49-F238E27FC236}">
                <a16:creationId xmlns:a16="http://schemas.microsoft.com/office/drawing/2014/main" id="{097A78C3-8124-4344-B33C-2E56B4A549B6}"/>
              </a:ext>
            </a:extLst>
          </p:cNvPr>
          <p:cNvSpPr>
            <a:spLocks xmlns:a="http://schemas.openxmlformats.org/drawingml/2006/main" noGrp="1"/>
          </p:cNvSpPr>
          <p:nvPr/>
        </p:nvSpPr>
        <p:spPr>
          <a:xfrm xmlns:a="http://schemas.openxmlformats.org/drawingml/2006/main">
            <a:off x="6477000" y="3143250"/>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Select evidence for origin, waste, nutrition and affordability.</a:t>
            </a:r>
          </a:p>
        </p:txBody>
      </p:sp>
      <p:sp>
        <p:nvSpPr>
          <p:cNvPr id="15" name="">
            <a:extLst xmlns:a="http://schemas.openxmlformats.org/drawingml/2006/main">
              <a:ext uri="{FF2B5EF4-FFF2-40B4-BE49-F238E27FC236}">
                <a16:creationId xmlns:a16="http://schemas.microsoft.com/office/drawing/2014/main" id="{77FD5097-678A-4DF3-87C2-D0ED0560FDA0}"/>
              </a:ext>
            </a:extLst>
          </p:cNvPr>
          <p:cNvSpPr>
            <a:spLocks xmlns:a="http://schemas.openxmlformats.org/drawingml/2006/main" noGrp="1"/>
          </p:cNvSpPr>
          <p:nvPr/>
        </p:nvSpPr>
        <p:spPr>
          <a:xfrm xmlns:a="http://schemas.openxmlformats.org/drawingml/2006/main">
            <a:off x="6477000" y="388620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EXPLAIN</a:t>
            </a:r>
          </a:p>
        </p:txBody>
      </p:sp>
      <p:sp>
        <p:nvSpPr>
          <p:cNvPr id="16" name="">
            <a:extLst xmlns:a="http://schemas.openxmlformats.org/drawingml/2006/main">
              <a:ext uri="{FF2B5EF4-FFF2-40B4-BE49-F238E27FC236}">
                <a16:creationId xmlns:a16="http://schemas.microsoft.com/office/drawing/2014/main" id="{DA2CFE9C-2A5D-4A4F-B88C-400D20ED3C05}"/>
              </a:ext>
            </a:extLst>
          </p:cNvPr>
          <p:cNvSpPr>
            <a:spLocks xmlns:a="http://schemas.openxmlformats.org/drawingml/2006/main" noGrp="1"/>
          </p:cNvSpPr>
          <p:nvPr/>
        </p:nvSpPr>
        <p:spPr>
          <a:xfrm xmlns:a="http://schemas.openxmlformats.org/drawingml/2006/main">
            <a:off x="6477000" y="423862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Explain a benefit and a trade-off for your consumer group.</a:t>
            </a:r>
          </a:p>
        </p:txBody>
      </p:sp>
      <p:sp>
        <p:nvSpPr>
          <p:cNvPr id="17" name="">
            <a:extLst xmlns:a="http://schemas.openxmlformats.org/drawingml/2006/main">
              <a:ext uri="{FF2B5EF4-FFF2-40B4-BE49-F238E27FC236}">
                <a16:creationId xmlns:a16="http://schemas.microsoft.com/office/drawing/2014/main" id="{28953B2A-7B74-4D40-84E7-931239293544}"/>
              </a:ext>
            </a:extLst>
          </p:cNvPr>
          <p:cNvSpPr>
            <a:spLocks xmlns:a="http://schemas.openxmlformats.org/drawingml/2006/main" noGrp="1"/>
          </p:cNvSpPr>
          <p:nvPr/>
        </p:nvSpPr>
        <p:spPr>
          <a:xfrm xmlns:a="http://schemas.openxmlformats.org/drawingml/2006/main">
            <a:off x="6477000" y="498157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CHECK</a:t>
            </a:r>
          </a:p>
        </p:txBody>
      </p:sp>
      <p:sp>
        <p:nvSpPr>
          <p:cNvPr id="18" name="">
            <a:extLst xmlns:a="http://schemas.openxmlformats.org/drawingml/2006/main">
              <a:ext uri="{FF2B5EF4-FFF2-40B4-BE49-F238E27FC236}">
                <a16:creationId xmlns:a16="http://schemas.microsoft.com/office/drawing/2014/main" id="{02600355-B3F6-41E0-886B-AA630F65A7B6}"/>
              </a:ext>
            </a:extLst>
          </p:cNvPr>
          <p:cNvSpPr>
            <a:spLocks xmlns:a="http://schemas.openxmlformats.org/drawingml/2006/main" noGrp="1"/>
          </p:cNvSpPr>
          <p:nvPr/>
        </p:nvSpPr>
        <p:spPr>
          <a:xfrm xmlns:a="http://schemas.openxmlformats.org/drawingml/2006/main">
            <a:off x="6477000" y="5334000"/>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Check what cannot yet be concluded.</a:t>
            </a:r>
          </a:p>
        </p:txBody>
      </p:sp>
    </p:spTree>
    <p:extLst>
      <p:ext uri="{BB962C8B-B14F-4D97-AF65-F5344CB8AC3E}">
        <p14:creationId xmlns:p14="http://schemas.microsoft.com/office/powerpoint/2010/main" val="1509649196"/>
      </p:ext>
    </p:extLst>
  </p:cSld>
</p:sld>
</file>

<file path=ppt/slides/slide8.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B1775F-F480-45B1-85B7-B5DF18DF0894}"/>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EFED07-1BBB-4030-9837-E7CA9C1E16B9}"/>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TRENDS</a:t>
            </a:r>
          </a:p>
        </p:txBody>
      </p:sp>
      <p:sp>
        <p:nvSpPr>
          <p:cNvPr id="3" name="">
            <a:extLst xmlns:a="http://schemas.openxmlformats.org/drawingml/2006/main">
              <a:ext uri="{FF2B5EF4-FFF2-40B4-BE49-F238E27FC236}">
                <a16:creationId xmlns:a16="http://schemas.microsoft.com/office/drawing/2014/main" id="{2DD820D6-7C97-47D4-B363-E4E390DA5000}"/>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08 / 08</a:t>
            </a:r>
          </a:p>
        </p:txBody>
      </p:sp>
      <p:sp>
        <p:nvSpPr>
          <p:cNvPr id="4" name="">
            <a:extLst xmlns:a="http://schemas.openxmlformats.org/drawingml/2006/main">
              <a:ext uri="{FF2B5EF4-FFF2-40B4-BE49-F238E27FC236}">
                <a16:creationId xmlns:a16="http://schemas.microsoft.com/office/drawing/2014/main" id="{EF019DDE-A877-4A02-9F4E-33945313B47A}"/>
              </a:ext>
            </a:extLst>
          </p:cNvPr>
          <p:cNvSpPr>
            <a:spLocks xmlns:a="http://schemas.openxmlformats.org/drawingml/2006/main" noGrp="1"/>
          </p:cNvSpPr>
          <p:nvPr/>
        </p:nvSpPr>
        <p:spPr>
          <a:xfrm xmlns:a="http://schemas.openxmlformats.org/drawingml/2006/main">
            <a:off x="609600" y="5619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FFDF8"/>
                </a:solidFill>
                <a:latin typeface="Arial"/>
                <a:ea typeface="Arial"/>
                <a:cs typeface="Arial"/>
              </a:defRPr>
            </a:pPr>
            <a:r>
              <a:rPr sz="3750" b="1">
                <a:solidFill>
                  <a:srgbClr val="FFFDF8"/>
                </a:solidFill>
                <a:latin typeface="Arial"/>
                <a:ea typeface="Arial"/>
                <a:cs typeface="Arial"/>
              </a:rPr>
              <a:t>Exit evidence</a:t>
            </a:r>
          </a:p>
        </p:txBody>
      </p:sp>
      <p:sp>
        <p:nvSpPr>
          <p:cNvPr id="5" name="">
            <a:extLst xmlns:a="http://schemas.openxmlformats.org/drawingml/2006/main">
              <a:ext uri="{FF2B5EF4-FFF2-40B4-BE49-F238E27FC236}">
                <a16:creationId xmlns:a16="http://schemas.microsoft.com/office/drawing/2014/main" id="{F006E0A5-72C1-4E7B-B8C5-8A59E288D46A}"/>
              </a:ext>
            </a:extLst>
          </p:cNvPr>
          <p:cNvSpPr>
            <a:spLocks xmlns:a="http://schemas.openxmlformats.org/drawingml/2006/main" noGrp="1"/>
          </p:cNvSpPr>
          <p:nvPr/>
        </p:nvSpPr>
        <p:spPr>
          <a:xfrm xmlns:a="http://schemas.openxmlformats.org/drawingml/2006/main">
            <a:off x="609600" y="14192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4EEE7"/>
                </a:solidFill>
                <a:latin typeface="Arial"/>
                <a:ea typeface="Arial"/>
                <a:cs typeface="Arial"/>
              </a:defRPr>
            </a:pPr>
            <a:r>
              <a:rPr sz="1950" b="0">
                <a:solidFill>
                  <a:srgbClr val="E4EEE7"/>
                </a:solidFill>
                <a:latin typeface="Arial"/>
                <a:ea typeface="Arial"/>
                <a:cs typeface="Arial"/>
              </a:rPr>
              <a:t>Before you leave, write:</a:t>
            </a:r>
          </a:p>
        </p:txBody>
      </p:sp>
      <p:sp>
        <p:nvSpPr>
          <p:cNvPr id="6" name="">
            <a:extLst xmlns:a="http://schemas.openxmlformats.org/drawingml/2006/main">
              <a:ext uri="{FF2B5EF4-FFF2-40B4-BE49-F238E27FC236}">
                <a16:creationId xmlns:a16="http://schemas.microsoft.com/office/drawing/2014/main" id="{75D62838-CE9A-4EBD-AEF7-86C55AD5E360}"/>
              </a:ext>
            </a:extLst>
          </p:cNvPr>
          <p:cNvSpPr>
            <a:spLocks xmlns:a="http://schemas.openxmlformats.org/drawingml/2006/main" noGrp="1"/>
          </p:cNvSpPr>
          <p:nvPr/>
        </p:nvSpPr>
        <p:spPr>
          <a:xfrm xmlns:a="http://schemas.openxmlformats.org/drawingml/2006/main">
            <a:off x="647700" y="21621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3FD4FE4-8F13-4B15-A472-6EBE6300EA3A}"/>
              </a:ext>
            </a:extLst>
          </p:cNvPr>
          <p:cNvSpPr>
            <a:spLocks xmlns:a="http://schemas.openxmlformats.org/drawingml/2006/main" noGrp="1"/>
          </p:cNvSpPr>
          <p:nvPr/>
        </p:nvSpPr>
        <p:spPr>
          <a:xfrm xmlns:a="http://schemas.openxmlformats.org/drawingml/2006/main">
            <a:off x="1571625" y="2238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reason a trend may spread</a:t>
            </a:r>
          </a:p>
        </p:txBody>
      </p:sp>
      <p:sp>
        <p:nvSpPr>
          <p:cNvPr id="8" name="">
            <a:extLst xmlns:a="http://schemas.openxmlformats.org/drawingml/2006/main">
              <a:ext uri="{FF2B5EF4-FFF2-40B4-BE49-F238E27FC236}">
                <a16:creationId xmlns:a16="http://schemas.microsoft.com/office/drawing/2014/main" id="{106151AF-CDCA-4D10-A3E1-B3BE6299FD42}"/>
              </a:ext>
            </a:extLst>
          </p:cNvPr>
          <p:cNvSpPr>
            <a:spLocks xmlns:a="http://schemas.openxmlformats.org/drawingml/2006/main" noGrp="1"/>
          </p:cNvSpPr>
          <p:nvPr/>
        </p:nvSpPr>
        <p:spPr>
          <a:xfrm xmlns:a="http://schemas.openxmlformats.org/drawingml/2006/main">
            <a:off x="647700" y="31527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B915733-9C0F-4E2A-A4D3-2205CDCF5FF0}"/>
              </a:ext>
            </a:extLst>
          </p:cNvPr>
          <p:cNvSpPr>
            <a:spLocks xmlns:a="http://schemas.openxmlformats.org/drawingml/2006/main" noGrp="1"/>
          </p:cNvSpPr>
          <p:nvPr/>
        </p:nvSpPr>
        <p:spPr>
          <a:xfrm xmlns:a="http://schemas.openxmlformats.org/drawingml/2006/main">
            <a:off x="1571625" y="32289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claim I could test</a:t>
            </a:r>
          </a:p>
        </p:txBody>
      </p:sp>
      <p:sp>
        <p:nvSpPr>
          <p:cNvPr id="10" name="">
            <a:extLst xmlns:a="http://schemas.openxmlformats.org/drawingml/2006/main">
              <a:ext uri="{FF2B5EF4-FFF2-40B4-BE49-F238E27FC236}">
                <a16:creationId xmlns:a16="http://schemas.microsoft.com/office/drawing/2014/main" id="{21C93B28-C4B0-43E2-ADE2-CB031FC85FDC}"/>
              </a:ext>
            </a:extLst>
          </p:cNvPr>
          <p:cNvSpPr>
            <a:spLocks xmlns:a="http://schemas.openxmlformats.org/drawingml/2006/main" noGrp="1"/>
          </p:cNvSpPr>
          <p:nvPr/>
        </p:nvSpPr>
        <p:spPr>
          <a:xfrm xmlns:a="http://schemas.openxmlformats.org/drawingml/2006/main">
            <a:off x="647700" y="41433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6AEB89C-A9E1-48C5-A029-61E8E398CE6C}"/>
              </a:ext>
            </a:extLst>
          </p:cNvPr>
          <p:cNvSpPr>
            <a:spLocks xmlns:a="http://schemas.openxmlformats.org/drawingml/2006/main" noGrp="1"/>
          </p:cNvSpPr>
          <p:nvPr/>
        </p:nvSpPr>
        <p:spPr>
          <a:xfrm xmlns:a="http://schemas.openxmlformats.org/drawingml/2006/main">
            <a:off x="1571625" y="42195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trade-off I would include</a:t>
            </a:r>
          </a:p>
        </p:txBody>
      </p:sp>
      <p:sp>
        <p:nvSpPr>
          <p:cNvPr id="12" name="">
            <a:extLst xmlns:a="http://schemas.openxmlformats.org/drawingml/2006/main">
              <a:ext uri="{FF2B5EF4-FFF2-40B4-BE49-F238E27FC236}">
                <a16:creationId xmlns:a16="http://schemas.microsoft.com/office/drawing/2014/main" id="{1FE6F74F-0895-4CC9-9A16-01AB0C9294D0}"/>
              </a:ext>
            </a:extLst>
          </p:cNvPr>
          <p:cNvSpPr>
            <a:spLocks xmlns:a="http://schemas.openxmlformats.org/drawingml/2006/main" noGrp="1"/>
          </p:cNvSpPr>
          <p:nvPr/>
        </p:nvSpPr>
        <p:spPr>
          <a:xfrm xmlns:a="http://schemas.openxmlformats.org/drawingml/2006/main">
            <a:off x="609600" y="5314950"/>
            <a:ext cx="10972800" cy="19050"/>
          </a:xfrm>
          <a:prstGeom xmlns:a="http://schemas.openxmlformats.org/drawingml/2006/main" prst="rect">
            <a:avLst/>
          </a:prstGeom>
          <a:solidFill xmlns:a="http://schemas.openxmlformats.org/drawingml/2006/main">
            <a:srgbClr val="77A7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13B87D8-D274-4D67-9D1A-0F6BEAAE8295}"/>
              </a:ext>
            </a:extLst>
          </p:cNvPr>
          <p:cNvSpPr>
            <a:spLocks xmlns:a="http://schemas.openxmlformats.org/drawingml/2006/main" noGrp="1"/>
          </p:cNvSpPr>
          <p:nvPr/>
        </p:nvSpPr>
        <p:spPr>
          <a:xfrm xmlns:a="http://schemas.openxmlformats.org/drawingml/2006/main">
            <a:off x="609600" y="5534025"/>
            <a:ext cx="1062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DF8"/>
                </a:solidFill>
                <a:latin typeface="Arial"/>
                <a:ea typeface="Arial"/>
                <a:cs typeface="Arial"/>
              </a:defRPr>
            </a:pPr>
            <a:r>
              <a:rPr sz="1875" b="0">
                <a:solidFill>
                  <a:srgbClr val="FFFDF8"/>
                </a:solidFill>
                <a:latin typeface="Arial"/>
                <a:ea typeface="Arial"/>
                <a:cs typeface="Arial"/>
              </a:rPr>
              <a:t>Save your written response in this module’s learning package. Export My folio for a backup. Check Google Classroom for live teacher instructions.</a:t>
            </a:r>
          </a:p>
        </p:txBody>
      </p:sp>
    </p:spTree>
    <p:extLst>
      <p:ext uri="{BB962C8B-B14F-4D97-AF65-F5344CB8AC3E}">
        <p14:creationId xmlns:p14="http://schemas.microsoft.com/office/powerpoint/2010/main" val="1085460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2026-09-24T11:54:27.2370000Z</dcterms:created>
  <dcterms:modified xsi:type="dcterms:W3CDTF">2026-09-24T11:54:27.2370000Z</dcterms:modified>
</coreProperties>
</file>