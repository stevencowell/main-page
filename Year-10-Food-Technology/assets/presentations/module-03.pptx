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bec7c9377e41a4" /><Relationship Type="http://schemas.openxmlformats.org/officeDocument/2006/relationships/extended-properties" Target="/docProps/app.xml" Id="R7788747663f34f7d" /><Relationship Type="http://schemas.openxmlformats.org/officeDocument/2006/relationships/officeDocument" Target="/ppt/presentation.xml" Id="Rc7833a66644249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b3aa999eb74a9a"/>
  </p:sldMasterIdLst>
  <p:notesMasterIdLst>
    <p:notesMasterId xmlns:r="http://schemas.openxmlformats.org/officeDocument/2006/relationships" r:id="Rc1178b5790ba43be"/>
  </p:notesMasterIdLst>
  <p:sldIdLst>
    <p:sldId xmlns:r="http://schemas.openxmlformats.org/officeDocument/2006/relationships" id="256" r:id="Rb0b08b33a3234094"/>
    <p:sldId xmlns:r="http://schemas.openxmlformats.org/officeDocument/2006/relationships" id="257" r:id="R348a0dfaa5a14073"/>
    <p:sldId xmlns:r="http://schemas.openxmlformats.org/officeDocument/2006/relationships" id="258" r:id="R4ca81122827e49f9"/>
    <p:sldId xmlns:r="http://schemas.openxmlformats.org/officeDocument/2006/relationships" id="259" r:id="R781463e1027f4533"/>
    <p:sldId xmlns:r="http://schemas.openxmlformats.org/officeDocument/2006/relationships" id="260" r:id="R207cf374adf44a1f"/>
    <p:sldId xmlns:r="http://schemas.openxmlformats.org/officeDocument/2006/relationships" id="261" r:id="R26f93fd50b494951"/>
    <p:sldId xmlns:r="http://schemas.openxmlformats.org/officeDocument/2006/relationships" id="262" r:id="Rb6a2382a23ef4ba8"/>
    <p:sldId xmlns:r="http://schemas.openxmlformats.org/officeDocument/2006/relationships" id="263" r:id="R49df4ade25c84a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5a52260636464e" /><Relationship Type="http://schemas.openxmlformats.org/officeDocument/2006/relationships/slideMaster" Target="/ppt/slideMasters/slideMaster1.xml" Id="Rf4b3aa999eb74a9a" /><Relationship Type="http://schemas.openxmlformats.org/officeDocument/2006/relationships/notesMaster" Target="/ppt/notesMasters/notesMaster1.xml" Id="Rc1178b5790ba43be" /><Relationship Type="http://schemas.openxmlformats.org/officeDocument/2006/relationships/presProps" Target="/ppt/presProps.xml" Id="R3cf75901737f4574" /><Relationship Type="http://schemas.openxmlformats.org/officeDocument/2006/relationships/tableStyles" Target="/ppt/tableStyles.xml" Id="R8904a644f21046b8" /><Relationship Type="http://schemas.openxmlformats.org/officeDocument/2006/relationships/slide" Target="/ppt/slides/slide1.xml" Id="Rb0b08b33a3234094" /><Relationship Type="http://schemas.openxmlformats.org/officeDocument/2006/relationships/slide" Target="/ppt/slides/slide2.xml" Id="R348a0dfaa5a14073" /><Relationship Type="http://schemas.openxmlformats.org/officeDocument/2006/relationships/slide" Target="/ppt/slides/slide3.xml" Id="R4ca81122827e49f9" /><Relationship Type="http://schemas.openxmlformats.org/officeDocument/2006/relationships/slide" Target="/ppt/slides/slide4.xml" Id="R781463e1027f4533" /><Relationship Type="http://schemas.openxmlformats.org/officeDocument/2006/relationships/slide" Target="/ppt/slides/slide5.xml" Id="R207cf374adf44a1f" /><Relationship Type="http://schemas.openxmlformats.org/officeDocument/2006/relationships/slide" Target="/ppt/slides/slide6.xml" Id="R26f93fd50b494951" /><Relationship Type="http://schemas.openxmlformats.org/officeDocument/2006/relationships/slide" Target="/ppt/slides/slide7.xml" Id="Rb6a2382a23ef4ba8" /><Relationship Type="http://schemas.openxmlformats.org/officeDocument/2006/relationships/slide" Target="/ppt/slides/slide8.xml" Id="R49df4ade25c84a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bc7676743647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dd9beae0134a84" /><Relationship Type="http://schemas.openxmlformats.org/officeDocument/2006/relationships/notesMaster" Target="/ppt/notesMasters/notesMaster1.xml" Id="Rf5a32dd269b14f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b3f3c17df5437c" /><Relationship Type="http://schemas.openxmlformats.org/officeDocument/2006/relationships/notesMaster" Target="/ppt/notesMasters/notesMaster1.xml" Id="R91c8ed82a1bd4b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4238c6578a48bf" /><Relationship Type="http://schemas.openxmlformats.org/officeDocument/2006/relationships/notesMaster" Target="/ppt/notesMasters/notesMaster1.xml" Id="R05b965032ef944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a041ca8585461c" /><Relationship Type="http://schemas.openxmlformats.org/officeDocument/2006/relationships/notesMaster" Target="/ppt/notesMasters/notesMaster1.xml" Id="R26d8a22c97a146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49a017fbd24edd" /><Relationship Type="http://schemas.openxmlformats.org/officeDocument/2006/relationships/notesMaster" Target="/ppt/notesMasters/notesMaster1.xml" Id="Rc8edb2caced0433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f691fd56714c02" /><Relationship Type="http://schemas.openxmlformats.org/officeDocument/2006/relationships/notesMaster" Target="/ppt/notesMasters/notesMaster1.xml" Id="Rb75ab313ddb646c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8adc07d3b64195" /><Relationship Type="http://schemas.openxmlformats.org/officeDocument/2006/relationships/notesMaster" Target="/ppt/notesMasters/notesMaster1.xml" Id="Rf7ff959e75254fa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8cee34556142b1" /><Relationship Type="http://schemas.openxmlformats.org/officeDocument/2006/relationships/notesMaster" Target="/ppt/notesMasters/notesMaster1.xml" Id="R3dcb9a2f7bd944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Explain the significance of occasion food and justify a menu against a brief.</a:t>
            </a:r>
          </a:p>
          <a:p xmlns:a="http://schemas.openxmlformats.org/drawingml/2006/main">
            <a:r>
              <a:t>Teacher talking point: Introduce the term focus area and ask students what evidence they would need before making a judgement.</a:t>
            </a:r>
          </a:p>
          <a:p xmlns:a="http://schemas.openxmlformats.org/drawingml/2006/main">
            <a:r>
              <a:t>The original photograph is an illustrative teaching image, not a record of this class or a set practical.</a:t>
            </a:r>
          </a:p>
          <a:p xmlns:a="http://schemas.openxmlformats.org/drawingml/2006/main">
            <a:r>
              <a:t>Source boundary: year-10-food-technology-2026-source-map-v1; NESA Food Technology 7–10 Syllabus (2019). Live tasks and due dates remain in Google Classroom.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Route through the three named sections: Food, identity and significance; Celebrations across time and place; Plan for an occasion.</a:t>
            </a:r>
          </a:p>
          <a:p xmlns:a="http://schemas.openxmlformats.org/drawingml/2006/main">
            <a:r>
              <a:t>Retrieval prompt: Can one dish have different meanings for two people at the same celebration?</a:t>
            </a:r>
          </a:p>
          <a:p xmlns:a="http://schemas.openxmlformats.org/drawingml/2006/main">
            <a:r>
              <a:t>Listen for students treating a visible product or photograph as complete evidence; ask what it does and does not show.</a:t>
            </a:r>
          </a:p>
          <a:p xmlns:a="http://schemas.openxmlformats.org/drawingml/2006/main">
            <a:r>
              <a:t>Sources: https://classroom.google.com/w/ODQxODU0NzM4OTcw/t/all; https://www.nsw.gov.au/education-and-training/nesa/curriculum/tas/food-technology-7-10-2019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area: Food, identity and significance.</a:t>
            </a:r>
          </a:p>
          <a:p xmlns:a="http://schemas.openxmlformats.org/drawingml/2006/main">
            <a:r>
              <a:t>Talking points: Food can connect people to memory, place and an occasion. The same dish can mean different things to different guests. Ask the people involved rather than assuming one ingredient has a fixed cultural meaning.</a:t>
            </a:r>
          </a:p>
          <a:p xmlns:a="http://schemas.openxmlformats.org/drawingml/2006/main">
            <a:r>
              <a:t>Worked example from the approved source: At a family reunion, a shared dish may matter because relatives associate it with a grandparent. The explanation should name that family connection; it should not claim the dish means the same thing to everyone from the family's cultural background.</a:t>
            </a:r>
          </a:p>
          <a:p xmlns:a="http://schemas.openxmlformats.org/drawingml/2006/main">
            <a:r>
              <a:t>Ask: Whose account would help explain why a dish matters?</a:t>
            </a:r>
          </a:p>
          <a:p xmlns:a="http://schemas.openxmlformats.org/drawingml/2006/main">
            <a:r>
              <a:t>Likely misconception: Everyone from one background gives a food the same meaning.</a:t>
            </a:r>
          </a:p>
          <a:p xmlns:a="http://schemas.openxmlformats.org/drawingml/2006/main">
            <a:r>
              <a:t>Visual: original authored diagram module-03-section-1.svg. Purpose: Help students discuss the significance of food without stereotyping a culture or person. Exception: A relationship diagram shows simultaneous personal meanings while avoiding fabricated cultural imagery or attribution.</a:t>
            </a:r>
          </a:p>
          <a:p xmlns:a="http://schemas.openxmlformats.org/drawingml/2006/main">
            <a:r>
              <a:t>Sources: https://classroom.google.com/w/ODQxODU0NzM4OTcw/t/all ; https://docs.google.com/presentation/d/1F5tWdHRnwj6Lyp9yJlimJKvDqyUaASmKsvpPUWhNv6U/edit ; https://www.nsw.gov.au/education-and-training/nesa/curriculum/tas/food-technology-7-10-2019</a:t>
            </a:r>
          </a:p>
          <a:p xmlns:a="http://schemas.openxmlformats.org/drawingml/2006/main">
            <a:r>
              <a:t>Practical, recipe and assessment directions are controlled by the teacher and live Classroom posts.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area: Celebrations across time and place.</a:t>
            </a:r>
          </a:p>
          <a:p xmlns:a="http://schemas.openxmlformats.org/drawingml/2006/main">
            <a:r>
              <a:t>Talking points: A celebration food may change with location, available ingredients or family preferences while retaining a familiar purpose. Compare the same questions across two contexts: who attends, why it matters, what is served and what changed.</a:t>
            </a:r>
          </a:p>
          <a:p xmlns:a="http://schemas.openxmlformats.org/drawingml/2006/main">
            <a:r>
              <a:t>Worked example from the approved source: A family now living in NSW might use a locally available ingredient in a dish linked to a yearly gathering. Compare the current choice with a family account of an earlier version: identify what changed, what meaning stayed and what remains uncertain.</a:t>
            </a:r>
          </a:p>
          <a:p xmlns:a="http://schemas.openxmlformats.org/drawingml/2006/main">
            <a:r>
              <a:t>Ask: Which comparison needs a source rather than a guess?</a:t>
            </a:r>
          </a:p>
          <a:p xmlns:a="http://schemas.openxmlformats.org/drawingml/2006/main">
            <a:r>
              <a:t>Likely misconception: A changed ingredient means a tradition has lost its meaning.</a:t>
            </a:r>
          </a:p>
          <a:p xmlns:a="http://schemas.openxmlformats.org/drawingml/2006/main">
            <a:r>
              <a:t>Visual: original authored diagram module-03-section-2.svg. Purpose: Give students a respectful comparison method for celebrations across time and place. Exception: A two-context comparison matrix makes like-for-like questions explicit without invented cultural specifics.</a:t>
            </a:r>
          </a:p>
          <a:p xmlns:a="http://schemas.openxmlformats.org/drawingml/2006/main">
            <a:r>
              <a:t>Sources: https://docs.google.com/presentation/d/1Fx7HP9oMb_cXUpWrn9EMeiObqpbxsXQJK_HkYnV7fgg/edit ; https://docs.google.com/presentation/d/1VnzbmREjYv-K1F43LvhD164jetsDdUb_DkWl5JOapvY/edit ; https://docs.google.com/presentation/d/1X8vdTHYeN5H_DPLzqprPpD9piLguBmXMUE9prHGxDkg/edit ; https://www.nsw.gov.au/education-and-training/nesa/curriculum/tas/food-technology-7-10-2019</a:t>
            </a:r>
          </a:p>
          <a:p xmlns:a="http://schemas.openxmlformats.org/drawingml/2006/main">
            <a:r>
              <a:t>Practical, recipe and assessment directions are controlled by the teacher and live Classroom posts.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area: Plan for an occasion.</a:t>
            </a:r>
          </a:p>
          <a:p xmlns:a="http://schemas.openxmlformats.org/drawingml/2006/main">
            <a:r>
              <a:t>Talking points: A menu should fit the guests, the purpose and the service setting. Check dietary needs, available resources and how food information will be communicated. Justify a choice against the brief, and name the trade-off it creates.</a:t>
            </a:r>
          </a:p>
          <a:p xmlns:a="http://schemas.openxmlformats.org/drawingml/2006/main">
            <a:r>
              <a:t>Worked example from the approved source: For a community afternoon event, a planner compares two hypothetical menus against guest information, available resources and desired atmosphere. A shorter menu might be selected if the team can serve it more reliably and offer clearer dietary information.</a:t>
            </a:r>
          </a:p>
          <a:p xmlns:a="http://schemas.openxmlformats.org/drawingml/2006/main">
            <a:r>
              <a:t>Ask: What would make a shorter menu a better choice for some events?</a:t>
            </a:r>
          </a:p>
          <a:p xmlns:a="http://schemas.openxmlformats.org/drawingml/2006/main">
            <a:r>
              <a:t>Likely misconception: A larger menu is automatically more suitable.</a:t>
            </a:r>
          </a:p>
          <a:p xmlns:a="http://schemas.openxmlformats.org/drawingml/2006/main">
            <a:r>
              <a:t>Visual: original authored diagram module-03-section-3.svg. Purpose: Scaffold a reasoned occasion plan without inventing the class practical or assessment brief. Exception: Exact dependency and revision path is a planning relationship that photography cannot show without implying an approved menu.</a:t>
            </a:r>
          </a:p>
          <a:p xmlns:a="http://schemas.openxmlformats.org/drawingml/2006/main">
            <a:r>
              <a:t>Sources: https://www.nsw.gov.au/education-and-training/nesa/curriculum/tas/food-technology-7-10-2019 ; https://www.foodauthority.nsw.gov.au/consumer/food-allergies/living-food-allergy/eating-out ; https://www.foodauthority.nsw.gov.au/industry/food-allergen-rules ; https://classroom.google.com/w/ODQxODU0NzM4OTcw/t/all</a:t>
            </a:r>
          </a:p>
          <a:p xmlns:a="http://schemas.openxmlformats.org/drawingml/2006/main">
            <a:r>
              <a:t>Practical, recipe and assessment directions are controlled by the teacher and live Classroom posts.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for retrieval before showing or discussing answers. Invite a short explanation, not just a keyword.</a:t>
            </a:r>
          </a:p>
          <a:p xmlns:a="http://schemas.openxmlformats.org/drawingml/2006/main">
            <a:r>
              <a:t>Question prompts: Why can the same dish hold different meanings? | What might change when a celebration moves place? | Name two details a menu brief should establish. | Why must a menu choice include a trade-off?</a:t>
            </a:r>
          </a:p>
          <a:p xmlns:a="http://schemas.openxmlformats.org/drawingml/2006/main">
            <a:r>
              <a:t>If an answer depends on a local recipe, due date or practical procedure, return to the source boundary and check the teacher's current Classroom instructions.</a:t>
            </a:r>
          </a:p>
          <a:p xmlns:a="http://schemas.openxmlformats.org/drawingml/2006/main">
            <a:r>
              <a:t>Source: year-10-food-technology-2026-source-map-v1.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Guide a short written response. Ask students to use course theory and state limits.</a:t>
            </a:r>
          </a:p>
          <a:p xmlns:a="http://schemas.openxmlformats.org/drawingml/2006/main">
            <a:r>
              <a:t>Prompt: Plan a menu approach for a hypothetical community occasion with a mixed group of guests.</a:t>
            </a:r>
          </a:p>
          <a:p xmlns:a="http://schemas.openxmlformats.org/drawingml/2006/main">
            <a:r>
              <a:t>Scaffold: Read the occasion brief and identify the people involved. / Select evidence about guest needs, resources and service. / Explain a menu approach and one trade-off. / Check that food information and uncertainty are clear.</a:t>
            </a:r>
          </a:p>
          <a:p xmlns:a="http://schemas.openxmlformats.org/drawingml/2006/main">
            <a:r>
              <a:t>Model one sentence only; leave the judgement to students.</a:t>
            </a:r>
          </a:p>
          <a:p xmlns:a="http://schemas.openxmlformats.org/drawingml/2006/main">
            <a:r>
              <a:t>Source: matching section theory in this module and https://www.nsw.gov.au/education-and-training/nesa/curriculum/tas/food-technology-7-10-2019.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 ticket: One question to ask the people involved; One menu criterion from the brief; One trade-off I can explain.</a:t>
            </a:r>
          </a:p>
          <a:p xmlns:a="http://schemas.openxmlformats.org/drawingml/2006/main">
            <a:r>
              <a:t>Evidence destination: the module learning packages on the local course site. These save on this device; My folio provides an export backup. Google Classroom remains the authority for any live teacher task, due date or submission.</a:t>
            </a:r>
          </a:p>
          <a:p xmlns:a="http://schemas.openxmlformats.org/drawingml/2006/main">
            <a:r>
              <a:t>Transition: Ask students to identify the next evidence gap before moving to the following module.</a:t>
            </a:r>
          </a:p>
          <a:p xmlns:a="http://schemas.openxmlformats.org/drawingml/2006/main">
            <a:r>
              <a:t>Source boundary: year-10-food-technology-2026-source-map-v1.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ddf92d60247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5cd4b72de4a8a" /><Relationship Type="http://schemas.openxmlformats.org/officeDocument/2006/relationships/slideLayout" Target="/ppt/slideLayouts/slideLayout1.xml" Id="Rcd75d052456241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5d052456241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88f3874ca4bad" /><Relationship Type="http://schemas.openxmlformats.org/officeDocument/2006/relationships/image" Target="/ppt/media/image.jpeg" Id="Rbc7a55d480e2405d" /><Relationship Type="http://schemas.openxmlformats.org/officeDocument/2006/relationships/notesSlide" Target="/ppt/notesSlides/notesSlide1.xml" Id="R392542a9daf049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939000a0c412a" /><Relationship Type="http://schemas.openxmlformats.org/officeDocument/2006/relationships/notesSlide" Target="/ppt/notesSlides/notesSlide2.xml" Id="R461343d8756a4f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d8506df734191" /><Relationship Type="http://schemas.openxmlformats.org/officeDocument/2006/relationships/image" Target="/ppt/media/image.png" Id="Rfc898b7d5767431e" /><Relationship Type="http://schemas.openxmlformats.org/officeDocument/2006/relationships/notesSlide" Target="/ppt/notesSlides/notesSlide3.xml" Id="R26844ab1f9434d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312285f7845bd" /><Relationship Type="http://schemas.openxmlformats.org/officeDocument/2006/relationships/image" Target="/ppt/media/image2.png" Id="R604b53a541ae40c0" /><Relationship Type="http://schemas.openxmlformats.org/officeDocument/2006/relationships/notesSlide" Target="/ppt/notesSlides/notesSlide4.xml" Id="R1e0535c6b1c24c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3e911e348c40cc" /><Relationship Type="http://schemas.openxmlformats.org/officeDocument/2006/relationships/image" Target="/ppt/media/image3.png" Id="Rfd32013733054cf4" /><Relationship Type="http://schemas.openxmlformats.org/officeDocument/2006/relationships/notesSlide" Target="/ppt/notesSlides/notesSlide5.xml" Id="Rf6b3a4339b564b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1a11872d44e95" /><Relationship Type="http://schemas.openxmlformats.org/officeDocument/2006/relationships/notesSlide" Target="/ppt/notesSlides/notesSlide6.xml" Id="R1ce5a137ffca44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2e86839a04e7d" /><Relationship Type="http://schemas.openxmlformats.org/officeDocument/2006/relationships/notesSlide" Target="/ppt/notesSlides/notesSlide7.xml" Id="R86a17d2cb3ec49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e66e58e2448d2" /><Relationship Type="http://schemas.openxmlformats.org/officeDocument/2006/relationships/notesSlide" Target="/ppt/notesSlides/notesSlide8.xml" Id="R39cda8baf4a445c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a55d480e2405d"/>
          <a:srcRect xmlns:a="http://schemas.openxmlformats.org/drawingml/2006/main" l="23111" t="0" r="231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38800" y="0"/>
            <a:ext cx="6553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46545-39F6-4ECC-8A9F-F5A7F094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829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9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47E674-7BCE-485B-8427-7F14CBEA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819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23E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2C550-70B3-4DFF-B902-66FD6FBF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476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TERM 3  ·  MODULE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4638D-1C3B-4F6F-8D8F-AE016D77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4810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Food for Special Occasions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F91AF-FD12-4DF0-BFB8-C1CBC739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4714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Explain the significance of occasion food and justify a menu against a brief.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E6BD9-9BE8-4AD4-A84F-789F2D8B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YEAR 10 FOOD TECHNOLOGY  ·  2026</a:t>
            </a:r>
          </a:p>
        </p:txBody>
      </p:sp>
    </p:spTree>
    <p:extLst>
      <p:ext uri="{BB962C8B-B14F-4D97-AF65-F5344CB8AC3E}">
        <p14:creationId xmlns:p14="http://schemas.microsoft.com/office/powerpoint/2010/main" val="11930401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76F3A-5FFE-47EE-88E4-47289BB2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16DA1-2A43-4D1A-BFBD-6ED3B4CF6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YEAR 10 FOOD TECHNOLOGY  ·  FOOD FOR SPECIAL OCCASIONS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24FCB-1A41-4ACA-9EE7-A89516896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2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02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690F7-946A-4E6D-8B68-71A20D8A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The learning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CA8DEB-E1A5-49CE-B60C-F2411531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A5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5CB9D-413E-4E07-B6DC-F7C31EF1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78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BD62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BD623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219F5-EE6C-47CD-B6E3-F6C68DA7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57375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Food, identity and significance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D9643-49A3-46E5-A5C1-42AA9EA2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33700"/>
            <a:ext cx="78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BD62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BD623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45C62A-DAFD-4571-AA9B-FA6D07A6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981325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Celebrations across time and 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77213-0BBB-403D-9CD7-491EEA48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57650"/>
            <a:ext cx="78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BD623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BD623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E46D4-3BB0-4441-AEB9-4B4E33A4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05275"/>
            <a:ext cx="8810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Plan for an occasion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2A619C-4458-4C03-8149-6D75E3D3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81625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BEFORE WE BEGIN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1553A6-CDBB-47F6-8852-D1F3D1FD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Can one dish have different meanings for two people at the same celebration?</a:t>
            </a:r>
          </a:p>
        </p:txBody>
      </p:sp>
    </p:spTree>
    <p:extLst>
      <p:ext uri="{BB962C8B-B14F-4D97-AF65-F5344CB8AC3E}">
        <p14:creationId xmlns:p14="http://schemas.microsoft.com/office/powerpoint/2010/main" val="7188350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BE1FD-1A4F-4826-9115-56E270AE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776389-26B7-4E32-B86D-14823CF68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YEAR 10 FOOD TECHNOLOGY  ·  FOOD FOR SPECIAL OCCASIONS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C9EE7-02D7-41AE-B833-87FA39F7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2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03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1B72E-E3FB-4010-A02C-4692CBAA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0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SECTION 3.1  ·  FOOD, IDENTITY AND SIGNIFICANCE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8CA918-9479-46A3-8F65-ED569CD2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Meaning comes from people and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5F533-9341-499C-B2A5-ACBF0105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A54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98b7d5767431e"/>
          <a:stretch xmlns:a="http://schemas.openxmlformats.org/drawingml/2006/main"/>
        </p:blipFill>
        <p:spPr>
          <a:xfrm xmlns:a="http://schemas.openxmlformats.org/drawingml/2006/main">
            <a:off x="4572000" y="1571625"/>
            <a:ext cx="6953250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EA1B7E-0719-457D-9BDB-E8CB65D7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33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Food can connect people to memory, place and an occasion. The same dish can mean different things to different guests. Ask the people involved rather than assuming one ingredient has a fixed cultural meaning.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C380B-46B5-49C2-AD9B-64988FBB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23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C2EF5B-6A8D-4439-8891-0EA96C8A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DISCUSS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59396-CC8F-4038-8AC4-27902121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Whose account would help explain why a dish matters?</a:t>
            </a:r>
          </a:p>
        </p:txBody>
      </p:sp>
    </p:spTree>
    <p:extLst>
      <p:ext uri="{BB962C8B-B14F-4D97-AF65-F5344CB8AC3E}">
        <p14:creationId xmlns:p14="http://schemas.microsoft.com/office/powerpoint/2010/main" val="1023336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FDE3F-0B8E-4FA6-B016-EAF2153E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B26EE-1BE0-4CE1-A897-34BDC7A4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YEAR 10 FOOD TECHNOLOGY  ·  FOOD FOR SPECIAL OCCASIONS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76CEB2-DA2E-4424-AA32-21A315AB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2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04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57FFC-14AB-4A0F-B5B3-41381396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0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SECTION 3.2  ·  CELEBRATIONS ACROSS TIME AND PLACE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00F472-A2D5-4286-BCBD-F0F4F444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Traditions can continue while details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7E3B90-0F15-4095-9D3C-CCA720AC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A54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b53a541ae40c0"/>
          <a:stretch xmlns:a="http://schemas.openxmlformats.org/drawingml/2006/main"/>
        </p:blipFill>
        <p:spPr>
          <a:xfrm xmlns:a="http://schemas.openxmlformats.org/drawingml/2006/main">
            <a:off x="609600" y="1571625"/>
            <a:ext cx="6953250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EAE42-10F1-4EFB-BBA2-00416A3B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24025"/>
            <a:ext cx="333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A celebration food may change with location, available ingredients or family preferences while retaining a familiar purpose. Compare the same questions across two contexts: who attends, why it matters, what is served and what changed.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1B765-40F0-4870-97A0-414A609C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23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3D3E2-6699-482C-9637-B5C375F7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435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DISCUSS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E46C17-80C1-4862-9E8F-EB3E9414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438775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Which comparison needs a source rather than a guess?</a:t>
            </a:r>
          </a:p>
        </p:txBody>
      </p:sp>
    </p:spTree>
    <p:extLst>
      <p:ext uri="{BB962C8B-B14F-4D97-AF65-F5344CB8AC3E}">
        <p14:creationId xmlns:p14="http://schemas.microsoft.com/office/powerpoint/2010/main" val="1929025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3884E7-83C8-475B-A220-7B3EF012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2B971-2388-4EE7-BD55-559D6CE3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YEAR 10 FOOD TECHNOLOGY  ·  FOOD FOR SPECIAL OCCASIONS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27564-D78D-45C2-86DB-645D6A92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2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05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ED014-9CB4-4C6D-BA17-CE635342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"/>
            <a:ext cx="10906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SECTION 3.3  ·  PLAN FOR AN OCCASION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30A672-2CA0-4C94-B478-669DA89D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10906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The occasion brief guides menu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3BC59-EEE2-4829-A9D2-A3EC32D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A54"/>
          </a:solidFill>
          <a:ln xmlns:a="http://schemas.openxmlformats.org/drawingml/2006/main" w="0">
            <a:noFill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2013733054cf4"/>
          <a:stretch xmlns:a="http://schemas.openxmlformats.org/drawingml/2006/main"/>
        </p:blipFill>
        <p:spPr>
          <a:xfrm xmlns:a="http://schemas.openxmlformats.org/drawingml/2006/main">
            <a:off x="4572000" y="1571625"/>
            <a:ext cx="6953250" cy="41719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8EC55F-A3B7-45A3-8540-6AF97D6E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3333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A menu should fit the guests, the purpose and the service setting. Check dietary needs, available resources and how food information will be communicated. Justify a choice against the brief, and name the trade-off it creates.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82660-44C6-4307-934A-6237C44E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623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08BD0-8C99-4A22-8C5D-3F2881AC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DISCUSS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1F7640-09E7-4261-8E7E-2F680C59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8775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What would make a shorter menu a better choice for some events?</a:t>
            </a:r>
          </a:p>
        </p:txBody>
      </p:sp>
    </p:spTree>
    <p:extLst>
      <p:ext uri="{BB962C8B-B14F-4D97-AF65-F5344CB8AC3E}">
        <p14:creationId xmlns:p14="http://schemas.microsoft.com/office/powerpoint/2010/main" val="11745228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9779B-D296-4707-A1C7-2A9B609A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96524-74CB-4942-8E4C-F770BE56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YEAR 10 FOOD TECHNOLOGY  ·  FOOD FOR SPECIAL OCCASIONS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02F5E-98B4-464E-B020-A56EDF9E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2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06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A2498-B5AB-4EDB-92F1-69F36009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Check what you can explain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7D8284-EE07-489A-9138-963E1F29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810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4E6259"/>
                </a:solidFill>
                <a:latin typeface="Arial"/>
                <a:ea typeface="Arial"/>
                <a:cs typeface="Arial"/>
              </a:rPr>
              <a:t>Answer from the learning just shown. Add a reason or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E06C4-29BB-4B64-9EEC-2B86297D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A5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C623C-2473-4A69-BE15-9B729473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66950"/>
            <a:ext cx="6953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BD623E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BD623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032EA-C38D-4C24-8F4A-63A4E3FA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05050"/>
            <a:ext cx="977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Why can the same dish hold different meanings?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12D77-F63F-4AA4-AAE9-63134B7A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28975"/>
            <a:ext cx="6953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BD623E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BD623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B8009-E697-44F5-B465-29BDC671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67075"/>
            <a:ext cx="977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What might change when a celebration moves place?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CA0DF-269E-4DDB-8DD3-8C46B1E7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6953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BD623E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BD623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8168BA-5C65-40C0-9186-D45F8A2E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29100"/>
            <a:ext cx="977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Name two details a menu brief should establish.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9A6A5A-6193-494D-A73D-24ABB4A5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53025"/>
            <a:ext cx="6953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BD623E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BD623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CF1948-7432-48CA-856B-F721035C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91125"/>
            <a:ext cx="97726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Why must a menu choice include a trade-off?</a:t>
            </a:r>
          </a:p>
        </p:txBody>
      </p:sp>
    </p:spTree>
    <p:extLst>
      <p:ext uri="{BB962C8B-B14F-4D97-AF65-F5344CB8AC3E}">
        <p14:creationId xmlns:p14="http://schemas.microsoft.com/office/powerpoint/2010/main" val="9669238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63987-B407-49C6-ACB3-1ABD1245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DB61AA-E79A-41FB-8E57-C200E049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YEAR 10 FOOD TECHNOLOGY  ·  FOOD FOR SPECIAL OCCASIONS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153549-A7A1-4120-BE5B-89929E3E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2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07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9B082-3F73-4D88-A2A6-0EF10D6C4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Build a reasoned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9DCBC-1988-4F54-BD84-5E5AC91A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A54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03A2C-584C-459B-99E9-98A98D7CF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500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YOUR TASK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32FF4-CF38-424F-AB53-544B786B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49530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72F"/>
                </a:solidFill>
                <a:latin typeface="Arial"/>
                <a:ea typeface="Arial"/>
                <a:cs typeface="Arial"/>
              </a:rPr>
              <a:t>Plan a menu approach for a hypothetical community occasion with a mixed group of guests.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01836-23E1-4B0F-B742-7B9B7E02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D623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D623E"/>
                </a:solidFill>
                <a:latin typeface="Arial"/>
                <a:ea typeface="Arial"/>
                <a:cs typeface="Arial"/>
              </a:rPr>
              <a:t>Sentence support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C9398-3629-4C9C-97A5-F443E20B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4905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This menu approach suits the occasion because ___. A trade-off is ___.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400740-AD51-4BF4-91FF-89B2B1F2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85925"/>
            <a:ext cx="28575" cy="439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C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CD32F-ED9F-4ECB-936D-38801D8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9545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A1C22-4477-4306-BF2A-778CEE2A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476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Read the occasion brief and identify the people involved.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544DD-E260-4FD9-AD9C-193FDE66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9082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D16E3D-8056-4403-A2B0-049205A1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76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Select evidence about guest needs, resources and service.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F304B-3089-4DD8-B66F-29C67D18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862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4DF34-60BD-4C4A-A8A3-5396BBD5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76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Explain a menu approach and one trade-off.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B93035-FE51-462F-8C0B-84605836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81575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36A5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36A54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4C782-43ED-4FE7-BDAE-3D2FB21BA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34000"/>
            <a:ext cx="4762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72F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72F"/>
                </a:solidFill>
                <a:latin typeface="Arial"/>
                <a:ea typeface="Arial"/>
                <a:cs typeface="Arial"/>
              </a:rPr>
              <a:t>Check that food information and uncertainty are clear.</a:t>
            </a:r>
          </a:p>
        </p:txBody>
      </p:sp>
    </p:spTree>
    <p:extLst>
      <p:ext uri="{BB962C8B-B14F-4D97-AF65-F5344CB8AC3E}">
        <p14:creationId xmlns:p14="http://schemas.microsoft.com/office/powerpoint/2010/main" val="9037723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37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1DF89B-99E5-44EE-8425-236AD819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3C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71A9F-3E2C-4C3C-918E-D8BA6350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YEAR 10 FOOD TECHNOLOGY  ·  FOOD FOR SPECIAL OCCASIONS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FA620-BE8F-483E-96C7-9C364AE5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246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625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E6259"/>
                </a:solidFill>
                <a:latin typeface="Arial"/>
                <a:ea typeface="Arial"/>
                <a:cs typeface="Arial"/>
              </a:rPr>
              <a:t>08 /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3D2E3-BC43-43AF-9A3C-F749BC38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10934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DF8"/>
                </a:solidFill>
                <a:latin typeface="Arial"/>
                <a:ea typeface="Arial"/>
                <a:cs typeface="Arial"/>
              </a:rPr>
              <a:t>Exit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B2DF3E-90A3-40B6-8FEB-BCD28689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10934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E4EEE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4EEE7"/>
                </a:solidFill>
                <a:latin typeface="Arial"/>
                <a:ea typeface="Arial"/>
                <a:cs typeface="Arial"/>
              </a:rPr>
              <a:t>Before you leave, write: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1005E-F401-4AFC-9A34-82B9D145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62175"/>
            <a:ext cx="74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AE8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A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C76407-A203-489A-A15E-C0240F96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23837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DF8"/>
                </a:solidFill>
                <a:latin typeface="Arial"/>
                <a:ea typeface="Arial"/>
                <a:cs typeface="Arial"/>
              </a:rPr>
              <a:t>One question to ask the people involved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430434-3970-41F1-86C0-3319A2D8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74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AE8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A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20BBE-DC46-4BC0-8C11-77C5DD3D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2897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DF8"/>
                </a:solidFill>
                <a:latin typeface="Arial"/>
                <a:ea typeface="Arial"/>
                <a:cs typeface="Arial"/>
              </a:rPr>
              <a:t>One menu criterion from the brief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E43E5-716C-43B0-B18D-D40F0323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43375"/>
            <a:ext cx="742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2AE8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2A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CF8AE-6619-4C71-8006-5018F772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1957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DF8"/>
                </a:solidFill>
                <a:latin typeface="Arial"/>
                <a:ea typeface="Arial"/>
                <a:cs typeface="Arial"/>
              </a:rPr>
              <a:t>One trade-off I can 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A6AB71-8F90-4CEE-9212-8E6394FE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A78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3074C-8696-4556-8258-F4364659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62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DF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FFFDF8"/>
                </a:solidFill>
                <a:latin typeface="Arial"/>
                <a:ea typeface="Arial"/>
                <a:cs typeface="Arial"/>
              </a:rPr>
              <a:t>Save your written response in this module’s learning package. Export My folio for a backup. Check Google Classroom for live teacher instructions.</a:t>
            </a:r>
          </a:p>
        </p:txBody>
      </p:sp>
    </p:spTree>
    <p:extLst>
      <p:ext uri="{BB962C8B-B14F-4D97-AF65-F5344CB8AC3E}">
        <p14:creationId xmlns:p14="http://schemas.microsoft.com/office/powerpoint/2010/main" val="2265118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2026-09-24T11:54:28.1560000Z</dcterms:created>
  <dcterms:modified xsi:type="dcterms:W3CDTF">2026-09-24T11:54:28.1560000Z</dcterms:modified>
</coreProperties>
</file>